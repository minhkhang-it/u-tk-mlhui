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Kính chào thầy /cô 
-Em tên là Phạm Văn Minh Khang, cùng bạn Lê Ngọc Huy xin trình bày đồ án tốt nghiệp với đề tài: Khai thác Top-k tập mục có ích lợi cao đa tầng trên cơ sở dữ liệu không chắc chắn, được thực hiện dưới sự hướng dẫn của thầy Nguyễn Chí Thiện. 
-Đề tài của tụi em xoay quanh việc mở rộng một hướng khai thác dữ liệu đang khá mới — Top-k Multi-Level High Utility Itemset Mining — sang một loại dữ liệu thực tế hơn: dữ liệu không chắc chắn.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Trước khi đi vào bài toán cụ thể, em xin nhắc lại bối cảnh. 
-Frequent Itemset Mining — khai thác tập phổ biến — chỉ nhìn vào tần suất xuất hiện, không phản ánh được giá trị kinh tế thật sự: một mặt hàng bán rất nhiều lần nhưng lời thấp thì không quan trọng bằng mặt hàng bán ít nhưng lời cao. Đó là lý do High Utility Itemset Mining ra đời, thêm yếu tố lợi nhuận và số lượng vào bài toán. 
-Khi dữ liệu giao dịch có thêm cấu trúc phân cấp — ví dụ Cola và nước ép đều thuộc nhóm Nước giải khát — thì Multi-Level HUIM cho phép phát hiện ra các mẫu tổng quát mà nếu chỉ nhìn từng sản phẩm lẻ sẽ bỏ sót hoàn toàn. 
-Và để tránh việc người dùng phải tự mò ngưỡng minU bằng phương pháp thử sai — vốn rất mất thời gian và không trực quan — bài toán Top-k ra đời, cho phép người dùng chỉ cần nói 'tôi muốn top 10 mẫu tốt nhất' thay vì đoán ngưỡng. TK-MLHUI là thuật toán đại diện tiêu biểu nhất cho hướng này mà nhóm em kế thừa. 
-Nhưng có một điểm chung: tất cả các hướng nghiên cứu này đều ngầm giả định dữ liệu là hoàn toàn chắc chắn — một khoản mục hoặc chắc chắn có mặt, hoặc chắc chắn không có mặt. Đây chính là khoảng trống mà đề tài của tụi em nhắm tới giải quyết.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Từ khoảng trống vừa nêu, đề tài đặt ra 4 mục tiêu cụ thể. 
-Mục tiêu đầu tiên là nắm vững và cài đặt lại đúng đặc tả của hai thuật toán nền tảng — mlTKO và TK-MLHUI — để đảm bảo có một nền tảng cài đặt đáng tin cậy trước khi mở rộng. 
-Mục tiêu thứ hai là phần nghiên cứu lý thuyết: xây dựng mô hình dữ liệu mới, trong đó mỗi khoản mục có một xác suất tồn tại, làm cơ sở để định nghĩa lại Expected Utility — độ hữu ích kỳ vọng. 
-Mục tiêu thứ ba là phát triển thuật toán mới: mở rộng và chứng minh lại toàn bộ các cận trên dùng để cắt tỉa không gian tìm kiếm, đồng thời phải giữ được tính chất đóng xuống vốn là nền tảng lý thuyết quan trọng nhất của các thuật toán loại này. 
-Và mục tiêu cuối cùng là thực nghiệm: cài đặt hoàn chỉnh U-TK-MLHUI và so sánh với baseline theo bốn tiêu chí — thời gian, bộ nhớ, số lượng candidates, và số lượng scanned lists.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Trước khi nói về phần mở rộng của mình, em xin nhắc lại bài toán gốc mà TK-MLHUI giải quyết, kế thừa từ hai công trình gốc: mlTKO của Lê và cộng sự (ACIIDS 2023) đặt nền móng, và TK-MLHUI của Nguyễn, Tùng, Võ (Knowledge-Based Systems 2025) tối ưu hóa mạnh hơn hẳn — nhanh hơn mlTKO tới hơn 3700 lần trên một số bộ dữ liệu. 
-TK-MLHUI dùng đúng bốn chiến lược chính, và bốn slide tiếp theo em sẽ đi qua từng chiến lược một, kèm số liệu thật lấy từ chính paper, để thấy rõ cơ chế hoạt động cụ thể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Trước khi đi vào từng chiến lược cụ thể, thì đây là toàn cảnh bài toán TK-MLHUI. 
-Trên cùng là taxonomy: W tổng quát hóa từ P, Q, R; P lại tổng quát hóa từ hai khoản mục lá a, b; Q từ c, d; R từ e, f — đây chính là cấu trúc đơn-cha, mỗi khoản mục lá chỉ có đúng một đường đi lên gốc. 
-Bên trái là 8 giao dịch gốc, mỗi giao dịch là một tập khoản mục lá xuất hiện cùng nhau, kèm bảng profit của từng khoản mục. 
-Bên phải là kết quả top-6 itemset mà thuật toán trả về khi chạy trên đúng dữ liệu này. 
-Điều đáng chú ý nhất: hạng 1 và hạng 2 đều là các khoản mục đã tổng quát hóa — {W} và {P,R} — utility cao hơn hẳn bất kỳ tổ hợp khoản mục lá nào, kể cả hạng 6 là {a,b,f} vốn là tổ hợp lá tốt nhất. 
-Đây chính là minh chứng sống động nhất cho lý do vì sao cần khai thác đa tầng: nếu chỉ nhìn ở tầng lá, hội đồng sẽ hoàn toàn bỏ lỡ hai kết quả tốt nhất của bài toán.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ví dụ thật lấy từ Bảng 5 trong paper. 
-Điều thú vị cần giải thích rõ : thứ tự khai thác KHÔNG đơn thuần sắp theo GTWU tăng dần toàn cục — nếu vậy Q(153) sẽ đứng sau a(205). Quy tắc thật sự ưu tiên CẤP ĐỘ trước: mọi khoản mục cấp cao (W, P, Q, R) đều được khai thác trước toàn bộ khoản mục cấp lá (a-f), bất kể GTWU của chúng cao hay thấp hơn. 
-Lý do: khoản mục cấp cao (tổng quát hóa) thường có utility cao hơn hẳn cấp lá, nên khai thác trước giúp minU được nâng lên nhanh hơn ngay từ đầu, từ đó cắt tỉa mạnh hơn khi chuyển sang khai thác các cấp thấp hơn ở sau. 
-Đây là điểm khác biệt so với thuật toán HUIM một tầng thông thường, vốn không có khái niệm 'cấp độ' để tận dụng.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này minh họa Chiến lược 2 — hai cận trên Local Utility và Sub-tree Utility. 
-Hãy tưởng tượng đang xét một tập mục đang xây dựng dở, và có một khoản mục ứng viên có thể nối thêm vào. Trong mỗi giao dịch có chứa cả tập mục đang xét lẫn khoản mục ứng viên đó, ta quan tâm hai phần utility: phần đã chắc chắn có — tức utility của tập mục hiện tại — và phần còn có thể cộng thêm, đến từ những khoản mục khác vẫn còn nằm phía sau trong thứ tự xét duyệt của giao dịch đó. 
- Local Utility là cách tính lạc quan nhất: nó cộng phần đã chắc chắn có với TOÀN BỘ phần còn có thể cộng thêm — nghĩa là giả định tập mục đang xét có thể hút được bất kỳ khoản mục nào trong số các ứng viên còn lại, không chỉ riêng khoản mục đang nhắm tới.
- Sub-tree Utility thận trọng hơn: thay vì cộng toàn bộ phần còn lại, nó chỉ cam kết đúng một việc — nối thêm đúng khoản mục ứng viên đang xét — rồi chỉ cộng thêm phần utility của những khoản mục đứng SAU khoản mục đó trong thứ tự xét duyệt, bỏ qua hẳn phần của những khoản mục đứng trước.
- Trên slide, với một tập mục cụ thể được mở rộng thêm một khoản mục, tính trên đúng hai giao dịch thật trong dữ liệu mẫu của paper, Local Utility cho ra 52, còn Sub-tree Utility cho ra 44.
- Phần chênh lệch 8 đơn vị chính là utility của những khoản mục đứng TRƯỚC khoản mục đang xét mà cách tính lạc quan vẫn gộp vào, còn cách tính thận trọng thì bỏ qua vì chỉ quan tâm đúng phần từ khoản mục đó trở về sau.
- Vì Sub-tree Utility luôn cho kết quả nhỏ hơn hoặc bằng Local Utility, paper dùng hai cận này cho hai vai trò khác nhau: Sub-tree Utility, chặt hơn, dùng để quyết định khoản mục nào được phép nối trực tiếp vào tập mục ngay lập tức để tạo ra ứng viên mới; còn Local Utility, lỏng hơn, dùng để giữ lại những khoản mục tuy chưa đủ điều kiện nối trực tiếp, nhưng vẫn còn đáng để tiếp tục xét ở các bước tìm kiếm sâu hơn phía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này minh họa Chiến lược 3 — gộp danh sách giao dịch — bằng ví dụ thật ở Hình 6 trong paper
- Hãy tưởng tượng sau khi chiếu lên một tầng nhất định của taxonomy, mỗi giao dịch chỉ còn giữ lại đúng những khoản mục thuộc tầng đó, kèm theo utility tương ứng — nói cách khác là một danh sách rút gọn của giao dịch tại tầng đang xét.
- Trên slide: giao dịch thứ nhất, sau khi chiếu lên tầng đang xét, chỉ còn hai khoản mục với utility lần lượt là 6 và 19. Giao dịch thứ hai, cũng sau khi chiếu lên đúng tầng đó, CŨNG chỉ còn đúng hai khoản mục giống hệt như vậy, chỉ khác ở utility — lần lượt là 1 và 6. Điểm mấu chốt: hai danh sách rút gọn này có tập khoản mục hoàn toàn giống nhau, dù bản thân hai giao dịch gốc là khác nhau.
- Khi điều đó xảy ra, paper gộp hai danh sách này lại thành một, bằng cách cộng dồn utility tương ứng của từng khoản mục: khoản mục thứ nhất có utility 6 cộng 1 bằng 7, khoản mục thứ hai có utility 19 cộng 6 bằng 25.
- Kết quả là từ hai dòng dữ liệu ban đầu, giờ chỉ còn đúng một dòng duy nhất.
- Vì sao việc này an toàn về mặt toán học: utility của một tập mục vốn dĩ được tính bằng cách cộng dồn qua mọi giao dịch có chứa nó.
- Gộp trước hai giao dịch có cùng tập khoản mục thành một dòng cộng dồn không hề làm thay đổi kết quả tổng cuối cùng — chỉ đơn giản là giảm số dòng dữ liệu cần lưu trữ và quét lại ở các bước tính toán tiếp theo.
- Với dữ liệu thật có hàng trăm nghìn giao dịch, số lượng danh sách trùng lặp sau khi chiếu lên các tầng cao thường rất lớn, nên chiến lược gộp này giúp tiết kiệm đáng kể cả bộ nhớ lẫn thời gian quét.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Slide này minh họa Chiến lược 4 — nâng ngưỡng khởi tạo bằng cách tận dụng thêm một nguồn thông tin nữa, thay vì chỉ dùng utility của từng khoản mục đơn lẻ như ở chiến lược 1. - Cột bên trái, gọi là utility khoản mục đơn, là tổng utility của từng khoản mục riêng lẻ — cộng dồn qua toàn bộ cơ sở dữ liệu, đúng như cách làm đơn giản đã thấy ở chiến lược 1. 
- Cột bên phải, gọi là utility danh sách khoản mục, lại nhìn theo một góc khác: thay vì tính từng khoản mục riêng, ta coi TOÀN BỘ danh sách khoản mục của một giao dịch, tại một tầng nhất định, như một siêu khoản mục duy nhất, rồi tính tổng utility của cả danh sách đó. 
- Cách làm: gộp chung cả hai nguồn số liệu này lại thành một danh sách lớn, sắp xếp giảm dần, rồi lấy giá trị đứng ở một vị trí nhất định — tùy theo số lượng kết quả cần tìm — làm ngưỡng khởi tạo ban đầu. 
- Kết quả trên slide: sau khi gộp và sắp xếp, dãy số nhận được là 218, 218, 108, 99, 95, 80, 65 và tiếp tục giảm dần. 
- Nếu cần tìm 6 kết quả, giá trị đứng ở vị trí thứ 6 là 80. - So với con số 36 nếu chỉ dùng riêng utility khoản mục đơn như ở chiến lược 1, con số 80 cao hơn hẳn, gấp hơn hai lần. 
- Vì sao điều này hợp lý: một danh sách khoản mục của cả một giao dịch thường có utility cao hơn hẳn so với cộng rời rạc từng khoản mục lẻ, vì nó phản ánh đúng mức độ đậm đặc của utility thật sự tồn tại trong dữ liệu ở từng tầng. 
- Đưa thêm nguồn thông tin này vào giúp ngưỡng khởi tạo sát với ngưỡng thật hơn ngay từ đầu, tiết kiệm đáng kể thời gian và bộ nhớ ngay từ giai đoạn khởi động của thuật toán, thay vì phải đợi thuật toán tự nâng dần ngưỡng qua nhiều bước đệ quy.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Đây là ví dụ minh họa đơn giản để thấy rõ cơ chế đa tầng của TK-MLHUI: U của node cha bằng tổng U các con có mặt trong giao dịch. 
- Kết quả Top-2 cho thấy chính pattern kết hợp hai node cha — Beverage và Snack — đạt utility cao nhất, cao hơn bất kỳ tổ hợp nào ở tầng lá. 
- Đây chính là giá trị của khai thác đa tầng: phát hiện được các mẫu tổng quát hóa có ý nghĩa mà chỉ nhìn ở tầng lá sẽ bỏ sót hoàn toàn.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Từ các chiến lược của TK-MLHUI vừa nêu, đề tài mở rộng sang một mô hình dữ liệu mới. 
- Khác biệt cốt lõi nằm ở chỗ này: trong mô hình cổ điển, mỗi khoản mục hoặc chắc chắn có mặt, hoặc chắc chắn không có mặt trong một giao dịch — đây là giả định nhị phân, đơn giản nhưng không phản ánh đúng nhiều tình huống thực tế, ví dụ như dữ liệu cảm biến có nhiễu, hay kết quả dự đoán từ mô hình máy học vốn dĩ luôn đi kèm một mức độ tin cậy nào đó. 
- Trong mô hình mở rộng của đề tài, mỗi khoản mục i có một xác suất tồn tại p(i,T) nằm trong khoảng (0,1] đối với từng giao dịch T. 
- Từ đó, Expected Utility của một tập mục X trong giao dịch T được định nghĩa lại bằng tổng utility nhân với xác suất tồn tại của từng khoản mục trong X. 
- Bài toán U-TK-MLHUI, vì vậy, là bài toán tìm k tập mục có Expected Utility cao nhất, xét đồng thời trên nhiều tầng của một taxonomy đa-cha.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Đây là đóng góp lý thuyết cốt lõi thứ nhất của đề tài. 
- Điểm khác biệt so với taxonomy cổ điển trong TK-MLHUI gốc: ở đó mỗi khoản mục con chỉ được phép có đúng một cha duy nhất — gọi là taxonomy đơn-cha. 
- Trong Định nghĩa 3.1 mà đề tài đề xuất, taxonomy được mô hình hóa như một đồ thị có hướng không chu trình, có trọng số, và cho phép đa-cha: một khoản mục con được phép có nhiều hơn một khoản mục cha, mỗi quan hệ cha-con mang một trọng số riêng phản ánh mức độ tin cậy của mối quan hệ đó. 
- Mô hình này mang tính cộng tính và quan trọng là tương thích ngược hoàn toàn với TK-MLHUI gốc: nếu mọi trọng số đều bằng 1, mô hình mới quy về đúng mô hình cũ. 
- Đóng góp lý thuyết thứ hai là Bổ đề A được mở rộng bằng phương pháp quy nạp theo tầng. 
- Nhờ bổ đề này, toàn bộ hệ thống chứng minh tính chất đóng xuống của TK-MLHUI gốc được tái sử dụng nguyên vẹn, không phải xây dựng lại từ đầu. 
- Điều này giảm hẳn rủi ro sai sót lý thuyết khi mở rộng sang mô hình mới.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Đây là bức tranh tổng thể của U-TK-MLHUI, song song với slide tổng quan TK-MLHUI trước đó, nhưng giờ trên dữ liệu ngôn ngữ thật. 
- Câu ví dụ Anh-Việt cho thấy vì sao 'chạy' cần đa-cha: cùng một câu, nó vừa xuất hiện dưới dạng 'running' vừa dưới dạng 'ran'. 
- Cây taxonomy bên dưới là số liệu thật từ corpus: 'chạy' phân rã thành hai biến thể running (0,130) và ran (0,103); rồi running lại tiếp tục phân rã thành hai lemma run (93,5%) và running (6,5%) tùy vai trò ngữ pháp; còn ran luôn quy về đúng một lemma run (100%). 
- Điểm quan trọng nhất: node 'run*' nhận đồng thời HAI nguồn hội tụ — từ running và từ ran — đây chính là ví dụ tổng quát nhất về việc nhiều variant cùng quy về một lemma. - Với ba giao dịch nhỏ, sau khi cuộn Expected Utility qua toàn bộ cây, top-3 cho thấy hạng nhì và hạng ba đều là tổ hợp ở tầng biến thể — running kết hợp với left, và ran kết hợp với left — điều mà taxonomy đơn-cha của TK-MLHUI gốc không bao giờ biểu diễn được.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Đây là mắt xích quan trọng nối giữa phần lý thuyết trừu tượng vừa trình bày và phần thực nghiệm sắp tới.
- Câu hỏi đặt ra là: bài toán cần một nguồn xác suất tồn tại thật để thực nghiệm có ý nghĩa, chứ không thể gán tay ngẫu nhiên — nếu gán ngẫu nhiên thì mọi kết quả thực nghiệm sau này chỉ là mô phỏng. 
- Sau khi cân nhắc nhiều hướng, nhóm em nhận ra dịch máy thống kê — cụ thể là công cụ fast_align — tự nhiên sinh ra đúng loại tín hiệu cần thiết: xác suất P(đích cho trước nguồn), ước lượng từ hàng trăm nghìn câu song ngữ thật. 
- Từ lựa chọn này, dữ liệu mà nhóm em xây dựng trả lời một câu hỏi rất cụ thể: trong kho ngữ liệu song ngữ Anh-Việt, khái niệm nào có Expected Utility cao nhất, xét đa tầng, khi một từ có thể mang nhiều nghĩa và nhiều bản dịch với các mức tin cậy khác nhau.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Để hình dung rõ hơn khái niệm không chắc chắn, em xin lấy một ví dụ đơn giản nhưng trực quan, dùng số liệu thật từ corpus. 
- Từ tiếng Anh 'used' xuất hiện trong câu — có thể là động từ, ví dụ 'they used it', hoặc tính từ, ví dụ 'a used car'. 
- Thống kê thật cho thấy 98,5% số lần nó là động từ, chỉ 1,5% là tính từ. 
- Cách tiếp cận truyền thống sẽ buộc phải chọn một trong hai, dẫn đến mất thông tin. 
- Trong mô hình của đề tài, thay vì ép chọn, taxonomy giữ lại cả hai như hai khoản mục cha khác nhau, mỗi cái mang một xác suất tồn tại riêng suy ra trực tiếp từ tần suất thật này. 
- Đây chính là bản chất của 'không chắc chắn' áp dụng cho bài toán của đề tài — không phải nhiễu ngẫu nhiên, mà là sự đa nghĩa có thật trong ngôn ngữ, được lượng hóa bằng xác suất.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Đây là toàn bộ quy trình bảy bước nhóm em tự xây dựng, đi từ corpus song ngữ thô cho tới taxonomy đa-cha hoàn chỉnh cuối cùng. 
- Sau khi chọn và tải corpus, bước NER dùng spaCy để đánh dấu và loại bỏ tên riêng. 
- Bước tokenize tiếng Anh có kèm lọc stopword và mảnh vụn không mang nghĩa. 
- Sau đó, POS-tag toàn câu rồi mới lemmatize. 
- Song song đó, phía tiếng Việt được phân đoạn bằng mô hình CRF để ghép âm tiết thành từ ghép đúng nghĩa. fast_align chạy theo chiều ngược để cho ra bảng xác suất dịch P(Anh cho trước Việt). 
- Cuối cùng, một bước lọc nhiễu dựa trên tần suất tối thiểu và số lần liên kết tối thiểu giúp loại bỏ các cạnh taxonomy quá yếu. 
- Điểm khác biệt lớn nhất so với các nghiên cứu Uncertain HUIM trước đây là trọng số taxonomy hoàn toàn suy ra từ một mô hình dịch thống kê thật. 
- Giải thích nhanh từng công cụ: spaCy là thư viện NLP mã nguồn mở, dùng model tiếng Anh có sẵn cho bước NER. 
- NLTK cung cấp bộ gán nhãn POS-tag (averaged perceptron tagger, huấn luyện sẵn trên Penn Treebank) và WordNetLemmatizer. 
- WordNet là cơ sở dữ liệu từ vựng của Đại học Princeton, tổ chức theo nhóm đồng nghĩa, có sẵn bảng quy tắc biến cách. underthesea là thư viện NLP tiếng Việt, dùng model CRF cho bước phân đoạn. fast_align là công cụ của Carnegie Mellon (2013), cài đặt nhanh của IBM Model 2, dùng Expectation-Maximization để học bảng xác suất dịch, không cần dữ liệu gán nhãn sẵn.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Trước khi đi vào ví dụ cây taxonomy cụ thể, em xin giải thích rõ cơ chế đứng sau hai bước quan trọng nhất của pipeline. 
- Bên trái: POS-tagger là mô hình perceptron đã huấn luyện sẵn, đọc toàn bộ ngữ cảnh câu để quyết định từ loại — không phải tra từ điển cố định, vì cùng một từ có thể mang nhãn khác nhau tùy câu. 
- WordNetLemmatizer sau đó dùng đúng nhãn này để tra đúng dạng gốc trong từ điển WordNet. 
- Bên phải: fast_align là cài đặt nhanh của IBM Model 2, dùng Expectation-Maximization. 
- Ý tưởng cốt lõi: nếu giả sử có sẵn một bộ xác suất dịch tạm thời, ta ước lượng alignment hợp lý nhất cho mỗi cặp câu — bước E. 
- Ngược lại, nếu đã có alignment, ta đếm lại và cập nhật xác suất chính xác hơn — bước M. 
- Lặp lại qua hàng trăm nghìn câu, xác suất sẽ hội tụ về giá trị phản ánh đúng tần suất dịch thật.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Cùng một từ 'used' nhưng ngữ cảnh câu khác nhau khiến POS-tagger gán nhãn khác nhau — VBD khi là động từ quá khứ, JJ khi là tính từ. 
- WordNetLemmatizer không tra theo mỗi từ 'used' một mình, mà tra theo cặp (từ, từ loại WordNet): used+VERB rơi vào bảng biến cách động từ bất quy tắc, có ánh xạ sẵn used→use; còn used+ADJ không khớp quy tắc biến cách nào, nên từ điển trả về nguyên trạng 'used'. 
- Đây chính xác là cơ chế cụ thể sinh ra hai cạnh khác nhau trong taxonomy — running→run(0,935) và running→running(0,065) mà ta đã thấy.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Đây là ví dụ số tự dựng (10 câu tròn, không phải trích từ corpus thật) để minh họa rõ cơ chế, dễ tính nhẩm hơn công thức EM đầy đủ ở slide trước. 
- Ý chính: khi một từ xuất hiện đủ nhiều lần và các câu không quá mơ hồ, kết quả hội tụ của EM gần đúng bằng tỉ lệ tần suất quan sát trực tiếp — hệ quả toán học tự nhiên của thuật toán. - Sau khi có bảng T(e|v), pipeline KHÔNG tính toán gì thêm — chỉ copy thẳng làm trọng số cạnh taxonomy, rồi áp 2 ngưỡng lọc (xác suất tối thiểu, số lần liên kết tối thiểu) để loại các cạnh quá yếu. 
- Đây chính là lý do vì sao ở ví dụ 'Chạy' thật, tổng trọng số các cạnh ra khỏi 1 leaf không cộng đúng bằng 1 — phần thiếu là các bản dịch đã bị lọc bỏ, giống hệt 'building' bị lọc trong ví dụ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Đây là Ví dụ 3.1 trong báo cáo: 'Chạy' dịch ra hai biến thể tiếng Anh 'running' và 'ran', tổng hai trọng số không bằng 1 vì phần còn lại đã bị lọc bởi MIN_PROB/MIN_LINK_COUNT. 
- Điểm đặc biệt của cây này: 'run' ở tầng lemma nhận đồng thời hai cạnh hội tụ — từ 'running' khi nó đóng vai trò động từ tiếp diễn (93,5%), và từ 'ran' luôn luôn (100%, vì 'ran' chỉ có đúng một nghĩa). 
- Còn 'running' khi đóng vai trò danh động từ độc lập thì giữ nguyên lemma là chính nó. 
- Đây là ví dụ thật minh họa rõ nhất tính đa-cha: không chỉ một node có nhiều cha, mà một cha cũng có thể nhận từ nhiều con hội tụ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Ở tầng đầu tiên này, trọng số của cạnh Lá-đến-Biến-thể được tính bằng P(Anh cho trước Việt), lấy trực tiếp từ bảng dịch ngược của fast_align — cách tính cụ thể và ví dụ số minh họa đã trình bày kỹ ở 2 slide trước. 'Chạy' là động từ tiếng Việt rất phổ biến, có thể dịch thành nhiều dạng tiếng Anh khác nhau tùy ngữ cảnh — không chỉ 'running' và 'ran', mà thực tế còn nhiều bản dịch khả dĩ khác đã bị lọc bỏ vì xác suất quá thấp hoặc số lần liên kết quá ít. 
- Taxonomy đa-cha chỉ giữ lại đúng những bản dịch đủ tin cậy, mỗi cạnh mang đúng xác suất dịch thật đo được từ dữ liệu — không phải ước lượng chủ quan.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Ở tầng thứ hai — từ Biến thể lên Lemma — cơ chế khác hẳn tầng trước, vì phải dựa vào ngữ pháp tiếng Anh chứ không có dữ liệu dịch song ngữ. 
- POS-tag xác định đúng từ loại cho từng lần xuất hiện cụ thể. 'Running' đa số đóng vai trò động từ tiếp diễn nên lemmatize về 'run', nhưng 6,5% đóng vai trò danh động từ độc lập thì WordNet giữ nguyên lemma là chính nó. 
- Laplace smoothing đảm bảo cả hai khả năng đều phản ánh đúng tỉ lệ thật quan sát được. 
*********
- Câu hỏi phản biện dễ gặp: 'Tại sao tầng trước có lọc ngưỡng mà tầng này lại không?' Trả lời: tầng trước là ƯỚC LƯỢNG THỐNG KÊ qua EM trên dữ liệu thưa, dễ nhiễu; tầng này là TRA TỪ ĐIỂN THEO QUY TẮC, mỗi lần xuất hiện phản ánh hiện tượng ngữ pháp thật. 
- Thêm nữa, phần lớn nhiễu ở tầng này (base-form không đa nghĩa) đã được xử lý bằng fix bỏ cạnh khi lemma trùng tên variant. 
- Nhưng cần thừa nhận: POS-tagger cũng không hoàn hảo, một nhãn hiếm (như 1/170 lần) vẫn có thể là lỗi gán nhãn — khoảng hở chưa xử lý nhất quán, và là hướng cải tiến hợp lý: bổ sung ngưỡng số lần quan sát tối thiểu tương tự cho tầng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Đây là ba bộ dữ liệu cuối cùng thu được sau khi đi qua đầy đủ bảy bước pipeline. 
- Có một điểm đáng chú ý: tỉ lệ giữa số lượng variant và leaf giảm dần khi corpus lớn hơn — MTet 250k có tỉ lệ variant trên leaf thấp hơn IWSLT15 khá nhiều. 
- Điều này nghĩa là taxonomy nén nhiều từ tiếng Việt khác nhau vào chung một biến thể tiếng Anh hơn khi có nhiều dữ liệu để thống kê — tính đa-cha càng thể hiện rõ nét hơn khi corpus càng lớn. 
- Đây cũng là lý do nhóm em chọn cả ba kích cỡ corpus để thực nghiệm ở phần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Bên cạnh 3 fix đã áp dụng, quá trình xây dựng và kiểm tra kỹ dữ liệu này còn phát hiện thêm 5 điểm yếu chưa xử lý triệt để. - Thứ nhất, bất đối xứng ngưỡng lọc giữa hai tầng — đã giải thích ở slide công thức tầng Lemma. 
- Thứ hai, cả POS-tagger lẫn fast_align đều là mô hình thống kê, có tỉ lệ sai nhất định, truyền thẳng vào trọng số taxonomy. - Thứ ba, hiện tượng self-derived — phần lớn top-k là hệ quả cấu trúc chứ không phải phát hiện ngữ nghĩa mới. 
- Thứ tư, một tỉ lệ nhỏ lemma không khớp hoàn toàn WordNet, chỉ ảnh hưởng tên hiển thị. 
- Thứ năm, một phần câu gốc bị loại qua các bộ lọc — tỉ lệ giữ lại dao động 72% (MTet) đến 94% (IWSLT15). - Điểm chung quan trọng nhất: không điểm nào làm sai kết quả tính toán của thuật toán — chỉ là giới hạn về độ sạch dữ liệu đầu vào.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Đây là kiến trúc thuật toán U-TK-MLHUI, mở rộng trực tiếp từ năm chiến lược của TK-MLHUI đã trình bày, nhưng áp dụng cho Expected Utility có trọng số. 
- Ba cận trên — Expected GTWU, Expected Local Utility, Expected Sub-tree Utility — đều định nghĩa lại và chứng minh lại đầy đủ, nhưng vẫn giữ nguyên vai trò cắt tỉa nhờ Bổ đề A. 
- Threshold-raising vẫn là yếu tố quyết định hiệu năng quan trọng nhất: priority queue giữ đúng k tập mục EU cao nhất, mỗi khi có ứng viên mới đủ điều kiện, minU được nâng lên ngay lập tức. 
- Càng khai thác sâu, minU càng cao, không gian tìm kiếm càng bị thu hẹp nhanh hơn.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Vẫn dùng đúng cây taxonomy Chạy đã xem ở slide trước, thêm nhánh Rời→left đơn giản. 
- Với 3 giao dịch nhỏ, sau khi cuộn EU qua toàn bộ taxonomy đa-cha, top-3 cho thấy rõ: hạng 1 là tổ hợp tầng lá, nhưng hạng 2 và 3 đều là tổ hợp Ở TẦNG BIẾN THỂ — running kết hợp với left, và ran kết hợp với left. - Đây chính là giá trị cốt lõi của khai thác đa tầng: nếu TK-MLHUI gốc với taxonomy đơn-cha được áp dụng, nó không thể nào tách riêng và định lượng đúng tỉ lệ đóng góp của 'left' như một khái niệm độc lập với các bản dịch khác của 'Rời'.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Phần thực nghiệm chia làm hai giai đoạn, có chủ đích rõ ràng. 
- Trước hết, giải thích ý nghĩa bốn tiêu chí đo lường. 
- Execution time tính từ lúc bắt đầu tới khi tìm đủ k kết quả. 
- Peak memory là lượng RAM cao nhất được cấp phát. 
- Candidates generated là số lượng itemset ứng viên thực sự được sinh ra. 
- Scanned lists là số lần danh sách khoản mục bị đọc lại. 
- Lưu ý: scanned lists CHỈ so sánh nội bộ giữa các biến thể CÙNG một thuật toán, không so mlTKO với TK-MLHUI vì cấu trúc quét khác nhau. 
- Về ba biến thể mlTKO: mltko là bản đầy đủ, dùng làm chuẩn. mltko-nop tắt EUCP — ablation gốc trong bài báo mlTKO. mltko-wo-merge tắt merge tối ưu — biến thể nhóm em TỰ THÊM. 
- Về TK-MLHUI: bản đầy đủ bật cả 4 chiến lược; wo-merge chỉ tắt riêng Strategy 4. 
- Về bốn biến thể U-TK-MLHUI: mỗi biến thể tắt ĐÚNG một chiến lược so với bản đầy đủ A — nguyên tắc ablation chuẩn, để cô lập rõ ràng đóng góp riêng của Elu, Esu, và merge.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Đây là kết quả tái lập nền, tính trực tiếp từ log thực nghiệm thật — nên giờ có đủ cả bốn tiêu chí, kể cả bộ nhớ mà trước đây chỉ có biểu đồ. 
- Biểu đồ bên trái cho thấy cả ba bộ dữ liệu cùng lúc, thang log: khoảng cách giữa hai cột càng lớn thì tốc độ tăng càng mạnh — rõ nhất ở Accidents, hơn 50 lần. 
- Bảng bên phải: tăng tốc thời gian dao động 2,1 đến 50,7 lần tùy bộ dữ liệu và k. 
- Điểm mới: ở Chess k=100, TK-MLHUI chỉ dùng 59MB bộ nhớ so với 515MB của mlTKO — chênh 8,7 lần, cao nhất toàn bộ thực nghiệm. 
- Ở Fruithut k lớn, chênh lệch bộ nhớ khiêm tốn (1,1×) vì cả hai đã tối ưu tốt trên bộ dữ liệu thưa này. - Về candidates, chênh lệch nhỏ nhất ở Accidents k=2000 (1,9×) nhưng thời gian chênh nhiều nhất (50,7×) — cho thấy tốc độ không chỉ phụ thuộc số candidates mà cả chi phí xử lý mỗi candidate, liên quan đặc điểm dữ liệu (Accidents rất dày đặc). 
- Kết quả khớp paper gốc, xác nhận cài đặt lại chính xác — nền tảng đáng tin cậy để bước sang ablation U-TK-MLHUI.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Số liệu tính trực tiếp từ log thực nghiệm thật, gộp cả 3 corpus (IWSLT15, MTet 150k, MTet 250k) và 3 giá trị k. 
- Biểu đồ bên trái cho thấy xu hướng wo-Elu luôn cao nhất, wo-Esu ở giữa, wo-merge sát mức 1,0×, LẶP LẠI NHẤT QUÁN ở cả ba corpus dù quy mô khác nhau — bằng chứng mạnh cho tính tổng quát, không phải trùng hợp trên 1 bộ dữ liệu. 
- Bảng bên phải là trung bình 9 phép đo (3 corpus × 3 k). 
- Elu vẫn là cận ảnh hưởng mạnh nhất — trung bình 2,78× candidates, cao nhất ở MTet 250k với 3,32×. 
- Đáng chú ý: dù candidates chênh lệch rõ rệt, thời gian trung bình lại gần như bằng 1,00× cho cả ba biến thể — càng củng cố nhận định: chi phí tính Expected Utility đệ quy qua taxonomy đa-cha mới là thành phần chiếm phần lớn thời gian chạy.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Đây là bốn dòng thật, trích trực tiếp từ file kết quả top-200 chạy trên bộ MTet 150k — nhìn thoáng qua cả bốn đều trông như phát hiện ngữ nghĩa thú vị. 
- Nhưng khi đối chiếu với taxonomy.txt, hai cặp bên trái hóa ra đều bắt nguồn từ đúng MỘT từ tiếng Việt duy nhất được dịch đa nghĩa — 'khác' tách thành others/another/different/other, 'tổ_chức' tách thành organize/organization/organizations. 
- Đây không phải bốn từ độc lập tình cờ đi cùng nhau, mà là MỘT khái niệm bị nhân bản qua taxonomy đa-cha. 
- Ngược lại, hai cặp bên phải hoàn toàn không chia sẻ chung child nào — 'say/said/tell' là ba từ khác nhau thật sự hay xuất hiện cùng câu tường thuật, 'cá_nhân/tổ_chức' là hai khái niệm pháp lý độc lập hay đi cùng nhau trong văn bản hành chính.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Đây là một phần phân tích bổ sung mà nhóm em tự thực hiện sau khi quan sát kỹ danh sách top-k, không nằm trong yêu cầu ban đầu nhưng cần thiết để đánh giá kết quả trung thực. 
- Định nghĩa self-derived: pattern mà các item cùng chia sẻ chung ít nhất 1 node con trong taxonomy — tức bắt nguồn từ cùng một token hoặc từ tiếng Việt đa nghĩa duy nhất, bị taxonomy đa-cha chiếu lên nhiều node cha khác nhau. 
- Đây không phải phát hiện ngữ nghĩa thật, mà là hệ quả tất định của cấu trúc dữ liệu. 
- Ngược lại, genuine là pattern không chia sẻ child nào — mỗi item độc lập hoàn toàn về cấu trúc, nên nếu vẫn hay đi cùng nhau, đó phản ánh đúng thói quen ngôn ngữ thật. 
- Nhóm em viết một công cụ hậu xử lý bằng Java, đối chiếu từng pattern với chính file taxonomy đã sinh ra, để tự động gắn nhãn theo đúng hai định nghĩa này — không sửa gì vào thuật toán chính.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Tổng kết lại, đề tài có ba đóng góp chính, cả ba đều có bằng chứng số liệu thực nghiệm cụ thể 
- Về lý thuyết, đề tài mở rộng Expected Utility đệ quy có trọng số trên taxonomy đa-cha, chứng minh lại toàn bộ hệ tính chất đóng xuống nhờ Bổ đề A. 
- Về dữ liệu, đề tài xây dựng pipeline hoàn chỉnh cho dữ liệu bất định đa cấp song ngữ Anh-Việt, trọng số suy từ mô hình dịch thống kê thật thay vì gán ngẫu nhiên. 
- Về thực nghiệm, đề tài cài đặt hoàn chỉnh U-TK-MLHUI kèm ablation study bốn biến thể. 
- Điểm mạnh mà nhóm em tự đánh giá cao nhất là việc tái sử dụng nguyên vẹn hệ chứng minh gốc của TK-MLHUI nhờ Bổ đề A, giảm hẳn rủi ro sai sót lý thuyết so với xây lại từ đầu.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Về hạn chế thuật toán và thực nghiệm (hạn chế riêng của dữ liệu đã trình bày ở slide trước), nhóm em xin trình bày trung thực. 
- Thứ nhất, thực nghiệm hiện tại mới đo một lần chạy, chưa lấy trung bình nhiều lần. 
- Thứ hai, minU khởi tạo của U-TK-MLHUI yếu hơn bản gốc — không phải sai sót cài đặt, mà là bản chất toán học, vì Expected Utility luôn nhỏ hơn hoặc bằng utility gốc. 
- Thứ ba, biến thể E chưa đo được trên dữ liệu ngôn ngữ thật do giới hạn thời gian. 
- Về hướng phát triển, nhóm em dự định mở rộng corpus lớn hơn, thử nghiệm cặp ngôn ngữ khác, hoàn thiện đo biến thể E, và xa hơn là ứng dụng: dùng taxonomy đa-cha để xây dựng công cụ gợi ý dịch thuật hoặc tra cứu đa nghĩa.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xin chân thành cảm ơn thầy cô trong hội đồng đã dành thời gian lắng nghe phần trình bày của nhóm em. Em cũng xin cảm ơn thầy Nguyễn Chí Thiện đã tận tình hướng dẫn trong suốt quá trình thực hiện đồ án. Em rất mong nhận được những góp ý quý báu từ hội đồng để hoàn thiện đề tài hơn nữa, và em xin sẵn sàng trả lời mọi câu hỏi 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3DDD0"/>
        </a:solidFill>
      </p:bgPr>
    </p:bg>
    <p:spTree>
      <p:nvGrpSpPr>
        <p:cNvPr id="1" name=""/>
        <p:cNvGrpSpPr/>
        <p:nvPr/>
      </p:nvGrpSpPr>
      <p:grpSpPr>
        <a:xfrm>
          <a:off x="0" y="0"/>
          <a:ext cx="0" cy="0"/>
          <a:chOff x="0" y="0"/>
          <a:chExt cx="0" cy="0"/>
        </a:xfrm>
      </p:grpSpPr>
      <p:sp>
        <p:nvSpPr>
          <p:cNvPr id="2" name="Text 0"/>
          <p:cNvSpPr/>
          <p:nvPr/>
        </p:nvSpPr>
        <p:spPr>
          <a:xfrm>
            <a:off x="812800" y="6238240"/>
            <a:ext cx="458799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C8590"/>
                </a:solidFill>
                <a:latin typeface="IBM Plex Sans" pitchFamily="34" charset="0"/>
                <a:ea typeface="IBM Plex Sans" pitchFamily="34" charset="-122"/>
                <a:cs typeface="IBM Plex Sans" pitchFamily="34" charset="-120"/>
              </a:rPr>
              <a:t>Trường Đại học Tôn Đức Thắng · Khoa Công nghệ Thông tin · 2026</a:t>
            </a:r>
            <a:endParaRPr lang="en-US" sz="1200" dirty="0"/>
          </a:p>
        </p:txBody>
      </p:sp>
      <p:sp>
        <p:nvSpPr>
          <p:cNvPr id="3" name="Shape 1"/>
          <p:cNvSpPr/>
          <p:nvPr/>
        </p:nvSpPr>
        <p:spPr>
          <a:xfrm>
            <a:off x="4831715" y="812800"/>
            <a:ext cx="2807652" cy="1448435"/>
          </a:xfrm>
          <a:prstGeom prst="rect">
            <a:avLst/>
          </a:prstGeom>
          <a:solidFill>
            <a:srgbClr val="FFFFFF"/>
          </a:solidFill>
          <a:ln/>
        </p:spPr>
      </p:sp>
      <p:pic>
        <p:nvPicPr>
          <p:cNvPr id="4" name="Image 0" descr="Logo Trường Đại học Tôn Đức Thắng">    </p:cNvPr>
          <p:cNvPicPr>
            <a:picLocks noChangeAspect="1"/>
          </p:cNvPicPr>
          <p:nvPr/>
        </p:nvPicPr>
        <p:blipFill>
          <a:blip r:embed="rId1"/>
          <a:srcRect l="-3595" r="-3595" t="0" b="0"/>
          <a:stretch/>
        </p:blipFill>
        <p:spPr>
          <a:xfrm>
            <a:off x="4831715" y="812800"/>
            <a:ext cx="2807652" cy="1448435"/>
          </a:xfrm>
          <a:prstGeom prst="rect">
            <a:avLst/>
          </a:prstGeom>
        </p:spPr>
      </p:pic>
      <p:sp>
        <p:nvSpPr>
          <p:cNvPr id="5" name="Text 2"/>
          <p:cNvSpPr/>
          <p:nvPr/>
        </p:nvSpPr>
        <p:spPr>
          <a:xfrm>
            <a:off x="4453764" y="2762250"/>
            <a:ext cx="3284394" cy="312579"/>
          </a:xfrm>
          <a:prstGeom prst="rect">
            <a:avLst/>
          </a:prstGeom>
          <a:noFill/>
          <a:ln/>
        </p:spPr>
        <p:txBody>
          <a:bodyPr wrap="square" lIns="0" tIns="0" rIns="0" bIns="0" rtlCol="0" anchor="t">
            <a:normAutofit/>
          </a:bodyPr>
          <a:lstStyle/>
          <a:p>
            <a:pPr algn="ctr" indent="0" marL="0">
              <a:lnSpc>
                <a:spcPts val="2274"/>
              </a:lnSpc>
              <a:buNone/>
            </a:pPr>
            <a:r>
              <a:rPr lang="en-US" sz="1624" b="1" spc="200" kern="0" dirty="0">
                <a:solidFill>
                  <a:srgbClr val="B8863B"/>
                </a:solidFill>
                <a:latin typeface="IBM Plex Sans" pitchFamily="34" charset="0"/>
                <a:ea typeface="IBM Plex Sans" pitchFamily="34" charset="-122"/>
                <a:cs typeface="IBM Plex Sans" pitchFamily="34" charset="-120"/>
              </a:rPr>
              <a:t>CHUYÊN ĐỀ NGHIÊN CỨU 1</a:t>
            </a:r>
            <a:endParaRPr lang="en-US" sz="1624" dirty="0"/>
          </a:p>
        </p:txBody>
      </p:sp>
      <p:sp>
        <p:nvSpPr>
          <p:cNvPr id="6" name="Text 3"/>
          <p:cNvSpPr/>
          <p:nvPr/>
        </p:nvSpPr>
        <p:spPr>
          <a:xfrm>
            <a:off x="2291391" y="3201829"/>
            <a:ext cx="7609218" cy="925671"/>
          </a:xfrm>
          <a:prstGeom prst="rect">
            <a:avLst/>
          </a:prstGeom>
          <a:noFill/>
          <a:ln/>
        </p:spPr>
        <p:txBody>
          <a:bodyPr wrap="square" lIns="0" tIns="0" rIns="0" bIns="0" rtlCol="0" anchor="t">
            <a:normAutofit/>
          </a:bodyPr>
          <a:lstStyle/>
          <a:p>
            <a:pPr algn="ctr" indent="0" marL="0">
              <a:lnSpc>
                <a:spcPts val="3552"/>
              </a:lnSpc>
              <a:buNone/>
            </a:pPr>
            <a:r>
              <a:rPr lang="en-US" sz="2960" b="1" dirty="0">
                <a:solidFill>
                  <a:srgbClr val="1C2733"/>
                </a:solidFill>
                <a:latin typeface="EB Garamond" pitchFamily="34" charset="0"/>
                <a:ea typeface="EB Garamond" pitchFamily="34" charset="-122"/>
                <a:cs typeface="EB Garamond" pitchFamily="34" charset="-120"/>
              </a:rPr>
              <a:t>Khai thác Top-k Tập mục có Ích lợi cao Đa tầng </a:t>
            </a:r>
            <a:endParaRPr lang="en-US" sz="2960" dirty="0"/>
          </a:p>
          <a:p>
            <a:pPr algn="ctr" indent="0" marL="0">
              <a:lnSpc>
                <a:spcPts val="3552"/>
              </a:lnSpc>
              <a:buNone/>
            </a:pPr>
            <a:r>
              <a:rPr lang="en-US" sz="2960" b="1" dirty="0">
                <a:solidFill>
                  <a:srgbClr val="1C2733"/>
                </a:solidFill>
                <a:latin typeface="EB Garamond" pitchFamily="34" charset="0"/>
                <a:ea typeface="EB Garamond" pitchFamily="34" charset="-122"/>
                <a:cs typeface="EB Garamond" pitchFamily="34" charset="-120"/>
              </a:rPr>
              <a:t>trên Cơ sở Dữ liệu Không chắc chắn</a:t>
            </a:r>
            <a:endParaRPr lang="en-US" sz="2960" dirty="0"/>
          </a:p>
        </p:txBody>
      </p:sp>
      <p:sp>
        <p:nvSpPr>
          <p:cNvPr id="7" name="Text 4"/>
          <p:cNvSpPr/>
          <p:nvPr/>
        </p:nvSpPr>
        <p:spPr>
          <a:xfrm>
            <a:off x="4325879" y="4457700"/>
            <a:ext cx="3819325" cy="59436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1C2733"/>
                </a:solidFill>
                <a:latin typeface="IBM Plex Sans" pitchFamily="34" charset="0"/>
                <a:ea typeface="IBM Plex Sans" pitchFamily="34" charset="-122"/>
                <a:cs typeface="IBM Plex Sans" pitchFamily="34" charset="-120"/>
              </a:rPr>
              <a:t>Phạm Văn Minh Khang  ·  Lê Ngọc Huy</a:t>
            </a:r>
            <a:endParaRPr lang="en-US" sz="1600" dirty="0"/>
          </a:p>
          <a:p>
            <a:pPr algn="ctr" indent="0" marL="0">
              <a:lnSpc>
                <a:spcPts val="2240"/>
              </a:lnSpc>
              <a:buNone/>
            </a:pPr>
            <a:r>
              <a:rPr lang="en-US" sz="1600" b="1" dirty="0">
                <a:solidFill>
                  <a:srgbClr val="1C2733"/>
                </a:solidFill>
                <a:latin typeface="IBM Plex Sans" pitchFamily="34" charset="0"/>
                <a:ea typeface="IBM Plex Sans" pitchFamily="34" charset="-122"/>
                <a:cs typeface="IBM Plex Sans" pitchFamily="34" charset="-120"/>
              </a:rPr>
              <a:t>GVHD: TS Nguyễn Chí Thiện</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863B"/>
                </a:solidFill>
                <a:latin typeface="IBM Plex Sans" pitchFamily="34" charset="0"/>
                <a:ea typeface="IBM Plex Sans" pitchFamily="34" charset="-122"/>
                <a:cs typeface="IBM Plex Sans" pitchFamily="34" charset="-120"/>
              </a:rPr>
              <a:t>ĐẶT VẤN ĐỀ</a:t>
            </a:r>
            <a:endParaRPr lang="en-US" sz="1200" dirty="0"/>
          </a:p>
        </p:txBody>
      </p:sp>
      <p:sp>
        <p:nvSpPr>
          <p:cNvPr id="3" name="Text 1"/>
          <p:cNvSpPr/>
          <p:nvPr/>
        </p:nvSpPr>
        <p:spPr>
          <a:xfrm>
            <a:off x="812800" y="1102360"/>
            <a:ext cx="10883392" cy="34671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C2733"/>
                </a:solidFill>
                <a:latin typeface="EB Garamond" pitchFamily="34" charset="0"/>
                <a:ea typeface="EB Garamond" pitchFamily="34" charset="-122"/>
                <a:cs typeface="EB Garamond" pitchFamily="34" charset="-120"/>
              </a:rPr>
              <a:t>Đặt vấn đề</a:t>
            </a:r>
            <a:endParaRPr lang="en-US" sz="2200" dirty="0"/>
          </a:p>
        </p:txBody>
      </p:sp>
      <p:sp>
        <p:nvSpPr>
          <p:cNvPr id="4" name="Shape 2"/>
          <p:cNvSpPr/>
          <p:nvPr/>
        </p:nvSpPr>
        <p:spPr>
          <a:xfrm>
            <a:off x="815975" y="1778635"/>
            <a:ext cx="2216150" cy="885190"/>
          </a:xfrm>
          <a:prstGeom prst="roundRect">
            <a:avLst>
              <a:gd name="adj" fmla="val 11119"/>
            </a:avLst>
          </a:prstGeom>
          <a:solidFill>
            <a:srgbClr val="FFFFFF"/>
          </a:solidFill>
          <a:ln w="6350">
            <a:solidFill>
              <a:srgbClr val="E3DDD0"/>
            </a:solidFill>
            <a:prstDash val="solid"/>
          </a:ln>
        </p:spPr>
      </p:sp>
      <p:sp>
        <p:nvSpPr>
          <p:cNvPr id="5" name="Text 3"/>
          <p:cNvSpPr/>
          <p:nvPr/>
        </p:nvSpPr>
        <p:spPr>
          <a:xfrm>
            <a:off x="1725533" y="1983740"/>
            <a:ext cx="396954" cy="254000"/>
          </a:xfrm>
          <a:prstGeom prst="rect">
            <a:avLst/>
          </a:prstGeom>
          <a:noFill/>
          <a:ln/>
        </p:spPr>
        <p:txBody>
          <a:bodyPr wrap="square" lIns="0" tIns="0" rIns="0" bIns="0" rtlCol="0" anchor="t">
            <a:normAutofit/>
          </a:bodyPr>
          <a:lstStyle/>
          <a:p>
            <a:pPr algn="ctr" indent="0" marL="0">
              <a:lnSpc>
                <a:spcPts val="1800"/>
              </a:lnSpc>
              <a:buNone/>
            </a:pPr>
            <a:r>
              <a:rPr lang="en-US" sz="1500" b="1" dirty="0">
                <a:solidFill>
                  <a:srgbClr val="1C2733"/>
                </a:solidFill>
                <a:latin typeface="IBM Plex Sans" pitchFamily="34" charset="0"/>
                <a:ea typeface="IBM Plex Sans" pitchFamily="34" charset="-122"/>
                <a:cs typeface="IBM Plex Sans" pitchFamily="34" charset="-120"/>
              </a:rPr>
              <a:t>FIM</a:t>
            </a:r>
            <a:endParaRPr lang="en-US" sz="1500" dirty="0"/>
          </a:p>
        </p:txBody>
      </p:sp>
      <p:sp>
        <p:nvSpPr>
          <p:cNvPr id="6" name="Text 4"/>
          <p:cNvSpPr/>
          <p:nvPr/>
        </p:nvSpPr>
        <p:spPr>
          <a:xfrm>
            <a:off x="1324689" y="2263140"/>
            <a:ext cx="1198721" cy="22098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4A5568"/>
                </a:solidFill>
                <a:latin typeface="IBM Plex Sans" pitchFamily="34" charset="0"/>
                <a:ea typeface="IBM Plex Sans" pitchFamily="34" charset="-122"/>
                <a:cs typeface="IBM Plex Sans" pitchFamily="34" charset="-120"/>
              </a:rPr>
              <a:t>Tần suất xuất hiện</a:t>
            </a:r>
            <a:endParaRPr lang="en-US" sz="1100" dirty="0"/>
          </a:p>
        </p:txBody>
      </p:sp>
      <p:pic>
        <p:nvPicPr>
          <p:cNvPr id="7" name="Image 0" descr="arrow-right">    </p:cNvPr>
          <p:cNvPicPr>
            <a:picLocks noChangeAspect="1"/>
          </p:cNvPicPr>
          <p:nvPr/>
        </p:nvPicPr>
        <p:blipFill>
          <a:blip r:embed="rId1"/>
          <a:srcRect l="0" r="0" t="0" b="0"/>
          <a:stretch/>
        </p:blipFill>
        <p:spPr>
          <a:xfrm>
            <a:off x="3162300" y="2145030"/>
            <a:ext cx="304800" cy="152400"/>
          </a:xfrm>
          <a:prstGeom prst="rect">
            <a:avLst/>
          </a:prstGeom>
        </p:spPr>
      </p:pic>
      <p:sp>
        <p:nvSpPr>
          <p:cNvPr id="8" name="Shape 5"/>
          <p:cNvSpPr/>
          <p:nvPr/>
        </p:nvSpPr>
        <p:spPr>
          <a:xfrm>
            <a:off x="3597275" y="1778635"/>
            <a:ext cx="2216150" cy="885190"/>
          </a:xfrm>
          <a:prstGeom prst="roundRect">
            <a:avLst>
              <a:gd name="adj" fmla="val 11119"/>
            </a:avLst>
          </a:prstGeom>
          <a:solidFill>
            <a:srgbClr val="FFFFFF"/>
          </a:solidFill>
          <a:ln w="6350">
            <a:solidFill>
              <a:srgbClr val="E3DDD0"/>
            </a:solidFill>
            <a:prstDash val="solid"/>
          </a:ln>
        </p:spPr>
      </p:sp>
      <p:sp>
        <p:nvSpPr>
          <p:cNvPr id="9" name="Text 6"/>
          <p:cNvSpPr/>
          <p:nvPr/>
        </p:nvSpPr>
        <p:spPr>
          <a:xfrm>
            <a:off x="4427696" y="1983740"/>
            <a:ext cx="555308" cy="254000"/>
          </a:xfrm>
          <a:prstGeom prst="rect">
            <a:avLst/>
          </a:prstGeom>
          <a:noFill/>
          <a:ln/>
        </p:spPr>
        <p:txBody>
          <a:bodyPr wrap="square" lIns="0" tIns="0" rIns="0" bIns="0" rtlCol="0" anchor="t">
            <a:normAutofit/>
          </a:bodyPr>
          <a:lstStyle/>
          <a:p>
            <a:pPr algn="ctr" indent="0" marL="0">
              <a:lnSpc>
                <a:spcPts val="1800"/>
              </a:lnSpc>
              <a:buNone/>
            </a:pPr>
            <a:r>
              <a:rPr lang="en-US" sz="1500" b="1" dirty="0">
                <a:solidFill>
                  <a:srgbClr val="1C2733"/>
                </a:solidFill>
                <a:latin typeface="IBM Plex Sans" pitchFamily="34" charset="0"/>
                <a:ea typeface="IBM Plex Sans" pitchFamily="34" charset="-122"/>
                <a:cs typeface="IBM Plex Sans" pitchFamily="34" charset="-120"/>
              </a:rPr>
              <a:t>HUIM</a:t>
            </a:r>
            <a:endParaRPr lang="en-US" sz="1500" dirty="0"/>
          </a:p>
        </p:txBody>
      </p:sp>
      <p:sp>
        <p:nvSpPr>
          <p:cNvPr id="10" name="Text 7"/>
          <p:cNvSpPr/>
          <p:nvPr/>
        </p:nvSpPr>
        <p:spPr>
          <a:xfrm>
            <a:off x="3939699" y="2263140"/>
            <a:ext cx="1531223" cy="22098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4A5568"/>
                </a:solidFill>
                <a:latin typeface="IBM Plex Sans" pitchFamily="34" charset="0"/>
                <a:ea typeface="IBM Plex Sans" pitchFamily="34" charset="-122"/>
                <a:cs typeface="IBM Plex Sans" pitchFamily="34" charset="-120"/>
              </a:rPr>
              <a:t>+ Độ hữu ích (lợi nhuận)</a:t>
            </a:r>
            <a:endParaRPr lang="en-US" sz="1100" dirty="0"/>
          </a:p>
        </p:txBody>
      </p:sp>
      <p:pic>
        <p:nvPicPr>
          <p:cNvPr id="11" name="Image 1" descr="arrow-right">    </p:cNvPr>
          <p:cNvPicPr>
            <a:picLocks noChangeAspect="1"/>
          </p:cNvPicPr>
          <p:nvPr/>
        </p:nvPicPr>
        <p:blipFill>
          <a:blip r:embed="rId2"/>
          <a:srcRect l="0" r="0" t="0" b="0"/>
          <a:stretch/>
        </p:blipFill>
        <p:spPr>
          <a:xfrm>
            <a:off x="5943600" y="2145030"/>
            <a:ext cx="304800" cy="152400"/>
          </a:xfrm>
          <a:prstGeom prst="rect">
            <a:avLst/>
          </a:prstGeom>
        </p:spPr>
      </p:pic>
      <p:sp>
        <p:nvSpPr>
          <p:cNvPr id="12" name="Shape 8"/>
          <p:cNvSpPr/>
          <p:nvPr/>
        </p:nvSpPr>
        <p:spPr>
          <a:xfrm>
            <a:off x="6378575" y="1778635"/>
            <a:ext cx="2216150" cy="885190"/>
          </a:xfrm>
          <a:prstGeom prst="roundRect">
            <a:avLst>
              <a:gd name="adj" fmla="val 11119"/>
            </a:avLst>
          </a:prstGeom>
          <a:solidFill>
            <a:srgbClr val="FFFFFF"/>
          </a:solidFill>
          <a:ln w="6350">
            <a:solidFill>
              <a:srgbClr val="E3DDD0"/>
            </a:solidFill>
            <a:prstDash val="solid"/>
          </a:ln>
        </p:spPr>
      </p:sp>
      <p:sp>
        <p:nvSpPr>
          <p:cNvPr id="13" name="Text 9"/>
          <p:cNvSpPr/>
          <p:nvPr/>
        </p:nvSpPr>
        <p:spPr>
          <a:xfrm>
            <a:off x="7081520" y="1983740"/>
            <a:ext cx="810181" cy="254000"/>
          </a:xfrm>
          <a:prstGeom prst="rect">
            <a:avLst/>
          </a:prstGeom>
          <a:noFill/>
          <a:ln/>
        </p:spPr>
        <p:txBody>
          <a:bodyPr wrap="square" lIns="0" tIns="0" rIns="0" bIns="0" rtlCol="0" anchor="t">
            <a:normAutofit/>
          </a:bodyPr>
          <a:lstStyle/>
          <a:p>
            <a:pPr algn="ctr" indent="0" marL="0">
              <a:lnSpc>
                <a:spcPts val="1800"/>
              </a:lnSpc>
              <a:buNone/>
            </a:pPr>
            <a:r>
              <a:rPr lang="en-US" sz="1500" b="1" dirty="0">
                <a:solidFill>
                  <a:srgbClr val="1C2733"/>
                </a:solidFill>
                <a:latin typeface="IBM Plex Sans" pitchFamily="34" charset="0"/>
                <a:ea typeface="IBM Plex Sans" pitchFamily="34" charset="-122"/>
                <a:cs typeface="IBM Plex Sans" pitchFamily="34" charset="-120"/>
              </a:rPr>
              <a:t>MLHUIM</a:t>
            </a:r>
            <a:endParaRPr lang="en-US" sz="1500" dirty="0"/>
          </a:p>
        </p:txBody>
      </p:sp>
      <p:sp>
        <p:nvSpPr>
          <p:cNvPr id="14" name="Text 10"/>
          <p:cNvSpPr/>
          <p:nvPr/>
        </p:nvSpPr>
        <p:spPr>
          <a:xfrm>
            <a:off x="6882209" y="2263140"/>
            <a:ext cx="1208802" cy="22098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4A5568"/>
                </a:solidFill>
                <a:latin typeface="IBM Plex Sans" pitchFamily="34" charset="0"/>
                <a:ea typeface="IBM Plex Sans" pitchFamily="34" charset="-122"/>
                <a:cs typeface="IBM Plex Sans" pitchFamily="34" charset="-120"/>
              </a:rPr>
              <a:t>+ Dữ liệu phân cấp</a:t>
            </a:r>
            <a:endParaRPr lang="en-US" sz="1100" dirty="0"/>
          </a:p>
        </p:txBody>
      </p:sp>
      <p:pic>
        <p:nvPicPr>
          <p:cNvPr id="15" name="Image 2" descr="arrow-right">    </p:cNvPr>
          <p:cNvPicPr>
            <a:picLocks noChangeAspect="1"/>
          </p:cNvPicPr>
          <p:nvPr/>
        </p:nvPicPr>
        <p:blipFill>
          <a:blip r:embed="rId3"/>
          <a:srcRect l="0" r="0" t="0" b="0"/>
          <a:stretch/>
        </p:blipFill>
        <p:spPr>
          <a:xfrm>
            <a:off x="8724900" y="2145030"/>
            <a:ext cx="304800" cy="152400"/>
          </a:xfrm>
          <a:prstGeom prst="rect">
            <a:avLst/>
          </a:prstGeom>
        </p:spPr>
      </p:pic>
      <p:sp>
        <p:nvSpPr>
          <p:cNvPr id="16" name="Shape 11"/>
          <p:cNvSpPr/>
          <p:nvPr/>
        </p:nvSpPr>
        <p:spPr>
          <a:xfrm>
            <a:off x="9159875" y="1680845"/>
            <a:ext cx="2216150" cy="1080770"/>
          </a:xfrm>
          <a:prstGeom prst="roundRect">
            <a:avLst>
              <a:gd name="adj" fmla="val 9107"/>
            </a:avLst>
          </a:prstGeom>
          <a:solidFill>
            <a:srgbClr val="FFFFFF"/>
          </a:solidFill>
          <a:ln w="6350">
            <a:solidFill>
              <a:srgbClr val="E3DDD0"/>
            </a:solidFill>
            <a:prstDash val="solid"/>
          </a:ln>
        </p:spPr>
      </p:sp>
      <p:sp>
        <p:nvSpPr>
          <p:cNvPr id="17" name="Text 12"/>
          <p:cNvSpPr/>
          <p:nvPr/>
        </p:nvSpPr>
        <p:spPr>
          <a:xfrm>
            <a:off x="9587786" y="1885950"/>
            <a:ext cx="1360329" cy="254000"/>
          </a:xfrm>
          <a:prstGeom prst="rect">
            <a:avLst/>
          </a:prstGeom>
          <a:noFill/>
          <a:ln/>
        </p:spPr>
        <p:txBody>
          <a:bodyPr wrap="square" lIns="0" tIns="0" rIns="0" bIns="0" rtlCol="0" anchor="t">
            <a:normAutofit/>
          </a:bodyPr>
          <a:lstStyle/>
          <a:p>
            <a:pPr algn="ctr" indent="0" marL="0">
              <a:lnSpc>
                <a:spcPts val="1800"/>
              </a:lnSpc>
              <a:buNone/>
            </a:pPr>
            <a:r>
              <a:rPr lang="en-US" sz="1500" b="1" dirty="0">
                <a:solidFill>
                  <a:srgbClr val="1C2733"/>
                </a:solidFill>
                <a:latin typeface="IBM Plex Sans" pitchFamily="34" charset="0"/>
                <a:ea typeface="IBM Plex Sans" pitchFamily="34" charset="-122"/>
                <a:cs typeface="IBM Plex Sans" pitchFamily="34" charset="-120"/>
              </a:rPr>
              <a:t>Top-k MLHUIM</a:t>
            </a:r>
            <a:endParaRPr lang="en-US" sz="1500" dirty="0"/>
          </a:p>
        </p:txBody>
      </p:sp>
      <p:sp>
        <p:nvSpPr>
          <p:cNvPr id="18" name="Text 13"/>
          <p:cNvSpPr/>
          <p:nvPr/>
        </p:nvSpPr>
        <p:spPr>
          <a:xfrm>
            <a:off x="9337891" y="2165350"/>
            <a:ext cx="1860118" cy="4165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4A5568"/>
                </a:solidFill>
                <a:latin typeface="IBM Plex Sans" pitchFamily="34" charset="0"/>
                <a:ea typeface="IBM Plex Sans" pitchFamily="34" charset="-122"/>
                <a:cs typeface="IBM Plex Sans" pitchFamily="34" charset="-120"/>
              </a:rPr>
              <a:t>TK-MLHUI (2025) — nền tảng</a:t>
            </a:r>
            <a:endParaRPr lang="en-US" sz="1100" dirty="0"/>
          </a:p>
        </p:txBody>
      </p:sp>
      <p:sp>
        <p:nvSpPr>
          <p:cNvPr id="19" name="Shape 14"/>
          <p:cNvSpPr/>
          <p:nvPr/>
        </p:nvSpPr>
        <p:spPr>
          <a:xfrm>
            <a:off x="812800" y="3018790"/>
            <a:ext cx="10566400" cy="2823210"/>
          </a:xfrm>
          <a:prstGeom prst="roundRect">
            <a:avLst>
              <a:gd name="adj" fmla="val 3599"/>
            </a:avLst>
          </a:prstGeom>
          <a:solidFill>
            <a:srgbClr val="1C2733"/>
          </a:solidFill>
          <a:ln/>
        </p:spPr>
      </p:sp>
      <p:sp>
        <p:nvSpPr>
          <p:cNvPr id="20" name="Text 15"/>
          <p:cNvSpPr/>
          <p:nvPr/>
        </p:nvSpPr>
        <p:spPr>
          <a:xfrm>
            <a:off x="1117600" y="4001135"/>
            <a:ext cx="10255504"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B8863B"/>
                </a:solidFill>
                <a:latin typeface="IBM Plex Sans" pitchFamily="34" charset="0"/>
                <a:ea typeface="IBM Plex Sans" pitchFamily="34" charset="-122"/>
                <a:cs typeface="IBM Plex Sans" pitchFamily="34" charset="-120"/>
              </a:rPr>
              <a:t>KHOẢNG TRỐNG CÒN LẠI</a:t>
            </a:r>
            <a:endParaRPr lang="en-US" sz="1200" dirty="0"/>
          </a:p>
        </p:txBody>
      </p:sp>
      <p:sp>
        <p:nvSpPr>
          <p:cNvPr id="21" name="Text 16"/>
          <p:cNvSpPr/>
          <p:nvPr/>
        </p:nvSpPr>
        <p:spPr>
          <a:xfrm>
            <a:off x="1117600" y="4290695"/>
            <a:ext cx="10255504"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AF9F5"/>
                </a:solidFill>
                <a:latin typeface="IBM Plex Sans" pitchFamily="34" charset="0"/>
                <a:ea typeface="IBM Plex Sans" pitchFamily="34" charset="-122"/>
                <a:cs typeface="IBM Plex Sans" pitchFamily="34" charset="-120"/>
              </a:rPr>
              <a:t>Toàn bộ hướng trên giả định dữ liệu </a:t>
            </a:r>
            <a:r>
              <a:rPr lang="en-US" sz="1600" b="1" dirty="0">
                <a:solidFill>
                  <a:srgbClr val="FAF9F5"/>
                </a:solidFill>
                <a:latin typeface="IBM Plex Sans" pitchFamily="34" charset="0"/>
                <a:ea typeface="IBM Plex Sans" pitchFamily="34" charset="-122"/>
                <a:cs typeface="IBM Plex Sans" pitchFamily="34" charset="-120"/>
              </a:rPr>
              <a:t>hoàn toàn chắc chắn</a:t>
            </a:r>
            <a:r>
              <a:rPr lang="en-US" sz="1600" dirty="0">
                <a:solidFill>
                  <a:srgbClr val="FAF9F5"/>
                </a:solidFill>
                <a:latin typeface="IBM Plex Sans" pitchFamily="34" charset="0"/>
                <a:ea typeface="IBM Plex Sans" pitchFamily="34" charset="-122"/>
                <a:cs typeface="IBM Plex Sans" pitchFamily="34" charset="-120"/>
              </a:rPr>
              <a:t>. Trong thực tế (dữ liệu cảm biến, dự đoán bằng máy học, khảo sát...), một khoản mục chỉ có mặt trong giao dịch với một </a:t>
            </a:r>
            <a:r>
              <a:rPr lang="en-US" sz="1600" b="1" dirty="0">
                <a:solidFill>
                  <a:srgbClr val="FAF9F5"/>
                </a:solidFill>
                <a:latin typeface="IBM Plex Sans" pitchFamily="34" charset="0"/>
                <a:ea typeface="IBM Plex Sans" pitchFamily="34" charset="-122"/>
                <a:cs typeface="IBM Plex Sans" pitchFamily="34" charset="-120"/>
              </a:rPr>
              <a:t>xác suất tồn tại</a:t>
            </a:r>
            <a:r>
              <a:rPr lang="en-US" sz="1600" dirty="0">
                <a:solidFill>
                  <a:srgbClr val="FAF9F5"/>
                </a:solidFill>
                <a:latin typeface="IBM Plex Sans" pitchFamily="34" charset="0"/>
                <a:ea typeface="IBM Plex Sans" pitchFamily="34" charset="-122"/>
                <a:cs typeface="IBM Plex Sans" pitchFamily="34" charset="-120"/>
              </a:rPr>
              <a:t> nào đó.</a:t>
            </a:r>
            <a:endParaRPr lang="en-US" sz="1600" dirty="0"/>
          </a:p>
        </p:txBody>
      </p:sp>
      <p:sp>
        <p:nvSpPr>
          <p:cNvPr id="22" name="Text 17"/>
          <p:cNvSpPr/>
          <p:nvPr/>
        </p:nvSpPr>
        <p:spPr>
          <a:xfrm>
            <a:off x="812800" y="6238241"/>
            <a:ext cx="45545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199"/>
                </a:solidFill>
                <a:latin typeface="IBM Plex Sans" pitchFamily="34" charset="0"/>
                <a:ea typeface="IBM Plex Sans" pitchFamily="34" charset="-122"/>
                <a:cs typeface="IBM Plex Sans" pitchFamily="34" charset="-120"/>
              </a:rPr>
              <a:t>2 / 34</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863B"/>
                </a:solidFill>
                <a:latin typeface="IBM Plex Sans" pitchFamily="34" charset="0"/>
                <a:ea typeface="IBM Plex Sans" pitchFamily="34" charset="-122"/>
                <a:cs typeface="IBM Plex Sans" pitchFamily="34" charset="-120"/>
              </a:rPr>
              <a:t>MỤC TIÊU NGHIÊN CỨU</a:t>
            </a:r>
            <a:endParaRPr lang="en-US" sz="1200" dirty="0"/>
          </a:p>
        </p:txBody>
      </p:sp>
      <p:sp>
        <p:nvSpPr>
          <p:cNvPr id="3" name="Text 1"/>
          <p:cNvSpPr/>
          <p:nvPr/>
        </p:nvSpPr>
        <p:spPr>
          <a:xfrm>
            <a:off x="812800" y="1102361"/>
            <a:ext cx="10883392" cy="34671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C2733"/>
                </a:solidFill>
                <a:latin typeface="EB Garamond" pitchFamily="34" charset="0"/>
                <a:ea typeface="EB Garamond" pitchFamily="34" charset="-122"/>
                <a:cs typeface="EB Garamond" pitchFamily="34" charset="-120"/>
              </a:rPr>
              <a:t>Mục tiêu nghiên cứu</a:t>
            </a:r>
            <a:endParaRPr lang="en-US" sz="2200" dirty="0"/>
          </a:p>
        </p:txBody>
      </p:sp>
      <p:sp>
        <p:nvSpPr>
          <p:cNvPr id="4" name="Shape 2"/>
          <p:cNvSpPr/>
          <p:nvPr/>
        </p:nvSpPr>
        <p:spPr>
          <a:xfrm>
            <a:off x="815975" y="1680845"/>
            <a:ext cx="5175250" cy="1974215"/>
          </a:xfrm>
          <a:prstGeom prst="roundRect">
            <a:avLst>
              <a:gd name="adj" fmla="val 4986"/>
            </a:avLst>
          </a:prstGeom>
          <a:solidFill>
            <a:srgbClr val="FFFFFF"/>
          </a:solidFill>
          <a:ln w="6350">
            <a:solidFill>
              <a:srgbClr val="E3DDD0"/>
            </a:solidFill>
            <a:prstDash val="solid"/>
          </a:ln>
        </p:spPr>
      </p:sp>
      <p:sp>
        <p:nvSpPr>
          <p:cNvPr id="5" name="Shape 3"/>
          <p:cNvSpPr/>
          <p:nvPr/>
        </p:nvSpPr>
        <p:spPr>
          <a:xfrm>
            <a:off x="1071880" y="1936750"/>
            <a:ext cx="355600" cy="355600"/>
          </a:xfrm>
          <a:prstGeom prst="roundRect">
            <a:avLst>
              <a:gd name="adj" fmla="val 50000"/>
            </a:avLst>
          </a:prstGeom>
          <a:solidFill>
            <a:srgbClr val="B8863B"/>
          </a:solidFill>
          <a:ln/>
        </p:spPr>
      </p:sp>
      <p:sp>
        <p:nvSpPr>
          <p:cNvPr id="6" name="Text 4"/>
          <p:cNvSpPr/>
          <p:nvPr/>
        </p:nvSpPr>
        <p:spPr>
          <a:xfrm>
            <a:off x="1196340" y="1990091"/>
            <a:ext cx="15748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FFFF"/>
                </a:solidFill>
                <a:latin typeface="IBM Plex Sans" pitchFamily="34" charset="0"/>
                <a:ea typeface="IBM Plex Sans" pitchFamily="34" charset="-122"/>
                <a:cs typeface="IBM Plex Sans" pitchFamily="34" charset="-120"/>
              </a:rPr>
              <a:t>1</a:t>
            </a:r>
            <a:endParaRPr lang="en-US" sz="1400" dirty="0"/>
          </a:p>
        </p:txBody>
      </p:sp>
      <p:sp>
        <p:nvSpPr>
          <p:cNvPr id="7" name="Text 5"/>
          <p:cNvSpPr/>
          <p:nvPr/>
        </p:nvSpPr>
        <p:spPr>
          <a:xfrm>
            <a:off x="1071880" y="2393950"/>
            <a:ext cx="480334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C2733"/>
                </a:solidFill>
                <a:latin typeface="IBM Plex Sans" pitchFamily="34" charset="0"/>
                <a:ea typeface="IBM Plex Sans" pitchFamily="34" charset="-122"/>
                <a:cs typeface="IBM Plex Sans" pitchFamily="34" charset="-120"/>
              </a:rPr>
              <a:t>Hiểu &amp; cài đặt nền tảng</a:t>
            </a:r>
            <a:endParaRPr lang="en-US" sz="1500" dirty="0"/>
          </a:p>
        </p:txBody>
      </p:sp>
      <p:sp>
        <p:nvSpPr>
          <p:cNvPr id="8" name="Text 6"/>
          <p:cNvSpPr/>
          <p:nvPr/>
        </p:nvSpPr>
        <p:spPr>
          <a:xfrm>
            <a:off x="1071880" y="2724150"/>
            <a:ext cx="480334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Cài lại đúng đặc tả hai thuật toán mlTKO và TK-MLHUI (Nguyen, Tung &amp; Vo, 2025).</a:t>
            </a:r>
            <a:endParaRPr lang="en-US" sz="1200" dirty="0"/>
          </a:p>
        </p:txBody>
      </p:sp>
      <p:sp>
        <p:nvSpPr>
          <p:cNvPr id="9" name="Shape 7"/>
          <p:cNvSpPr/>
          <p:nvPr/>
        </p:nvSpPr>
        <p:spPr>
          <a:xfrm>
            <a:off x="6200775" y="1680845"/>
            <a:ext cx="5175250" cy="1974215"/>
          </a:xfrm>
          <a:prstGeom prst="roundRect">
            <a:avLst>
              <a:gd name="adj" fmla="val 4986"/>
            </a:avLst>
          </a:prstGeom>
          <a:solidFill>
            <a:srgbClr val="FFFFFF"/>
          </a:solidFill>
          <a:ln w="6350">
            <a:solidFill>
              <a:srgbClr val="E3DDD0"/>
            </a:solidFill>
            <a:prstDash val="solid"/>
          </a:ln>
        </p:spPr>
      </p:sp>
      <p:sp>
        <p:nvSpPr>
          <p:cNvPr id="10" name="Shape 8"/>
          <p:cNvSpPr/>
          <p:nvPr/>
        </p:nvSpPr>
        <p:spPr>
          <a:xfrm>
            <a:off x="6456680" y="1936750"/>
            <a:ext cx="355600" cy="355600"/>
          </a:xfrm>
          <a:prstGeom prst="roundRect">
            <a:avLst>
              <a:gd name="adj" fmla="val 50000"/>
            </a:avLst>
          </a:prstGeom>
          <a:solidFill>
            <a:srgbClr val="B8863B"/>
          </a:solidFill>
          <a:ln/>
        </p:spPr>
      </p:sp>
      <p:sp>
        <p:nvSpPr>
          <p:cNvPr id="11" name="Text 9"/>
          <p:cNvSpPr/>
          <p:nvPr/>
        </p:nvSpPr>
        <p:spPr>
          <a:xfrm>
            <a:off x="6581140" y="1990091"/>
            <a:ext cx="15748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FFFF"/>
                </a:solidFill>
                <a:latin typeface="IBM Plex Sans" pitchFamily="34" charset="0"/>
                <a:ea typeface="IBM Plex Sans" pitchFamily="34" charset="-122"/>
                <a:cs typeface="IBM Plex Sans" pitchFamily="34" charset="-120"/>
              </a:rPr>
              <a:t>2</a:t>
            </a:r>
            <a:endParaRPr lang="en-US" sz="1400" dirty="0"/>
          </a:p>
        </p:txBody>
      </p:sp>
      <p:sp>
        <p:nvSpPr>
          <p:cNvPr id="12" name="Text 10"/>
          <p:cNvSpPr/>
          <p:nvPr/>
        </p:nvSpPr>
        <p:spPr>
          <a:xfrm>
            <a:off x="6456680" y="2393950"/>
            <a:ext cx="480334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C2733"/>
                </a:solidFill>
                <a:latin typeface="IBM Plex Sans" pitchFamily="34" charset="0"/>
                <a:ea typeface="IBM Plex Sans" pitchFamily="34" charset="-122"/>
                <a:cs typeface="IBM Plex Sans" pitchFamily="34" charset="-120"/>
              </a:rPr>
              <a:t>Nghiên cứu thích ứng</a:t>
            </a:r>
            <a:endParaRPr lang="en-US" sz="1500" dirty="0"/>
          </a:p>
        </p:txBody>
      </p:sp>
      <p:sp>
        <p:nvSpPr>
          <p:cNvPr id="13" name="Text 11"/>
          <p:cNvSpPr/>
          <p:nvPr/>
        </p:nvSpPr>
        <p:spPr>
          <a:xfrm>
            <a:off x="6456680" y="2724150"/>
            <a:ext cx="480334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Mô hình dữ liệu mới: xác suất tồn tại của khoản mục, làm cơ sở định nghĩa lại Expected Utility.</a:t>
            </a:r>
            <a:endParaRPr lang="en-US" sz="1200" dirty="0"/>
          </a:p>
        </p:txBody>
      </p:sp>
      <p:sp>
        <p:nvSpPr>
          <p:cNvPr id="14" name="Shape 12"/>
          <p:cNvSpPr/>
          <p:nvPr/>
        </p:nvSpPr>
        <p:spPr>
          <a:xfrm>
            <a:off x="815975" y="3864611"/>
            <a:ext cx="5175250" cy="1974215"/>
          </a:xfrm>
          <a:prstGeom prst="roundRect">
            <a:avLst>
              <a:gd name="adj" fmla="val 4986"/>
            </a:avLst>
          </a:prstGeom>
          <a:solidFill>
            <a:srgbClr val="FFFFFF"/>
          </a:solidFill>
          <a:ln w="6350">
            <a:solidFill>
              <a:srgbClr val="E3DDD0"/>
            </a:solidFill>
            <a:prstDash val="solid"/>
          </a:ln>
        </p:spPr>
      </p:sp>
      <p:sp>
        <p:nvSpPr>
          <p:cNvPr id="15" name="Shape 13"/>
          <p:cNvSpPr/>
          <p:nvPr/>
        </p:nvSpPr>
        <p:spPr>
          <a:xfrm>
            <a:off x="1071880" y="4120516"/>
            <a:ext cx="355600" cy="355600"/>
          </a:xfrm>
          <a:prstGeom prst="roundRect">
            <a:avLst>
              <a:gd name="adj" fmla="val 50000"/>
            </a:avLst>
          </a:prstGeom>
          <a:solidFill>
            <a:srgbClr val="B8863B"/>
          </a:solidFill>
          <a:ln/>
        </p:spPr>
      </p:sp>
      <p:sp>
        <p:nvSpPr>
          <p:cNvPr id="16" name="Text 14"/>
          <p:cNvSpPr/>
          <p:nvPr/>
        </p:nvSpPr>
        <p:spPr>
          <a:xfrm>
            <a:off x="1196340" y="4173855"/>
            <a:ext cx="15748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FFFF"/>
                </a:solidFill>
                <a:latin typeface="IBM Plex Sans" pitchFamily="34" charset="0"/>
                <a:ea typeface="IBM Plex Sans" pitchFamily="34" charset="-122"/>
                <a:cs typeface="IBM Plex Sans" pitchFamily="34" charset="-120"/>
              </a:rPr>
              <a:t>3</a:t>
            </a:r>
            <a:endParaRPr lang="en-US" sz="1400" dirty="0"/>
          </a:p>
        </p:txBody>
      </p:sp>
      <p:sp>
        <p:nvSpPr>
          <p:cNvPr id="17" name="Text 15"/>
          <p:cNvSpPr/>
          <p:nvPr/>
        </p:nvSpPr>
        <p:spPr>
          <a:xfrm>
            <a:off x="1071880" y="4577716"/>
            <a:ext cx="480334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C2733"/>
                </a:solidFill>
                <a:latin typeface="IBM Plex Sans" pitchFamily="34" charset="0"/>
                <a:ea typeface="IBM Plex Sans" pitchFamily="34" charset="-122"/>
                <a:cs typeface="IBM Plex Sans" pitchFamily="34" charset="-120"/>
              </a:rPr>
              <a:t>Phát triển thuật toán mới</a:t>
            </a:r>
            <a:endParaRPr lang="en-US" sz="1500" dirty="0"/>
          </a:p>
        </p:txBody>
      </p:sp>
      <p:sp>
        <p:nvSpPr>
          <p:cNvPr id="18" name="Text 16"/>
          <p:cNvSpPr/>
          <p:nvPr/>
        </p:nvSpPr>
        <p:spPr>
          <a:xfrm>
            <a:off x="1071880" y="4907916"/>
            <a:ext cx="480334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Mở rộng &amp; chứng minh lại các cận trên (Elu, Esu, EGTWU), giữ tính chất đóng xuống (DCP).</a:t>
            </a:r>
            <a:endParaRPr lang="en-US" sz="1200" dirty="0"/>
          </a:p>
        </p:txBody>
      </p:sp>
      <p:sp>
        <p:nvSpPr>
          <p:cNvPr id="19" name="Shape 17"/>
          <p:cNvSpPr/>
          <p:nvPr/>
        </p:nvSpPr>
        <p:spPr>
          <a:xfrm>
            <a:off x="6200775" y="3864611"/>
            <a:ext cx="5175250" cy="1974215"/>
          </a:xfrm>
          <a:prstGeom prst="roundRect">
            <a:avLst>
              <a:gd name="adj" fmla="val 4986"/>
            </a:avLst>
          </a:prstGeom>
          <a:solidFill>
            <a:srgbClr val="FFFFFF"/>
          </a:solidFill>
          <a:ln w="6350">
            <a:solidFill>
              <a:srgbClr val="E3DDD0"/>
            </a:solidFill>
            <a:prstDash val="solid"/>
          </a:ln>
        </p:spPr>
      </p:sp>
      <p:sp>
        <p:nvSpPr>
          <p:cNvPr id="20" name="Shape 18"/>
          <p:cNvSpPr/>
          <p:nvPr/>
        </p:nvSpPr>
        <p:spPr>
          <a:xfrm>
            <a:off x="6456680" y="4120516"/>
            <a:ext cx="355600" cy="355600"/>
          </a:xfrm>
          <a:prstGeom prst="roundRect">
            <a:avLst>
              <a:gd name="adj" fmla="val 50000"/>
            </a:avLst>
          </a:prstGeom>
          <a:solidFill>
            <a:srgbClr val="B8863B"/>
          </a:solidFill>
          <a:ln/>
        </p:spPr>
      </p:sp>
      <p:sp>
        <p:nvSpPr>
          <p:cNvPr id="21" name="Text 19"/>
          <p:cNvSpPr/>
          <p:nvPr/>
        </p:nvSpPr>
        <p:spPr>
          <a:xfrm>
            <a:off x="6581140" y="4173855"/>
            <a:ext cx="15748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FFFF"/>
                </a:solidFill>
                <a:latin typeface="IBM Plex Sans" pitchFamily="34" charset="0"/>
                <a:ea typeface="IBM Plex Sans" pitchFamily="34" charset="-122"/>
                <a:cs typeface="IBM Plex Sans" pitchFamily="34" charset="-120"/>
              </a:rPr>
              <a:t>4</a:t>
            </a:r>
            <a:endParaRPr lang="en-US" sz="1400" dirty="0"/>
          </a:p>
        </p:txBody>
      </p:sp>
      <p:sp>
        <p:nvSpPr>
          <p:cNvPr id="22" name="Text 20"/>
          <p:cNvSpPr/>
          <p:nvPr/>
        </p:nvSpPr>
        <p:spPr>
          <a:xfrm>
            <a:off x="6456680" y="4577716"/>
            <a:ext cx="480334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C2733"/>
                </a:solidFill>
                <a:latin typeface="IBM Plex Sans" pitchFamily="34" charset="0"/>
                <a:ea typeface="IBM Plex Sans" pitchFamily="34" charset="-122"/>
                <a:cs typeface="IBM Plex Sans" pitchFamily="34" charset="-120"/>
              </a:rPr>
              <a:t>Thực nghiệm &amp; đánh giá</a:t>
            </a:r>
            <a:endParaRPr lang="en-US" sz="1500" dirty="0"/>
          </a:p>
        </p:txBody>
      </p:sp>
      <p:sp>
        <p:nvSpPr>
          <p:cNvPr id="23" name="Text 21"/>
          <p:cNvSpPr/>
          <p:nvPr/>
        </p:nvSpPr>
        <p:spPr>
          <a:xfrm>
            <a:off x="6456680" y="4907916"/>
            <a:ext cx="480334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Cài đặt U-TK-MLHUI, so sánh baseline theo 4 tiêu chí: thời gian, bộ nhớ, candidates, scanned lists.</a:t>
            </a:r>
            <a:endParaRPr lang="en-US" sz="1200" dirty="0"/>
          </a:p>
        </p:txBody>
      </p:sp>
      <p:sp>
        <p:nvSpPr>
          <p:cNvPr id="24" name="Text 22"/>
          <p:cNvSpPr/>
          <p:nvPr/>
        </p:nvSpPr>
        <p:spPr>
          <a:xfrm>
            <a:off x="812800" y="6238241"/>
            <a:ext cx="45545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199"/>
                </a:solidFill>
                <a:latin typeface="IBM Plex Sans" pitchFamily="34" charset="0"/>
                <a:ea typeface="IBM Plex Sans" pitchFamily="34" charset="-122"/>
                <a:cs typeface="IBM Plex Sans" pitchFamily="34" charset="-120"/>
              </a:rPr>
              <a:t>3 / 34</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863B"/>
                </a:solidFill>
                <a:latin typeface="IBM Plex Sans" pitchFamily="34" charset="0"/>
                <a:ea typeface="IBM Plex Sans" pitchFamily="34" charset="-122"/>
                <a:cs typeface="IBM Plex Sans" pitchFamily="34" charset="-120"/>
              </a:rPr>
              <a:t>NỀN TẢNG KẾ THỪA</a:t>
            </a:r>
            <a:endParaRPr lang="en-US" sz="1200" dirty="0"/>
          </a:p>
        </p:txBody>
      </p:sp>
      <p:sp>
        <p:nvSpPr>
          <p:cNvPr id="3" name="Text 1"/>
          <p:cNvSpPr/>
          <p:nvPr/>
        </p:nvSpPr>
        <p:spPr>
          <a:xfrm>
            <a:off x="812800" y="1076961"/>
            <a:ext cx="10883392" cy="34671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C2733"/>
                </a:solidFill>
                <a:latin typeface="EB Garamond" pitchFamily="34" charset="0"/>
                <a:ea typeface="EB Garamond" pitchFamily="34" charset="-122"/>
                <a:cs typeface="EB Garamond" pitchFamily="34" charset="-120"/>
              </a:rPr>
              <a:t>Bài toán gốc: TK-MLHUI</a:t>
            </a:r>
            <a:endParaRPr lang="en-US" sz="2200" dirty="0"/>
          </a:p>
        </p:txBody>
      </p:sp>
      <p:sp>
        <p:nvSpPr>
          <p:cNvPr id="4" name="Shape 2"/>
          <p:cNvSpPr/>
          <p:nvPr/>
        </p:nvSpPr>
        <p:spPr>
          <a:xfrm>
            <a:off x="812800" y="1525270"/>
            <a:ext cx="10566400" cy="690880"/>
          </a:xfrm>
          <a:prstGeom prst="roundRect">
            <a:avLst>
              <a:gd name="adj" fmla="val 12868"/>
            </a:avLst>
          </a:prstGeom>
          <a:solidFill>
            <a:srgbClr val="1C2733"/>
          </a:solidFill>
          <a:ln/>
        </p:spPr>
      </p:sp>
      <p:sp>
        <p:nvSpPr>
          <p:cNvPr id="5" name="Text 3"/>
          <p:cNvSpPr/>
          <p:nvPr/>
        </p:nvSpPr>
        <p:spPr>
          <a:xfrm>
            <a:off x="990600" y="1639570"/>
            <a:ext cx="10517124"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AF9F5"/>
                </a:solidFill>
                <a:latin typeface="IBM Plex Sans" pitchFamily="34" charset="0"/>
                <a:ea typeface="IBM Plex Sans" pitchFamily="34" charset="-122"/>
                <a:cs typeface="IBM Plex Sans" pitchFamily="34" charset="-120"/>
              </a:rPr>
              <a:t>Giải bài toán Top-k Multi-Level HUIM trên dữ liệu </a:t>
            </a:r>
            <a:r>
              <a:rPr lang="en-US" sz="1300" b="1" dirty="0">
                <a:solidFill>
                  <a:srgbClr val="FAF9F5"/>
                </a:solidFill>
                <a:latin typeface="IBM Plex Sans" pitchFamily="34" charset="0"/>
                <a:ea typeface="IBM Plex Sans" pitchFamily="34" charset="-122"/>
                <a:cs typeface="IBM Plex Sans" pitchFamily="34" charset="-120"/>
              </a:rPr>
              <a:t>CHẮC CHẮN</a:t>
            </a:r>
            <a:r>
              <a:rPr lang="en-US" sz="1300" dirty="0">
                <a:solidFill>
                  <a:srgbClr val="FAF9F5"/>
                </a:solidFill>
                <a:latin typeface="IBM Plex Sans" pitchFamily="34" charset="0"/>
                <a:ea typeface="IBM Plex Sans" pitchFamily="34" charset="-122"/>
                <a:cs typeface="IBM Plex Sans" pitchFamily="34" charset="-120"/>
              </a:rPr>
              <a:t>: tìm k tập mục có utility cao nhất, xét nhiều tầng của một taxonomy </a:t>
            </a:r>
            <a:r>
              <a:rPr lang="en-US" sz="1300" b="1" dirty="0">
                <a:solidFill>
                  <a:srgbClr val="FAF9F5"/>
                </a:solidFill>
                <a:latin typeface="IBM Plex Sans" pitchFamily="34" charset="0"/>
                <a:ea typeface="IBM Plex Sans" pitchFamily="34" charset="-122"/>
                <a:cs typeface="IBM Plex Sans" pitchFamily="34" charset="-120"/>
              </a:rPr>
              <a:t>đơn-cha</a:t>
            </a:r>
            <a:r>
              <a:rPr lang="en-US" sz="1300" dirty="0">
                <a:solidFill>
                  <a:srgbClr val="FAF9F5"/>
                </a:solidFill>
                <a:latin typeface="IBM Plex Sans" pitchFamily="34" charset="0"/>
                <a:ea typeface="IBM Plex Sans" pitchFamily="34" charset="-122"/>
                <a:cs typeface="IBM Plex Sans" pitchFamily="34" charset="-120"/>
              </a:rPr>
              <a:t>.</a:t>
            </a:r>
            <a:endParaRPr lang="en-US" sz="1300" dirty="0"/>
          </a:p>
        </p:txBody>
      </p:sp>
      <p:sp>
        <p:nvSpPr>
          <p:cNvPr id="6" name="Text 4"/>
          <p:cNvSpPr/>
          <p:nvPr/>
        </p:nvSpPr>
        <p:spPr>
          <a:xfrm>
            <a:off x="812800" y="234315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8A9199"/>
                </a:solidFill>
                <a:latin typeface="IBM Plex Sans" pitchFamily="34" charset="0"/>
                <a:ea typeface="IBM Plex Sans" pitchFamily="34" charset="-122"/>
                <a:cs typeface="IBM Plex Sans" pitchFamily="34" charset="-120"/>
              </a:rPr>
              <a:t>4 CHIẾN LƯỢC CHÍNH (4 slide sau sẽ minh họa từng cái bằng số liệu thật)</a:t>
            </a:r>
            <a:endParaRPr lang="en-US" sz="1200" dirty="0"/>
          </a:p>
        </p:txBody>
      </p:sp>
      <p:sp>
        <p:nvSpPr>
          <p:cNvPr id="7" name="Shape 5"/>
          <p:cNvSpPr/>
          <p:nvPr/>
        </p:nvSpPr>
        <p:spPr>
          <a:xfrm>
            <a:off x="815975" y="2686686"/>
            <a:ext cx="5232400" cy="473710"/>
          </a:xfrm>
          <a:prstGeom prst="roundRect">
            <a:avLst>
              <a:gd name="adj" fmla="val 12735"/>
            </a:avLst>
          </a:prstGeom>
          <a:solidFill>
            <a:srgbClr val="FFFFFF"/>
          </a:solidFill>
          <a:ln w="6350">
            <a:solidFill>
              <a:srgbClr val="E3DDD0"/>
            </a:solidFill>
            <a:prstDash val="solid"/>
          </a:ln>
        </p:spPr>
      </p:sp>
      <p:sp>
        <p:nvSpPr>
          <p:cNvPr id="8" name="Shape 6"/>
          <p:cNvSpPr/>
          <p:nvPr/>
        </p:nvSpPr>
        <p:spPr>
          <a:xfrm>
            <a:off x="970280" y="2815591"/>
            <a:ext cx="215900" cy="215900"/>
          </a:xfrm>
          <a:prstGeom prst="roundRect">
            <a:avLst>
              <a:gd name="adj" fmla="val 50000"/>
            </a:avLst>
          </a:prstGeom>
          <a:solidFill>
            <a:srgbClr val="B8863B"/>
          </a:solidFill>
          <a:ln/>
        </p:spPr>
      </p:sp>
      <p:sp>
        <p:nvSpPr>
          <p:cNvPr id="9" name="Text 7"/>
          <p:cNvSpPr/>
          <p:nvPr/>
        </p:nvSpPr>
        <p:spPr>
          <a:xfrm>
            <a:off x="1040130" y="2834641"/>
            <a:ext cx="127000" cy="203200"/>
          </a:xfrm>
          <a:prstGeom prst="rect">
            <a:avLst/>
          </a:prstGeom>
          <a:noFill/>
          <a:ln/>
        </p:spPr>
        <p:txBody>
          <a:bodyPr wrap="square" lIns="0" tIns="0" rIns="0" bIns="0" rtlCol="0" anchor="t">
            <a:normAutofit/>
          </a:bodyPr>
          <a:lstStyle/>
          <a:p>
            <a:pPr algn="l" indent="0" marL="0">
              <a:lnSpc>
                <a:spcPts val="1400"/>
              </a:lnSpc>
              <a:buNone/>
            </a:pPr>
            <a:r>
              <a:rPr lang="en-US" sz="1000" b="1" dirty="0">
                <a:solidFill>
                  <a:srgbClr val="FFFFFF"/>
                </a:solidFill>
                <a:latin typeface="IBM Plex Sans" pitchFamily="34" charset="0"/>
                <a:ea typeface="IBM Plex Sans" pitchFamily="34" charset="-122"/>
                <a:cs typeface="IBM Plex Sans" pitchFamily="34" charset="-120"/>
              </a:rPr>
              <a:t>1</a:t>
            </a:r>
            <a:endParaRPr lang="en-US" sz="1000" dirty="0"/>
          </a:p>
        </p:txBody>
      </p:sp>
      <p:sp>
        <p:nvSpPr>
          <p:cNvPr id="10" name="Text 8"/>
          <p:cNvSpPr/>
          <p:nvPr/>
        </p:nvSpPr>
        <p:spPr>
          <a:xfrm>
            <a:off x="1275080" y="2815591"/>
            <a:ext cx="4043337" cy="231775"/>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1C2733"/>
                </a:solidFill>
                <a:latin typeface="IBM Plex Sans" pitchFamily="34" charset="0"/>
                <a:ea typeface="IBM Plex Sans" pitchFamily="34" charset="-122"/>
                <a:cs typeface="IBM Plex Sans" pitchFamily="34" charset="-120"/>
              </a:rPr>
              <a:t>Sắp xếp </a:t>
            </a:r>
            <a:r>
              <a:rPr lang="en-US" sz="1250" b="1" dirty="0">
                <a:solidFill>
                  <a:srgbClr val="1C2733"/>
                </a:solidFill>
                <a:latin typeface="IBM Plex Sans" pitchFamily="34" charset="0"/>
                <a:ea typeface="IBM Plex Sans" pitchFamily="34" charset="-122"/>
                <a:cs typeface="IBM Plex Sans" pitchFamily="34" charset="-120"/>
              </a:rPr>
              <a:t>ưu tiên khoản mục cấp cao</a:t>
            </a:r>
            <a:r>
              <a:rPr lang="en-US" sz="1250" dirty="0">
                <a:solidFill>
                  <a:srgbClr val="1C2733"/>
                </a:solidFill>
                <a:latin typeface="IBM Plex Sans" pitchFamily="34" charset="0"/>
                <a:ea typeface="IBM Plex Sans" pitchFamily="34" charset="-122"/>
                <a:cs typeface="IBM Plex Sans" pitchFamily="34" charset="-120"/>
              </a:rPr>
              <a:t> trước khi khai thác</a:t>
            </a:r>
            <a:endParaRPr lang="en-US" sz="1250" dirty="0"/>
          </a:p>
        </p:txBody>
      </p:sp>
      <p:sp>
        <p:nvSpPr>
          <p:cNvPr id="11" name="Shape 9"/>
          <p:cNvSpPr/>
          <p:nvPr/>
        </p:nvSpPr>
        <p:spPr>
          <a:xfrm>
            <a:off x="6143625" y="2686686"/>
            <a:ext cx="5232400" cy="473710"/>
          </a:xfrm>
          <a:prstGeom prst="roundRect">
            <a:avLst>
              <a:gd name="adj" fmla="val 12735"/>
            </a:avLst>
          </a:prstGeom>
          <a:solidFill>
            <a:srgbClr val="FFFFFF"/>
          </a:solidFill>
          <a:ln w="6350">
            <a:solidFill>
              <a:srgbClr val="E3DDD0"/>
            </a:solidFill>
            <a:prstDash val="solid"/>
          </a:ln>
        </p:spPr>
      </p:sp>
      <p:sp>
        <p:nvSpPr>
          <p:cNvPr id="12" name="Shape 10"/>
          <p:cNvSpPr/>
          <p:nvPr/>
        </p:nvSpPr>
        <p:spPr>
          <a:xfrm>
            <a:off x="6297930" y="2815591"/>
            <a:ext cx="215900" cy="215900"/>
          </a:xfrm>
          <a:prstGeom prst="roundRect">
            <a:avLst>
              <a:gd name="adj" fmla="val 50000"/>
            </a:avLst>
          </a:prstGeom>
          <a:solidFill>
            <a:srgbClr val="B8863B"/>
          </a:solidFill>
          <a:ln/>
        </p:spPr>
      </p:sp>
      <p:sp>
        <p:nvSpPr>
          <p:cNvPr id="13" name="Text 11"/>
          <p:cNvSpPr/>
          <p:nvPr/>
        </p:nvSpPr>
        <p:spPr>
          <a:xfrm>
            <a:off x="6367780" y="2834641"/>
            <a:ext cx="127000" cy="203200"/>
          </a:xfrm>
          <a:prstGeom prst="rect">
            <a:avLst/>
          </a:prstGeom>
          <a:noFill/>
          <a:ln/>
        </p:spPr>
        <p:txBody>
          <a:bodyPr wrap="square" lIns="0" tIns="0" rIns="0" bIns="0" rtlCol="0" anchor="t">
            <a:normAutofit/>
          </a:bodyPr>
          <a:lstStyle/>
          <a:p>
            <a:pPr algn="l" indent="0" marL="0">
              <a:lnSpc>
                <a:spcPts val="1400"/>
              </a:lnSpc>
              <a:buNone/>
            </a:pPr>
            <a:r>
              <a:rPr lang="en-US" sz="1000" b="1" dirty="0">
                <a:solidFill>
                  <a:srgbClr val="FFFFFF"/>
                </a:solidFill>
                <a:latin typeface="IBM Plex Sans" pitchFamily="34" charset="0"/>
                <a:ea typeface="IBM Plex Sans" pitchFamily="34" charset="-122"/>
                <a:cs typeface="IBM Plex Sans" pitchFamily="34" charset="-120"/>
              </a:rPr>
              <a:t>2</a:t>
            </a:r>
            <a:endParaRPr lang="en-US" sz="1000" dirty="0"/>
          </a:p>
        </p:txBody>
      </p:sp>
      <p:sp>
        <p:nvSpPr>
          <p:cNvPr id="14" name="Text 12"/>
          <p:cNvSpPr/>
          <p:nvPr/>
        </p:nvSpPr>
        <p:spPr>
          <a:xfrm>
            <a:off x="6602730" y="2815591"/>
            <a:ext cx="3164621" cy="231775"/>
          </a:xfrm>
          <a:prstGeom prst="rect">
            <a:avLst/>
          </a:prstGeom>
          <a:noFill/>
          <a:ln/>
        </p:spPr>
        <p:txBody>
          <a:bodyPr wrap="square" lIns="0" tIns="0" rIns="0" bIns="0" rtlCol="0" anchor="t">
            <a:normAutofit/>
          </a:bodyPr>
          <a:lstStyle/>
          <a:p>
            <a:pPr algn="l" indent="0" marL="0">
              <a:lnSpc>
                <a:spcPts val="1625"/>
              </a:lnSpc>
              <a:buNone/>
            </a:pPr>
            <a:r>
              <a:rPr lang="en-US" sz="1250" dirty="0">
                <a:solidFill>
                  <a:srgbClr val="1C2733"/>
                </a:solidFill>
                <a:latin typeface="IBM Plex Sans" pitchFamily="34" charset="0"/>
                <a:ea typeface="IBM Plex Sans" pitchFamily="34" charset="-122"/>
                <a:cs typeface="IBM Plex Sans" pitchFamily="34" charset="-120"/>
              </a:rPr>
              <a:t>2 cận trên: </a:t>
            </a:r>
            <a:r>
              <a:rPr lang="en-US" sz="1250" b="1" dirty="0">
                <a:solidFill>
                  <a:srgbClr val="1C2733"/>
                </a:solidFill>
                <a:latin typeface="IBM Plex Sans" pitchFamily="34" charset="0"/>
                <a:ea typeface="IBM Plex Sans" pitchFamily="34" charset="-122"/>
                <a:cs typeface="IBM Plex Sans" pitchFamily="34" charset="-120"/>
              </a:rPr>
              <a:t>Local Utility</a:t>
            </a:r>
            <a:r>
              <a:rPr lang="en-US" sz="1250" dirty="0">
                <a:solidFill>
                  <a:srgbClr val="1C2733"/>
                </a:solidFill>
                <a:latin typeface="IBM Plex Sans" pitchFamily="34" charset="0"/>
                <a:ea typeface="IBM Plex Sans" pitchFamily="34" charset="-122"/>
                <a:cs typeface="IBM Plex Sans" pitchFamily="34" charset="-120"/>
              </a:rPr>
              <a:t> và </a:t>
            </a:r>
            <a:r>
              <a:rPr lang="en-US" sz="1250" b="1" dirty="0">
                <a:solidFill>
                  <a:srgbClr val="1C2733"/>
                </a:solidFill>
                <a:latin typeface="IBM Plex Sans" pitchFamily="34" charset="0"/>
                <a:ea typeface="IBM Plex Sans" pitchFamily="34" charset="-122"/>
                <a:cs typeface="IBM Plex Sans" pitchFamily="34" charset="-120"/>
              </a:rPr>
              <a:t>Sub-tree Utility</a:t>
            </a:r>
            <a:endParaRPr lang="en-US" sz="1250" dirty="0"/>
          </a:p>
        </p:txBody>
      </p:sp>
      <p:sp>
        <p:nvSpPr>
          <p:cNvPr id="15" name="Shape 13"/>
          <p:cNvSpPr/>
          <p:nvPr/>
        </p:nvSpPr>
        <p:spPr>
          <a:xfrm>
            <a:off x="815975" y="3255645"/>
            <a:ext cx="5232400" cy="473710"/>
          </a:xfrm>
          <a:prstGeom prst="roundRect">
            <a:avLst>
              <a:gd name="adj" fmla="val 12735"/>
            </a:avLst>
          </a:prstGeom>
          <a:solidFill>
            <a:srgbClr val="FFFFFF"/>
          </a:solidFill>
          <a:ln w="6350">
            <a:solidFill>
              <a:srgbClr val="E3DDD0"/>
            </a:solidFill>
            <a:prstDash val="solid"/>
          </a:ln>
        </p:spPr>
      </p:sp>
      <p:sp>
        <p:nvSpPr>
          <p:cNvPr id="16" name="Shape 14"/>
          <p:cNvSpPr/>
          <p:nvPr/>
        </p:nvSpPr>
        <p:spPr>
          <a:xfrm>
            <a:off x="970280" y="3384550"/>
            <a:ext cx="215900" cy="215900"/>
          </a:xfrm>
          <a:prstGeom prst="roundRect">
            <a:avLst>
              <a:gd name="adj" fmla="val 50000"/>
            </a:avLst>
          </a:prstGeom>
          <a:solidFill>
            <a:srgbClr val="B8863B"/>
          </a:solidFill>
          <a:ln/>
        </p:spPr>
      </p:sp>
      <p:sp>
        <p:nvSpPr>
          <p:cNvPr id="17" name="Text 15"/>
          <p:cNvSpPr/>
          <p:nvPr/>
        </p:nvSpPr>
        <p:spPr>
          <a:xfrm>
            <a:off x="1040130" y="3403600"/>
            <a:ext cx="127000" cy="203200"/>
          </a:xfrm>
          <a:prstGeom prst="rect">
            <a:avLst/>
          </a:prstGeom>
          <a:noFill/>
          <a:ln/>
        </p:spPr>
        <p:txBody>
          <a:bodyPr wrap="square" lIns="0" tIns="0" rIns="0" bIns="0" rtlCol="0" anchor="t">
            <a:normAutofit/>
          </a:bodyPr>
          <a:lstStyle/>
          <a:p>
            <a:pPr algn="l" indent="0" marL="0">
              <a:lnSpc>
                <a:spcPts val="1400"/>
              </a:lnSpc>
              <a:buNone/>
            </a:pPr>
            <a:r>
              <a:rPr lang="en-US" sz="1000" b="1" dirty="0">
                <a:solidFill>
                  <a:srgbClr val="FFFFFF"/>
                </a:solidFill>
                <a:latin typeface="IBM Plex Sans" pitchFamily="34" charset="0"/>
                <a:ea typeface="IBM Plex Sans" pitchFamily="34" charset="-122"/>
                <a:cs typeface="IBM Plex Sans" pitchFamily="34" charset="-120"/>
              </a:rPr>
              <a:t>3</a:t>
            </a:r>
            <a:endParaRPr lang="en-US" sz="1000" dirty="0"/>
          </a:p>
        </p:txBody>
      </p:sp>
      <p:sp>
        <p:nvSpPr>
          <p:cNvPr id="18" name="Text 16"/>
          <p:cNvSpPr/>
          <p:nvPr/>
        </p:nvSpPr>
        <p:spPr>
          <a:xfrm>
            <a:off x="1275080" y="3384550"/>
            <a:ext cx="4465853" cy="231775"/>
          </a:xfrm>
          <a:prstGeom prst="rect">
            <a:avLst/>
          </a:prstGeom>
          <a:noFill/>
          <a:ln/>
        </p:spPr>
        <p:txBody>
          <a:bodyPr wrap="square" lIns="0" tIns="0" rIns="0" bIns="0" rtlCol="0" anchor="t">
            <a:normAutofit/>
          </a:bodyPr>
          <a:lstStyle/>
          <a:p>
            <a:pPr algn="l" indent="0" marL="0">
              <a:lnSpc>
                <a:spcPts val="1625"/>
              </a:lnSpc>
              <a:buNone/>
            </a:pPr>
            <a:r>
              <a:rPr lang="en-US" sz="1250" b="1" dirty="0">
                <a:solidFill>
                  <a:srgbClr val="1C2733"/>
                </a:solidFill>
                <a:latin typeface="IBM Plex Sans" pitchFamily="34" charset="0"/>
                <a:ea typeface="IBM Plex Sans" pitchFamily="34" charset="-122"/>
                <a:cs typeface="IBM Plex Sans" pitchFamily="34" charset="-120"/>
              </a:rPr>
              <a:t>Gộp danh sách giao dịch</a:t>
            </a:r>
            <a:r>
              <a:rPr lang="en-US" sz="1250" dirty="0">
                <a:solidFill>
                  <a:srgbClr val="1C2733"/>
                </a:solidFill>
                <a:latin typeface="IBM Plex Sans" pitchFamily="34" charset="0"/>
                <a:ea typeface="IBM Plex Sans" pitchFamily="34" charset="-122"/>
                <a:cs typeface="IBM Plex Sans" pitchFamily="34" charset="-120"/>
              </a:rPr>
              <a:t> (merge item lists), giảm số lần quét</a:t>
            </a:r>
            <a:endParaRPr lang="en-US" sz="1250" dirty="0"/>
          </a:p>
        </p:txBody>
      </p:sp>
      <p:sp>
        <p:nvSpPr>
          <p:cNvPr id="19" name="Shape 17"/>
          <p:cNvSpPr/>
          <p:nvPr/>
        </p:nvSpPr>
        <p:spPr>
          <a:xfrm>
            <a:off x="6143625" y="3255645"/>
            <a:ext cx="5232400" cy="473710"/>
          </a:xfrm>
          <a:prstGeom prst="roundRect">
            <a:avLst>
              <a:gd name="adj" fmla="val 12735"/>
            </a:avLst>
          </a:prstGeom>
          <a:solidFill>
            <a:srgbClr val="FFFFFF"/>
          </a:solidFill>
          <a:ln w="6350">
            <a:solidFill>
              <a:srgbClr val="E3DDD0"/>
            </a:solidFill>
            <a:prstDash val="solid"/>
          </a:ln>
        </p:spPr>
      </p:sp>
      <p:sp>
        <p:nvSpPr>
          <p:cNvPr id="20" name="Shape 18"/>
          <p:cNvSpPr/>
          <p:nvPr/>
        </p:nvSpPr>
        <p:spPr>
          <a:xfrm>
            <a:off x="6297930" y="3384550"/>
            <a:ext cx="215900" cy="215900"/>
          </a:xfrm>
          <a:prstGeom prst="roundRect">
            <a:avLst>
              <a:gd name="adj" fmla="val 50000"/>
            </a:avLst>
          </a:prstGeom>
          <a:solidFill>
            <a:srgbClr val="B8863B"/>
          </a:solidFill>
          <a:ln/>
        </p:spPr>
      </p:sp>
      <p:sp>
        <p:nvSpPr>
          <p:cNvPr id="21" name="Text 19"/>
          <p:cNvSpPr/>
          <p:nvPr/>
        </p:nvSpPr>
        <p:spPr>
          <a:xfrm>
            <a:off x="6367780" y="3403600"/>
            <a:ext cx="127000" cy="203200"/>
          </a:xfrm>
          <a:prstGeom prst="rect">
            <a:avLst/>
          </a:prstGeom>
          <a:noFill/>
          <a:ln/>
        </p:spPr>
        <p:txBody>
          <a:bodyPr wrap="square" lIns="0" tIns="0" rIns="0" bIns="0" rtlCol="0" anchor="t">
            <a:normAutofit/>
          </a:bodyPr>
          <a:lstStyle/>
          <a:p>
            <a:pPr algn="l" indent="0" marL="0">
              <a:lnSpc>
                <a:spcPts val="1400"/>
              </a:lnSpc>
              <a:buNone/>
            </a:pPr>
            <a:r>
              <a:rPr lang="en-US" sz="1000" b="1" dirty="0">
                <a:solidFill>
                  <a:srgbClr val="FFFFFF"/>
                </a:solidFill>
                <a:latin typeface="IBM Plex Sans" pitchFamily="34" charset="0"/>
                <a:ea typeface="IBM Plex Sans" pitchFamily="34" charset="-122"/>
                <a:cs typeface="IBM Plex Sans" pitchFamily="34" charset="-120"/>
              </a:rPr>
              <a:t>4</a:t>
            </a:r>
            <a:endParaRPr lang="en-US" sz="1000" dirty="0"/>
          </a:p>
        </p:txBody>
      </p:sp>
      <p:sp>
        <p:nvSpPr>
          <p:cNvPr id="22" name="Text 20"/>
          <p:cNvSpPr/>
          <p:nvPr/>
        </p:nvSpPr>
        <p:spPr>
          <a:xfrm>
            <a:off x="6602730" y="3384550"/>
            <a:ext cx="3737242" cy="231775"/>
          </a:xfrm>
          <a:prstGeom prst="rect">
            <a:avLst/>
          </a:prstGeom>
          <a:noFill/>
          <a:ln/>
        </p:spPr>
        <p:txBody>
          <a:bodyPr wrap="square" lIns="0" tIns="0" rIns="0" bIns="0" rtlCol="0" anchor="t">
            <a:normAutofit/>
          </a:bodyPr>
          <a:lstStyle/>
          <a:p>
            <a:pPr algn="l" indent="0" marL="0">
              <a:lnSpc>
                <a:spcPts val="1625"/>
              </a:lnSpc>
              <a:buNone/>
            </a:pPr>
            <a:r>
              <a:rPr lang="en-US" sz="1250" b="1" dirty="0">
                <a:solidFill>
                  <a:srgbClr val="1C2733"/>
                </a:solidFill>
                <a:latin typeface="IBM Plex Sans" pitchFamily="34" charset="0"/>
                <a:ea typeface="IBM Plex Sans" pitchFamily="34" charset="-122"/>
                <a:cs typeface="IBM Plex Sans" pitchFamily="34" charset="-120"/>
              </a:rPr>
              <a:t>Nâng ngưỡng minU</a:t>
            </a:r>
            <a:r>
              <a:rPr lang="en-US" sz="1250" dirty="0">
                <a:solidFill>
                  <a:srgbClr val="1C2733"/>
                </a:solidFill>
                <a:latin typeface="IBM Plex Sans" pitchFamily="34" charset="0"/>
                <a:ea typeface="IBM Plex Sans" pitchFamily="34" charset="-122"/>
                <a:cs typeface="IBM Plex Sans" pitchFamily="34" charset="-120"/>
              </a:rPr>
              <a:t> từ ích lợi danh sách khoản mục</a:t>
            </a:r>
            <a:endParaRPr lang="en-US" sz="1250" dirty="0"/>
          </a:p>
        </p:txBody>
      </p:sp>
      <p:sp>
        <p:nvSpPr>
          <p:cNvPr id="23" name="Shape 21"/>
          <p:cNvSpPr/>
          <p:nvPr/>
        </p:nvSpPr>
        <p:spPr>
          <a:xfrm>
            <a:off x="812800" y="3859530"/>
            <a:ext cx="10566400" cy="797560"/>
          </a:xfrm>
          <a:prstGeom prst="roundRect">
            <a:avLst>
              <a:gd name="adj" fmla="val 7962"/>
            </a:avLst>
          </a:prstGeom>
          <a:solidFill>
            <a:srgbClr val="F0EDE5"/>
          </a:solidFill>
          <a:ln/>
        </p:spPr>
      </p:sp>
      <p:sp>
        <p:nvSpPr>
          <p:cNvPr id="24" name="Text 22"/>
          <p:cNvSpPr/>
          <p:nvPr/>
        </p:nvSpPr>
        <p:spPr>
          <a:xfrm>
            <a:off x="965200" y="3948430"/>
            <a:ext cx="10569448"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568"/>
                </a:solidFill>
                <a:latin typeface="IBM Plex Sans" pitchFamily="34" charset="0"/>
                <a:ea typeface="IBM Plex Sans" pitchFamily="34" charset="-122"/>
                <a:cs typeface="IBM Plex Sans" pitchFamily="34" charset="-120"/>
              </a:rPr>
              <a:t>[1] T.M. Lê và cộng sự, "Extracting Top-k High Utility Patterns from Multi-level Transaction Databases", ACIIDS 2023 — </a:t>
            </a:r>
            <a:r>
              <a:rPr lang="en-US" sz="1200" i="1" dirty="0">
                <a:solidFill>
                  <a:srgbClr val="4A5568"/>
                </a:solidFill>
                <a:latin typeface="IBM Plex Sans" pitchFamily="34" charset="0"/>
                <a:ea typeface="IBM Plex Sans" pitchFamily="34" charset="-122"/>
                <a:cs typeface="IBM Plex Sans" pitchFamily="34" charset="-120"/>
              </a:rPr>
              <a:t>mlTKO</a:t>
            </a:r>
            <a:endParaRPr lang="en-US" sz="1200" dirty="0"/>
          </a:p>
        </p:txBody>
      </p:sp>
      <p:sp>
        <p:nvSpPr>
          <p:cNvPr id="25" name="Text 23"/>
          <p:cNvSpPr/>
          <p:nvPr/>
        </p:nvSpPr>
        <p:spPr>
          <a:xfrm>
            <a:off x="965200" y="4171950"/>
            <a:ext cx="10569448"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568"/>
                </a:solidFill>
                <a:latin typeface="IBM Plex Sans" pitchFamily="34" charset="0"/>
                <a:ea typeface="IBM Plex Sans" pitchFamily="34" charset="-122"/>
                <a:cs typeface="IBM Plex Sans" pitchFamily="34" charset="-120"/>
              </a:rPr>
              <a:t>[2] L.T.T. Nguyễn, N.T. Tùng, B. Võ, "An efficient method for mining top-k multi-level high utility itemsets", Knowledge-Based Systems 316 (2025) — </a:t>
            </a:r>
            <a:r>
              <a:rPr lang="en-US" sz="1200" i="1" dirty="0">
                <a:solidFill>
                  <a:srgbClr val="4A5568"/>
                </a:solidFill>
                <a:latin typeface="IBM Plex Sans" pitchFamily="34" charset="0"/>
                <a:ea typeface="IBM Plex Sans" pitchFamily="34" charset="-122"/>
                <a:cs typeface="IBM Plex Sans" pitchFamily="34" charset="-120"/>
              </a:rPr>
              <a:t>TK-MLHUI</a:t>
            </a:r>
            <a:endParaRPr lang="en-US" sz="1200" dirty="0"/>
          </a:p>
        </p:txBody>
      </p:sp>
      <p:sp>
        <p:nvSpPr>
          <p:cNvPr id="26" name="Text 24"/>
          <p:cNvSpPr/>
          <p:nvPr/>
        </p:nvSpPr>
        <p:spPr>
          <a:xfrm>
            <a:off x="812800" y="6238239"/>
            <a:ext cx="45545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199"/>
                </a:solidFill>
                <a:latin typeface="IBM Plex Sans" pitchFamily="34" charset="0"/>
                <a:ea typeface="IBM Plex Sans" pitchFamily="34" charset="-122"/>
                <a:cs typeface="IBM Plex Sans" pitchFamily="34" charset="-120"/>
              </a:rPr>
              <a:t>4 / 34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863B"/>
                </a:solidFill>
                <a:latin typeface="IBM Plex Sans" pitchFamily="34" charset="0"/>
                <a:ea typeface="IBM Plex Sans" pitchFamily="34" charset="-122"/>
                <a:cs typeface="IBM Plex Sans" pitchFamily="34" charset="-120"/>
              </a:rPr>
              <a:t>NỀN TẢNG KẾ THỪA</a:t>
            </a:r>
            <a:endParaRPr lang="en-US" sz="1200" dirty="0"/>
          </a:p>
        </p:txBody>
      </p:sp>
      <p:sp>
        <p:nvSpPr>
          <p:cNvPr id="3" name="Text 1"/>
          <p:cNvSpPr/>
          <p:nvPr/>
        </p:nvSpPr>
        <p:spPr>
          <a:xfrm>
            <a:off x="812800" y="1076961"/>
            <a:ext cx="10883392" cy="34671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C2733"/>
                </a:solidFill>
                <a:latin typeface="EB Garamond" pitchFamily="34" charset="0"/>
                <a:ea typeface="EB Garamond" pitchFamily="34" charset="-122"/>
                <a:cs typeface="EB Garamond" pitchFamily="34" charset="-120"/>
              </a:rPr>
              <a:t>Nhìn toàn cảnh: Dữ liệu → Taxonomy → Top-k</a:t>
            </a:r>
            <a:endParaRPr lang="en-US" sz="2200" dirty="0"/>
          </a:p>
        </p:txBody>
      </p:sp>
      <p:sp>
        <p:nvSpPr>
          <p:cNvPr id="4" name="Shape 2"/>
          <p:cNvSpPr/>
          <p:nvPr/>
        </p:nvSpPr>
        <p:spPr>
          <a:xfrm>
            <a:off x="5858510" y="1512571"/>
            <a:ext cx="474901" cy="314960"/>
          </a:xfrm>
          <a:prstGeom prst="roundRect">
            <a:avLst>
              <a:gd name="adj" fmla="val 20161"/>
            </a:avLst>
          </a:prstGeom>
          <a:solidFill>
            <a:srgbClr val="1C2733"/>
          </a:solidFill>
          <a:ln/>
        </p:spPr>
      </p:sp>
      <p:sp>
        <p:nvSpPr>
          <p:cNvPr id="5" name="Text 3"/>
          <p:cNvSpPr/>
          <p:nvPr/>
        </p:nvSpPr>
        <p:spPr>
          <a:xfrm>
            <a:off x="6023610" y="1563371"/>
            <a:ext cx="19550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AF9F5"/>
                </a:solidFill>
                <a:latin typeface="IBM Plex Sans" pitchFamily="34" charset="0"/>
                <a:ea typeface="IBM Plex Sans" pitchFamily="34" charset="-122"/>
                <a:cs typeface="IBM Plex Sans" pitchFamily="34" charset="-120"/>
              </a:rPr>
              <a:t>W</a:t>
            </a:r>
            <a:endParaRPr lang="en-US" sz="1200" dirty="0"/>
          </a:p>
        </p:txBody>
      </p:sp>
      <p:pic>
        <p:nvPicPr>
          <p:cNvPr id="6" name="Image 0" descr="arrow-up">    </p:cNvPr>
          <p:cNvPicPr>
            <a:picLocks noChangeAspect="1"/>
          </p:cNvPicPr>
          <p:nvPr/>
        </p:nvPicPr>
        <p:blipFill>
          <a:blip r:embed="rId1"/>
          <a:srcRect l="0" r="0" t="0" b="0"/>
          <a:stretch/>
        </p:blipFill>
        <p:spPr>
          <a:xfrm>
            <a:off x="6038850" y="1878332"/>
            <a:ext cx="114300" cy="101600"/>
          </a:xfrm>
          <a:prstGeom prst="rect">
            <a:avLst/>
          </a:prstGeom>
        </p:spPr>
      </p:pic>
      <p:sp>
        <p:nvSpPr>
          <p:cNvPr id="7" name="Shape 4"/>
          <p:cNvSpPr/>
          <p:nvPr/>
        </p:nvSpPr>
        <p:spPr>
          <a:xfrm>
            <a:off x="5199301" y="2033907"/>
            <a:ext cx="351473" cy="284480"/>
          </a:xfrm>
          <a:prstGeom prst="roundRect">
            <a:avLst>
              <a:gd name="adj" fmla="val 16741"/>
            </a:avLst>
          </a:prstGeom>
          <a:solidFill>
            <a:srgbClr val="FFFFFF"/>
          </a:solidFill>
          <a:ln w="6350">
            <a:solidFill>
              <a:srgbClr val="E3DDD0"/>
            </a:solidFill>
            <a:prstDash val="solid"/>
          </a:ln>
        </p:spPr>
      </p:sp>
      <p:sp>
        <p:nvSpPr>
          <p:cNvPr id="8" name="Text 5"/>
          <p:cNvSpPr/>
          <p:nvPr/>
        </p:nvSpPr>
        <p:spPr>
          <a:xfrm>
            <a:off x="5328206" y="2073911"/>
            <a:ext cx="144463" cy="229870"/>
          </a:xfrm>
          <a:prstGeom prst="rect">
            <a:avLst/>
          </a:prstGeom>
          <a:noFill/>
          <a:ln/>
        </p:spPr>
        <p:txBody>
          <a:bodyPr wrap="square" lIns="0" tIns="0" rIns="0" bIns="0" rtlCol="0" anchor="t">
            <a:normAutofit/>
          </a:bodyPr>
          <a:lstStyle/>
          <a:p>
            <a:pPr algn="l" indent="0" marL="0">
              <a:lnSpc>
                <a:spcPts val="1610"/>
              </a:lnSpc>
              <a:buNone/>
            </a:pPr>
            <a:r>
              <a:rPr lang="en-US" sz="1150" b="1" dirty="0">
                <a:solidFill>
                  <a:srgbClr val="1C2733"/>
                </a:solidFill>
                <a:latin typeface="IBM Plex Sans" pitchFamily="34" charset="0"/>
                <a:ea typeface="IBM Plex Sans" pitchFamily="34" charset="-122"/>
                <a:cs typeface="IBM Plex Sans" pitchFamily="34" charset="-120"/>
              </a:rPr>
              <a:t>P</a:t>
            </a:r>
            <a:endParaRPr lang="en-US" sz="1150" dirty="0"/>
          </a:p>
        </p:txBody>
      </p:sp>
      <p:pic>
        <p:nvPicPr>
          <p:cNvPr id="9" name="Image 1" descr="arrow-up">    </p:cNvPr>
          <p:cNvPicPr>
            <a:picLocks noChangeAspect="1"/>
          </p:cNvPicPr>
          <p:nvPr/>
        </p:nvPicPr>
        <p:blipFill>
          <a:blip r:embed="rId2"/>
          <a:srcRect l="0" r="0" t="0" b="0"/>
          <a:stretch/>
        </p:blipFill>
        <p:spPr>
          <a:xfrm>
            <a:off x="5330587" y="2359661"/>
            <a:ext cx="88900" cy="76200"/>
          </a:xfrm>
          <a:prstGeom prst="rect">
            <a:avLst/>
          </a:prstGeom>
        </p:spPr>
      </p:pic>
      <p:sp>
        <p:nvSpPr>
          <p:cNvPr id="10" name="Shape 6"/>
          <p:cNvSpPr/>
          <p:nvPr/>
        </p:nvSpPr>
        <p:spPr>
          <a:xfrm>
            <a:off x="5094050" y="2473961"/>
            <a:ext cx="252413" cy="246380"/>
          </a:xfrm>
          <a:prstGeom prst="roundRect">
            <a:avLst>
              <a:gd name="adj" fmla="val 15464"/>
            </a:avLst>
          </a:prstGeom>
          <a:solidFill>
            <a:srgbClr val="F0EDE5"/>
          </a:solidFill>
          <a:ln/>
        </p:spPr>
      </p:sp>
      <p:sp>
        <p:nvSpPr>
          <p:cNvPr id="11" name="Text 7"/>
          <p:cNvSpPr/>
          <p:nvPr/>
        </p:nvSpPr>
        <p:spPr>
          <a:xfrm>
            <a:off x="5182950" y="2499361"/>
            <a:ext cx="125413"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1C2733"/>
                </a:solidFill>
                <a:latin typeface="IBM Plex Sans" pitchFamily="34" charset="0"/>
                <a:ea typeface="IBM Plex Sans" pitchFamily="34" charset="-122"/>
                <a:cs typeface="IBM Plex Sans" pitchFamily="34" charset="-120"/>
              </a:rPr>
              <a:t>a</a:t>
            </a:r>
            <a:endParaRPr lang="en-US" sz="1100" dirty="0"/>
          </a:p>
        </p:txBody>
      </p:sp>
      <p:sp>
        <p:nvSpPr>
          <p:cNvPr id="12" name="Shape 8"/>
          <p:cNvSpPr/>
          <p:nvPr/>
        </p:nvSpPr>
        <p:spPr>
          <a:xfrm>
            <a:off x="5397262" y="2473961"/>
            <a:ext cx="258842" cy="246380"/>
          </a:xfrm>
          <a:prstGeom prst="roundRect">
            <a:avLst>
              <a:gd name="adj" fmla="val 15464"/>
            </a:avLst>
          </a:prstGeom>
          <a:solidFill>
            <a:srgbClr val="F0EDE5"/>
          </a:solidFill>
          <a:ln/>
        </p:spPr>
      </p:sp>
      <p:sp>
        <p:nvSpPr>
          <p:cNvPr id="13" name="Text 9"/>
          <p:cNvSpPr/>
          <p:nvPr/>
        </p:nvSpPr>
        <p:spPr>
          <a:xfrm>
            <a:off x="5486162" y="2499361"/>
            <a:ext cx="131842"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1C2733"/>
                </a:solidFill>
                <a:latin typeface="IBM Plex Sans" pitchFamily="34" charset="0"/>
                <a:ea typeface="IBM Plex Sans" pitchFamily="34" charset="-122"/>
                <a:cs typeface="IBM Plex Sans" pitchFamily="34" charset="-120"/>
              </a:rPr>
              <a:t>b</a:t>
            </a:r>
            <a:endParaRPr lang="en-US" sz="1100" dirty="0"/>
          </a:p>
        </p:txBody>
      </p:sp>
      <p:sp>
        <p:nvSpPr>
          <p:cNvPr id="14" name="Shape 10"/>
          <p:cNvSpPr/>
          <p:nvPr/>
        </p:nvSpPr>
        <p:spPr>
          <a:xfrm>
            <a:off x="5931853" y="2033907"/>
            <a:ext cx="361871" cy="284480"/>
          </a:xfrm>
          <a:prstGeom prst="roundRect">
            <a:avLst>
              <a:gd name="adj" fmla="val 16741"/>
            </a:avLst>
          </a:prstGeom>
          <a:solidFill>
            <a:srgbClr val="FFFFFF"/>
          </a:solidFill>
          <a:ln w="6350">
            <a:solidFill>
              <a:srgbClr val="E3DDD0"/>
            </a:solidFill>
            <a:prstDash val="solid"/>
          </a:ln>
        </p:spPr>
      </p:sp>
      <p:sp>
        <p:nvSpPr>
          <p:cNvPr id="15" name="Text 11"/>
          <p:cNvSpPr/>
          <p:nvPr/>
        </p:nvSpPr>
        <p:spPr>
          <a:xfrm>
            <a:off x="6060758" y="2073911"/>
            <a:ext cx="154861" cy="229870"/>
          </a:xfrm>
          <a:prstGeom prst="rect">
            <a:avLst/>
          </a:prstGeom>
          <a:noFill/>
          <a:ln/>
        </p:spPr>
        <p:txBody>
          <a:bodyPr wrap="square" lIns="0" tIns="0" rIns="0" bIns="0" rtlCol="0" anchor="t">
            <a:normAutofit/>
          </a:bodyPr>
          <a:lstStyle/>
          <a:p>
            <a:pPr algn="l" indent="0" marL="0">
              <a:lnSpc>
                <a:spcPts val="1610"/>
              </a:lnSpc>
              <a:buNone/>
            </a:pPr>
            <a:r>
              <a:rPr lang="en-US" sz="1150" b="1" dirty="0">
                <a:solidFill>
                  <a:srgbClr val="1C2733"/>
                </a:solidFill>
                <a:latin typeface="IBM Plex Sans" pitchFamily="34" charset="0"/>
                <a:ea typeface="IBM Plex Sans" pitchFamily="34" charset="-122"/>
                <a:cs typeface="IBM Plex Sans" pitchFamily="34" charset="-120"/>
              </a:rPr>
              <a:t>Q</a:t>
            </a:r>
            <a:endParaRPr lang="en-US" sz="1150" dirty="0"/>
          </a:p>
        </p:txBody>
      </p:sp>
      <p:pic>
        <p:nvPicPr>
          <p:cNvPr id="16" name="Image 2" descr="arrow-up">    </p:cNvPr>
          <p:cNvPicPr>
            <a:picLocks noChangeAspect="1"/>
          </p:cNvPicPr>
          <p:nvPr/>
        </p:nvPicPr>
        <p:blipFill>
          <a:blip r:embed="rId3"/>
          <a:srcRect l="0" r="0" t="0" b="0"/>
          <a:stretch/>
        </p:blipFill>
        <p:spPr>
          <a:xfrm>
            <a:off x="6068298" y="2359661"/>
            <a:ext cx="88900" cy="76200"/>
          </a:xfrm>
          <a:prstGeom prst="rect">
            <a:avLst/>
          </a:prstGeom>
        </p:spPr>
      </p:pic>
      <p:sp>
        <p:nvSpPr>
          <p:cNvPr id="17" name="Shape 12"/>
          <p:cNvSpPr/>
          <p:nvPr/>
        </p:nvSpPr>
        <p:spPr>
          <a:xfrm>
            <a:off x="5833904" y="2473961"/>
            <a:ext cx="248126" cy="246380"/>
          </a:xfrm>
          <a:prstGeom prst="roundRect">
            <a:avLst>
              <a:gd name="adj" fmla="val 15464"/>
            </a:avLst>
          </a:prstGeom>
          <a:solidFill>
            <a:srgbClr val="F0EDE5"/>
          </a:solidFill>
          <a:ln/>
        </p:spPr>
      </p:sp>
      <p:sp>
        <p:nvSpPr>
          <p:cNvPr id="18" name="Text 13"/>
          <p:cNvSpPr/>
          <p:nvPr/>
        </p:nvSpPr>
        <p:spPr>
          <a:xfrm>
            <a:off x="5922804" y="2499361"/>
            <a:ext cx="121126"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1C2733"/>
                </a:solidFill>
                <a:latin typeface="IBM Plex Sans" pitchFamily="34" charset="0"/>
                <a:ea typeface="IBM Plex Sans" pitchFamily="34" charset="-122"/>
                <a:cs typeface="IBM Plex Sans" pitchFamily="34" charset="-120"/>
              </a:rPr>
              <a:t>c</a:t>
            </a:r>
            <a:endParaRPr lang="en-US" sz="1100" dirty="0"/>
          </a:p>
        </p:txBody>
      </p:sp>
      <p:sp>
        <p:nvSpPr>
          <p:cNvPr id="19" name="Shape 14"/>
          <p:cNvSpPr/>
          <p:nvPr/>
        </p:nvSpPr>
        <p:spPr>
          <a:xfrm>
            <a:off x="6132830" y="2473961"/>
            <a:ext cx="258842" cy="246380"/>
          </a:xfrm>
          <a:prstGeom prst="roundRect">
            <a:avLst>
              <a:gd name="adj" fmla="val 15464"/>
            </a:avLst>
          </a:prstGeom>
          <a:solidFill>
            <a:srgbClr val="F0EDE5"/>
          </a:solidFill>
          <a:ln/>
        </p:spPr>
      </p:sp>
      <p:sp>
        <p:nvSpPr>
          <p:cNvPr id="20" name="Text 15"/>
          <p:cNvSpPr/>
          <p:nvPr/>
        </p:nvSpPr>
        <p:spPr>
          <a:xfrm>
            <a:off x="6221730" y="2499361"/>
            <a:ext cx="131842"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1C2733"/>
                </a:solidFill>
                <a:latin typeface="IBM Plex Sans" pitchFamily="34" charset="0"/>
                <a:ea typeface="IBM Plex Sans" pitchFamily="34" charset="-122"/>
                <a:cs typeface="IBM Plex Sans" pitchFamily="34" charset="-120"/>
              </a:rPr>
              <a:t>d</a:t>
            </a:r>
            <a:endParaRPr lang="en-US" sz="1100" dirty="0"/>
          </a:p>
        </p:txBody>
      </p:sp>
      <p:sp>
        <p:nvSpPr>
          <p:cNvPr id="21" name="Shape 16"/>
          <p:cNvSpPr/>
          <p:nvPr/>
        </p:nvSpPr>
        <p:spPr>
          <a:xfrm>
            <a:off x="6656308" y="2033907"/>
            <a:ext cx="354806" cy="284480"/>
          </a:xfrm>
          <a:prstGeom prst="roundRect">
            <a:avLst>
              <a:gd name="adj" fmla="val 16741"/>
            </a:avLst>
          </a:prstGeom>
          <a:solidFill>
            <a:srgbClr val="FFFFFF"/>
          </a:solidFill>
          <a:ln w="6350">
            <a:solidFill>
              <a:srgbClr val="E3DDD0"/>
            </a:solidFill>
            <a:prstDash val="solid"/>
          </a:ln>
        </p:spPr>
      </p:sp>
      <p:sp>
        <p:nvSpPr>
          <p:cNvPr id="22" name="Text 17"/>
          <p:cNvSpPr/>
          <p:nvPr/>
        </p:nvSpPr>
        <p:spPr>
          <a:xfrm>
            <a:off x="6785213" y="2073911"/>
            <a:ext cx="147796" cy="229870"/>
          </a:xfrm>
          <a:prstGeom prst="rect">
            <a:avLst/>
          </a:prstGeom>
          <a:noFill/>
          <a:ln/>
        </p:spPr>
        <p:txBody>
          <a:bodyPr wrap="square" lIns="0" tIns="0" rIns="0" bIns="0" rtlCol="0" anchor="t">
            <a:normAutofit/>
          </a:bodyPr>
          <a:lstStyle/>
          <a:p>
            <a:pPr algn="l" indent="0" marL="0">
              <a:lnSpc>
                <a:spcPts val="1610"/>
              </a:lnSpc>
              <a:buNone/>
            </a:pPr>
            <a:r>
              <a:rPr lang="en-US" sz="1150" b="1" dirty="0">
                <a:solidFill>
                  <a:srgbClr val="1C2733"/>
                </a:solidFill>
                <a:latin typeface="IBM Plex Sans" pitchFamily="34" charset="0"/>
                <a:ea typeface="IBM Plex Sans" pitchFamily="34" charset="-122"/>
                <a:cs typeface="IBM Plex Sans" pitchFamily="34" charset="-120"/>
              </a:rPr>
              <a:t>R</a:t>
            </a:r>
            <a:endParaRPr lang="en-US" sz="1150" dirty="0"/>
          </a:p>
        </p:txBody>
      </p:sp>
      <p:pic>
        <p:nvPicPr>
          <p:cNvPr id="23" name="Image 3" descr="arrow-up">    </p:cNvPr>
          <p:cNvPicPr>
            <a:picLocks noChangeAspect="1"/>
          </p:cNvPicPr>
          <p:nvPr/>
        </p:nvPicPr>
        <p:blipFill>
          <a:blip r:embed="rId4"/>
          <a:srcRect l="0" r="0" t="0" b="0"/>
          <a:stretch/>
        </p:blipFill>
        <p:spPr>
          <a:xfrm>
            <a:off x="6789262" y="2359661"/>
            <a:ext cx="88900" cy="76200"/>
          </a:xfrm>
          <a:prstGeom prst="rect">
            <a:avLst/>
          </a:prstGeom>
        </p:spPr>
      </p:pic>
      <p:sp>
        <p:nvSpPr>
          <p:cNvPr id="24" name="Shape 18"/>
          <p:cNvSpPr/>
          <p:nvPr/>
        </p:nvSpPr>
        <p:spPr>
          <a:xfrm>
            <a:off x="6569472" y="2473961"/>
            <a:ext cx="254556" cy="246380"/>
          </a:xfrm>
          <a:prstGeom prst="roundRect">
            <a:avLst>
              <a:gd name="adj" fmla="val 15464"/>
            </a:avLst>
          </a:prstGeom>
          <a:solidFill>
            <a:srgbClr val="F0EDE5"/>
          </a:solidFill>
          <a:ln/>
        </p:spPr>
      </p:sp>
      <p:sp>
        <p:nvSpPr>
          <p:cNvPr id="25" name="Text 19"/>
          <p:cNvSpPr/>
          <p:nvPr/>
        </p:nvSpPr>
        <p:spPr>
          <a:xfrm>
            <a:off x="6658372" y="2499361"/>
            <a:ext cx="127556"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1C2733"/>
                </a:solidFill>
                <a:latin typeface="IBM Plex Sans" pitchFamily="34" charset="0"/>
                <a:ea typeface="IBM Plex Sans" pitchFamily="34" charset="-122"/>
                <a:cs typeface="IBM Plex Sans" pitchFamily="34" charset="-120"/>
              </a:rPr>
              <a:t>e</a:t>
            </a:r>
            <a:endParaRPr lang="en-US" sz="1100" dirty="0"/>
          </a:p>
        </p:txBody>
      </p:sp>
      <p:sp>
        <p:nvSpPr>
          <p:cNvPr id="26" name="Shape 20"/>
          <p:cNvSpPr/>
          <p:nvPr/>
        </p:nvSpPr>
        <p:spPr>
          <a:xfrm>
            <a:off x="6874828" y="2473961"/>
            <a:ext cx="223123" cy="246380"/>
          </a:xfrm>
          <a:prstGeom prst="roundRect">
            <a:avLst>
              <a:gd name="adj" fmla="val 17076"/>
            </a:avLst>
          </a:prstGeom>
          <a:solidFill>
            <a:srgbClr val="F0EDE5"/>
          </a:solidFill>
          <a:ln/>
        </p:spPr>
      </p:sp>
      <p:sp>
        <p:nvSpPr>
          <p:cNvPr id="27" name="Text 21"/>
          <p:cNvSpPr/>
          <p:nvPr/>
        </p:nvSpPr>
        <p:spPr>
          <a:xfrm>
            <a:off x="6963728" y="2499361"/>
            <a:ext cx="96123"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1C2733"/>
                </a:solidFill>
                <a:latin typeface="IBM Plex Sans" pitchFamily="34" charset="0"/>
                <a:ea typeface="IBM Plex Sans" pitchFamily="34" charset="-122"/>
                <a:cs typeface="IBM Plex Sans" pitchFamily="34" charset="-120"/>
              </a:rPr>
              <a:t>f</a:t>
            </a:r>
            <a:endParaRPr lang="en-US" sz="1100" dirty="0"/>
          </a:p>
        </p:txBody>
      </p:sp>
      <p:sp>
        <p:nvSpPr>
          <p:cNvPr id="28" name="Text 22"/>
          <p:cNvSpPr/>
          <p:nvPr/>
        </p:nvSpPr>
        <p:spPr>
          <a:xfrm>
            <a:off x="812800" y="2834639"/>
            <a:ext cx="5337048" cy="220980"/>
          </a:xfrm>
          <a:prstGeom prst="rect">
            <a:avLst/>
          </a:prstGeom>
          <a:noFill/>
          <a:ln/>
        </p:spPr>
        <p:txBody>
          <a:bodyPr wrap="square" lIns="0" tIns="0" rIns="0" bIns="0" rtlCol="0" anchor="t">
            <a:normAutofit/>
          </a:bodyPr>
          <a:lstStyle/>
          <a:p>
            <a:pPr algn="l" indent="0" marL="0">
              <a:lnSpc>
                <a:spcPts val="1540"/>
              </a:lnSpc>
              <a:buNone/>
            </a:pPr>
            <a:r>
              <a:rPr lang="en-US" sz="1100" b="1" dirty="0">
                <a:solidFill>
                  <a:srgbClr val="8A9199"/>
                </a:solidFill>
                <a:latin typeface="IBM Plex Sans" pitchFamily="34" charset="0"/>
                <a:ea typeface="IBM Plex Sans" pitchFamily="34" charset="-122"/>
                <a:cs typeface="IBM Plex Sans" pitchFamily="34" charset="-120"/>
              </a:rPr>
              <a:t>GIAO DỊCH (profit: a3 b4 c1 d2 e5 f4)</a:t>
            </a:r>
            <a:endParaRPr lang="en-US" sz="11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822960" y="3091181"/>
          <a:ext cx="5171440" cy="2296160"/>
        </p:xfrm>
        <a:graphic>
          <a:graphicData uri="http://schemas.openxmlformats.org/drawingml/2006/table">
            <a:tbl>
              <a:tblPr/>
              <a:tblGrid>
                <a:gridCol w="2585720"/>
                <a:gridCol w="2585720"/>
              </a:tblGrid>
              <a:tr h="287020">
                <a:tc>
                  <a:txBody>
                    <a:bodyPr/>
                    <a:lstStyle/>
                    <a:p>
                      <a:pPr indent="0" marL="0">
                        <a:lnSpc>
                          <a:spcPts val="1680"/>
                        </a:lnSpc>
                        <a:buNone/>
                      </a:pPr>
                      <a:r>
                        <a:rPr lang="en-US" sz="1200" dirty="0">
                          <a:solidFill>
                            <a:srgbClr val="1C2733"/>
                          </a:solidFill>
                          <a:latin typeface="IBM Plex Sans" pitchFamily="34" charset="0"/>
                          <a:ea typeface="IBM Plex Sans" pitchFamily="34" charset="-122"/>
                          <a:cs typeface="IBM Plex Sans" pitchFamily="34" charset="-120"/>
                        </a:rPr>
                        <a:t>T1</a:t>
                      </a:r>
                      <a:endParaRPr lang="en-US" sz="1200" dirty="0">
                        <a:latin typeface="IBM Plex Sans" charset="0"/>
                        <a:ea typeface="IBM Plex Sans" charset="0"/>
                        <a:cs typeface="IBM Plex Sans" charset="0"/>
                      </a:endParaRPr>
                    </a:p>
                  </a:txBody>
                  <a:tcPr marL="76200" marR="76200" marT="31750" marB="31750" anchor="t">
                    <a:lnL w="12700" cap="flat" cmpd="sng" algn="ctr">
                      <a:solidFill>
                        <a:srgbClr val="C7C7C3"/>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C2733"/>
                          </a:solidFill>
                          <a:latin typeface="IBM Plex Sans" pitchFamily="34" charset="0"/>
                          <a:ea typeface="IBM Plex Sans" pitchFamily="34" charset="-122"/>
                          <a:cs typeface="IBM Plex Sans" pitchFamily="34" charset="-120"/>
                        </a:rPr>
                        <a:t>a,b,c,d</a:t>
                      </a:r>
                      <a:endParaRPr lang="en-US" sz="1200" dirty="0">
                        <a:latin typeface="IBM Plex Sans" charset="0"/>
                        <a:ea typeface="IBM Plex Sans" charset="0"/>
                        <a:cs typeface="IBM Plex Sans" charset="0"/>
                      </a:endParaRPr>
                    </a:p>
                  </a:txBody>
                  <a:tcPr marL="76200" marR="76200" marT="31750" marB="3175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287020">
                <a:tc>
                  <a:txBody>
                    <a:bodyPr/>
                    <a:lstStyle/>
                    <a:p>
                      <a:pPr indent="0" marL="0">
                        <a:lnSpc>
                          <a:spcPts val="1680"/>
                        </a:lnSpc>
                        <a:buNone/>
                      </a:pPr>
                      <a:r>
                        <a:rPr lang="en-US" sz="1200" dirty="0">
                          <a:solidFill>
                            <a:srgbClr val="1C2733"/>
                          </a:solidFill>
                          <a:latin typeface="IBM Plex Sans" pitchFamily="34" charset="0"/>
                          <a:ea typeface="IBM Plex Sans" pitchFamily="34" charset="-122"/>
                          <a:cs typeface="IBM Plex Sans" pitchFamily="34" charset="-120"/>
                        </a:rPr>
                        <a:t>T2</a:t>
                      </a:r>
                      <a:endParaRPr lang="en-US" sz="1200" dirty="0">
                        <a:latin typeface="IBM Plex Sans" charset="0"/>
                        <a:ea typeface="IBM Plex Sans" charset="0"/>
                        <a:cs typeface="IBM Plex Sans" charset="0"/>
                      </a:endParaRPr>
                    </a:p>
                  </a:txBody>
                  <a:tcPr marL="76200" marR="76200" marT="31750" marB="31750" anchor="t">
                    <a:lnL w="12700" cap="flat" cmpd="sng" algn="ctr">
                      <a:solidFill>
                        <a:srgbClr val="C7C7C3"/>
                      </a:solidFill>
                      <a:prstDash val="solid"/>
                      <a:round/>
                      <a:headEnd type="none" w="med" len="med"/>
                      <a:tailEnd type="none" w="med" len="med"/>
                    </a:lnL>
                    <a:lnR w="12700" cap="flat" cmpd="sng" algn="ctr">
                      <a:solidFill>
                        <a:srgbClr val="C0BDB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c>
                  <a:txBody>
                    <a:bodyPr/>
                    <a:lstStyle/>
                    <a:p>
                      <a:pPr indent="0" marL="0">
                        <a:lnSpc>
                          <a:spcPts val="1680"/>
                        </a:lnSpc>
                        <a:buNone/>
                      </a:pPr>
                      <a:r>
                        <a:rPr lang="en-US" sz="1200" dirty="0">
                          <a:solidFill>
                            <a:srgbClr val="1C2733"/>
                          </a:solidFill>
                          <a:latin typeface="IBM Plex Sans" pitchFamily="34" charset="0"/>
                          <a:ea typeface="IBM Plex Sans" pitchFamily="34" charset="-122"/>
                          <a:cs typeface="IBM Plex Sans" pitchFamily="34" charset="-120"/>
                        </a:rPr>
                        <a:t>a,c</a:t>
                      </a:r>
                      <a:endParaRPr lang="en-US" sz="1200" dirty="0">
                        <a:latin typeface="IBM Plex Sans" charset="0"/>
                        <a:ea typeface="IBM Plex Sans" charset="0"/>
                        <a:cs typeface="IBM Plex Sans" charset="0"/>
                      </a:endParaRPr>
                    </a:p>
                  </a:txBody>
                  <a:tcPr marL="76200" marR="76200" marT="31750" marB="31750" anchor="t">
                    <a:lnL w="12700" cap="flat" cmpd="sng" algn="ctr">
                      <a:solidFill>
                        <a:srgbClr val="C0BDB7"/>
                      </a:solidFill>
                      <a:prstDash val="solid"/>
                      <a:round/>
                      <a:headEnd type="none" w="med" len="med"/>
                      <a:tailEnd type="none" w="med" len="med"/>
                    </a:lnL>
                    <a:lnR w="12700" cap="flat" cmpd="sng" algn="ctr">
                      <a:solidFill>
                        <a:srgbClr val="C0BDB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r>
              <a:tr h="287020">
                <a:tc>
                  <a:txBody>
                    <a:bodyPr/>
                    <a:lstStyle/>
                    <a:p>
                      <a:pPr indent="0" marL="0">
                        <a:lnSpc>
                          <a:spcPts val="1680"/>
                        </a:lnSpc>
                        <a:buNone/>
                      </a:pPr>
                      <a:r>
                        <a:rPr lang="en-US" sz="1200" dirty="0">
                          <a:solidFill>
                            <a:srgbClr val="1C2733"/>
                          </a:solidFill>
                          <a:latin typeface="IBM Plex Sans" pitchFamily="34" charset="0"/>
                          <a:ea typeface="IBM Plex Sans" pitchFamily="34" charset="-122"/>
                          <a:cs typeface="IBM Plex Sans" pitchFamily="34" charset="-120"/>
                        </a:rPr>
                        <a:t>T3</a:t>
                      </a:r>
                      <a:endParaRPr lang="en-US" sz="1200" dirty="0">
                        <a:latin typeface="IBM Plex Sans" charset="0"/>
                        <a:ea typeface="IBM Plex Sans" charset="0"/>
                        <a:cs typeface="IBM Plex Sans" charset="0"/>
                      </a:endParaRPr>
                    </a:p>
                  </a:txBody>
                  <a:tcPr marL="76200" marR="76200" marT="31750" marB="31750" anchor="t">
                    <a:lnL w="12700" cap="flat" cmpd="sng" algn="ctr">
                      <a:solidFill>
                        <a:srgbClr val="C7C7C3"/>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BDB7"/>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C2733"/>
                          </a:solidFill>
                          <a:latin typeface="IBM Plex Sans" pitchFamily="34" charset="0"/>
                          <a:ea typeface="IBM Plex Sans" pitchFamily="34" charset="-122"/>
                          <a:cs typeface="IBM Plex Sans" pitchFamily="34" charset="-120"/>
                        </a:rPr>
                        <a:t>c,f</a:t>
                      </a:r>
                      <a:endParaRPr lang="en-US" sz="1200" dirty="0">
                        <a:latin typeface="IBM Plex Sans" charset="0"/>
                        <a:ea typeface="IBM Plex Sans" charset="0"/>
                        <a:cs typeface="IBM Plex Sans" charset="0"/>
                      </a:endParaRPr>
                    </a:p>
                  </a:txBody>
                  <a:tcPr marL="76200" marR="76200" marT="31750" marB="3175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BDB7"/>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287020">
                <a:tc>
                  <a:txBody>
                    <a:bodyPr/>
                    <a:lstStyle/>
                    <a:p>
                      <a:pPr indent="0" marL="0">
                        <a:lnSpc>
                          <a:spcPts val="1680"/>
                        </a:lnSpc>
                        <a:buNone/>
                      </a:pPr>
                      <a:r>
                        <a:rPr lang="en-US" sz="1200" dirty="0">
                          <a:solidFill>
                            <a:srgbClr val="1C2733"/>
                          </a:solidFill>
                          <a:latin typeface="IBM Plex Sans" pitchFamily="34" charset="0"/>
                          <a:ea typeface="IBM Plex Sans" pitchFamily="34" charset="-122"/>
                          <a:cs typeface="IBM Plex Sans" pitchFamily="34" charset="-120"/>
                        </a:rPr>
                        <a:t>T4</a:t>
                      </a:r>
                      <a:endParaRPr lang="en-US" sz="1200" dirty="0">
                        <a:latin typeface="IBM Plex Sans" charset="0"/>
                        <a:ea typeface="IBM Plex Sans" charset="0"/>
                        <a:cs typeface="IBM Plex Sans" charset="0"/>
                      </a:endParaRPr>
                    </a:p>
                  </a:txBody>
                  <a:tcPr marL="76200" marR="76200" marT="31750" marB="31750" anchor="t">
                    <a:lnL w="12700" cap="flat" cmpd="sng" algn="ctr">
                      <a:solidFill>
                        <a:srgbClr val="C7C7C3"/>
                      </a:solidFill>
                      <a:prstDash val="solid"/>
                      <a:round/>
                      <a:headEnd type="none" w="med" len="med"/>
                      <a:tailEnd type="none" w="med" len="med"/>
                    </a:lnL>
                    <a:lnR w="12700" cap="flat" cmpd="sng" algn="ctr">
                      <a:solidFill>
                        <a:srgbClr val="C0BDB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c>
                  <a:txBody>
                    <a:bodyPr/>
                    <a:lstStyle/>
                    <a:p>
                      <a:pPr indent="0" marL="0">
                        <a:lnSpc>
                          <a:spcPts val="1680"/>
                        </a:lnSpc>
                        <a:buNone/>
                      </a:pPr>
                      <a:r>
                        <a:rPr lang="en-US" sz="1200" dirty="0">
                          <a:solidFill>
                            <a:srgbClr val="1C2733"/>
                          </a:solidFill>
                          <a:latin typeface="IBM Plex Sans" pitchFamily="34" charset="0"/>
                          <a:ea typeface="IBM Plex Sans" pitchFamily="34" charset="-122"/>
                          <a:cs typeface="IBM Plex Sans" pitchFamily="34" charset="-120"/>
                        </a:rPr>
                        <a:t>a,b,d,f</a:t>
                      </a:r>
                      <a:endParaRPr lang="en-US" sz="1200" dirty="0">
                        <a:latin typeface="IBM Plex Sans" charset="0"/>
                        <a:ea typeface="IBM Plex Sans" charset="0"/>
                        <a:cs typeface="IBM Plex Sans" charset="0"/>
                      </a:endParaRPr>
                    </a:p>
                  </a:txBody>
                  <a:tcPr marL="76200" marR="76200" marT="31750" marB="31750" anchor="t">
                    <a:lnL w="12700" cap="flat" cmpd="sng" algn="ctr">
                      <a:solidFill>
                        <a:srgbClr val="C0BDB7"/>
                      </a:solidFill>
                      <a:prstDash val="solid"/>
                      <a:round/>
                      <a:headEnd type="none" w="med" len="med"/>
                      <a:tailEnd type="none" w="med" len="med"/>
                    </a:lnL>
                    <a:lnR w="12700" cap="flat" cmpd="sng" algn="ctr">
                      <a:solidFill>
                        <a:srgbClr val="C0BDB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r>
              <a:tr h="287020">
                <a:tc>
                  <a:txBody>
                    <a:bodyPr/>
                    <a:lstStyle/>
                    <a:p>
                      <a:pPr indent="0" marL="0">
                        <a:lnSpc>
                          <a:spcPts val="1680"/>
                        </a:lnSpc>
                        <a:buNone/>
                      </a:pPr>
                      <a:r>
                        <a:rPr lang="en-US" sz="1200" dirty="0">
                          <a:solidFill>
                            <a:srgbClr val="1C2733"/>
                          </a:solidFill>
                          <a:latin typeface="IBM Plex Sans" pitchFamily="34" charset="0"/>
                          <a:ea typeface="IBM Plex Sans" pitchFamily="34" charset="-122"/>
                          <a:cs typeface="IBM Plex Sans" pitchFamily="34" charset="-120"/>
                        </a:rPr>
                        <a:t>T5</a:t>
                      </a:r>
                      <a:endParaRPr lang="en-US" sz="1200" dirty="0">
                        <a:latin typeface="IBM Plex Sans" charset="0"/>
                        <a:ea typeface="IBM Plex Sans" charset="0"/>
                        <a:cs typeface="IBM Plex Sans" charset="0"/>
                      </a:endParaRPr>
                    </a:p>
                  </a:txBody>
                  <a:tcPr marL="76200" marR="76200" marT="31750" marB="31750" anchor="t">
                    <a:lnL w="12700" cap="flat" cmpd="sng" algn="ctr">
                      <a:solidFill>
                        <a:srgbClr val="C7C7C3"/>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BDB7"/>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C2733"/>
                          </a:solidFill>
                          <a:latin typeface="IBM Plex Sans" pitchFamily="34" charset="0"/>
                          <a:ea typeface="IBM Plex Sans" pitchFamily="34" charset="-122"/>
                          <a:cs typeface="IBM Plex Sans" pitchFamily="34" charset="-120"/>
                        </a:rPr>
                        <a:t>a,b,f</a:t>
                      </a:r>
                      <a:endParaRPr lang="en-US" sz="1200" dirty="0">
                        <a:latin typeface="IBM Plex Sans" charset="0"/>
                        <a:ea typeface="IBM Plex Sans" charset="0"/>
                        <a:cs typeface="IBM Plex Sans" charset="0"/>
                      </a:endParaRPr>
                    </a:p>
                  </a:txBody>
                  <a:tcPr marL="76200" marR="76200" marT="31750" marB="3175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BDB7"/>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287020">
                <a:tc>
                  <a:txBody>
                    <a:bodyPr/>
                    <a:lstStyle/>
                    <a:p>
                      <a:pPr indent="0" marL="0">
                        <a:lnSpc>
                          <a:spcPts val="1680"/>
                        </a:lnSpc>
                        <a:buNone/>
                      </a:pPr>
                      <a:r>
                        <a:rPr lang="en-US" sz="1200" dirty="0">
                          <a:solidFill>
                            <a:srgbClr val="1C2733"/>
                          </a:solidFill>
                          <a:latin typeface="IBM Plex Sans" pitchFamily="34" charset="0"/>
                          <a:ea typeface="IBM Plex Sans" pitchFamily="34" charset="-122"/>
                          <a:cs typeface="IBM Plex Sans" pitchFamily="34" charset="-120"/>
                        </a:rPr>
                        <a:t>T6</a:t>
                      </a:r>
                      <a:endParaRPr lang="en-US" sz="1200" dirty="0">
                        <a:latin typeface="IBM Plex Sans" charset="0"/>
                        <a:ea typeface="IBM Plex Sans" charset="0"/>
                        <a:cs typeface="IBM Plex Sans" charset="0"/>
                      </a:endParaRPr>
                    </a:p>
                  </a:txBody>
                  <a:tcPr marL="76200" marR="76200" marT="31750" marB="31750" anchor="t">
                    <a:lnL w="12700" cap="flat" cmpd="sng" algn="ctr">
                      <a:solidFill>
                        <a:srgbClr val="C7C7C3"/>
                      </a:solidFill>
                      <a:prstDash val="solid"/>
                      <a:round/>
                      <a:headEnd type="none" w="med" len="med"/>
                      <a:tailEnd type="none" w="med" len="med"/>
                    </a:lnL>
                    <a:lnR w="12700" cap="flat" cmpd="sng" algn="ctr">
                      <a:solidFill>
                        <a:srgbClr val="C0BDB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c>
                  <a:txBody>
                    <a:bodyPr/>
                    <a:lstStyle/>
                    <a:p>
                      <a:pPr indent="0" marL="0">
                        <a:lnSpc>
                          <a:spcPts val="1680"/>
                        </a:lnSpc>
                        <a:buNone/>
                      </a:pPr>
                      <a:r>
                        <a:rPr lang="en-US" sz="1200" dirty="0">
                          <a:solidFill>
                            <a:srgbClr val="1C2733"/>
                          </a:solidFill>
                          <a:latin typeface="IBM Plex Sans" pitchFamily="34" charset="0"/>
                          <a:ea typeface="IBM Plex Sans" pitchFamily="34" charset="-122"/>
                          <a:cs typeface="IBM Plex Sans" pitchFamily="34" charset="-120"/>
                        </a:rPr>
                        <a:t>a,b,c,d,e</a:t>
                      </a:r>
                      <a:endParaRPr lang="en-US" sz="1200" dirty="0">
                        <a:latin typeface="IBM Plex Sans" charset="0"/>
                        <a:ea typeface="IBM Plex Sans" charset="0"/>
                        <a:cs typeface="IBM Plex Sans" charset="0"/>
                      </a:endParaRPr>
                    </a:p>
                  </a:txBody>
                  <a:tcPr marL="76200" marR="76200" marT="31750" marB="31750" anchor="t">
                    <a:lnL w="12700" cap="flat" cmpd="sng" algn="ctr">
                      <a:solidFill>
                        <a:srgbClr val="C0BDB7"/>
                      </a:solidFill>
                      <a:prstDash val="solid"/>
                      <a:round/>
                      <a:headEnd type="none" w="med" len="med"/>
                      <a:tailEnd type="none" w="med" len="med"/>
                    </a:lnL>
                    <a:lnR w="12700" cap="flat" cmpd="sng" algn="ctr">
                      <a:solidFill>
                        <a:srgbClr val="C0BDB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r>
              <a:tr h="287020">
                <a:tc>
                  <a:txBody>
                    <a:bodyPr/>
                    <a:lstStyle/>
                    <a:p>
                      <a:pPr indent="0" marL="0">
                        <a:lnSpc>
                          <a:spcPts val="1680"/>
                        </a:lnSpc>
                        <a:buNone/>
                      </a:pPr>
                      <a:r>
                        <a:rPr lang="en-US" sz="1200" dirty="0">
                          <a:solidFill>
                            <a:srgbClr val="1C2733"/>
                          </a:solidFill>
                          <a:latin typeface="IBM Plex Sans" pitchFamily="34" charset="0"/>
                          <a:ea typeface="IBM Plex Sans" pitchFamily="34" charset="-122"/>
                          <a:cs typeface="IBM Plex Sans" pitchFamily="34" charset="-120"/>
                        </a:rPr>
                        <a:t>T7</a:t>
                      </a:r>
                      <a:endParaRPr lang="en-US" sz="1200" dirty="0">
                        <a:latin typeface="IBM Plex Sans" charset="0"/>
                        <a:ea typeface="IBM Plex Sans" charset="0"/>
                        <a:cs typeface="IBM Plex Sans" charset="0"/>
                      </a:endParaRPr>
                    </a:p>
                  </a:txBody>
                  <a:tcPr marL="76200" marR="76200" marT="31750" marB="31750" anchor="t">
                    <a:lnL w="12700" cap="flat" cmpd="sng" algn="ctr">
                      <a:solidFill>
                        <a:srgbClr val="C7C7C3"/>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BDB7"/>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C2733"/>
                          </a:solidFill>
                          <a:latin typeface="IBM Plex Sans" pitchFamily="34" charset="0"/>
                          <a:ea typeface="IBM Plex Sans" pitchFamily="34" charset="-122"/>
                          <a:cs typeface="IBM Plex Sans" pitchFamily="34" charset="-120"/>
                        </a:rPr>
                        <a:t>a,b,c,e,f</a:t>
                      </a:r>
                      <a:endParaRPr lang="en-US" sz="1200" dirty="0">
                        <a:latin typeface="IBM Plex Sans" charset="0"/>
                        <a:ea typeface="IBM Plex Sans" charset="0"/>
                        <a:cs typeface="IBM Plex Sans" charset="0"/>
                      </a:endParaRPr>
                    </a:p>
                  </a:txBody>
                  <a:tcPr marL="76200" marR="76200" marT="31750" marB="3175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BDB7"/>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287020">
                <a:tc>
                  <a:txBody>
                    <a:bodyPr/>
                    <a:lstStyle/>
                    <a:p>
                      <a:pPr indent="0" marL="0">
                        <a:lnSpc>
                          <a:spcPts val="1680"/>
                        </a:lnSpc>
                        <a:buNone/>
                      </a:pPr>
                      <a:r>
                        <a:rPr lang="en-US" sz="1200" dirty="0">
                          <a:solidFill>
                            <a:srgbClr val="1C2733"/>
                          </a:solidFill>
                          <a:latin typeface="IBM Plex Sans" pitchFamily="34" charset="0"/>
                          <a:ea typeface="IBM Plex Sans" pitchFamily="34" charset="-122"/>
                          <a:cs typeface="IBM Plex Sans" pitchFamily="34" charset="-120"/>
                        </a:rPr>
                        <a:t>T8</a:t>
                      </a:r>
                      <a:endParaRPr lang="en-US" sz="1200" dirty="0">
                        <a:latin typeface="IBM Plex Sans" charset="0"/>
                        <a:ea typeface="IBM Plex Sans" charset="0"/>
                        <a:cs typeface="IBM Plex Sans" charset="0"/>
                      </a:endParaRPr>
                    </a:p>
                  </a:txBody>
                  <a:tcPr marL="76200" marR="76200" marT="31750" marB="31750" anchor="t">
                    <a:lnL w="12700" cap="flat" cmpd="sng" algn="ctr">
                      <a:solidFill>
                        <a:srgbClr val="C7C7C3"/>
                      </a:solidFill>
                      <a:prstDash val="solid"/>
                      <a:round/>
                      <a:headEnd type="none" w="med" len="med"/>
                      <a:tailEnd type="none" w="med" len="med"/>
                    </a:lnL>
                    <a:lnR w="12700" cap="flat" cmpd="sng" algn="ctr">
                      <a:solidFill>
                        <a:srgbClr val="C0BDB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c>
                  <a:txBody>
                    <a:bodyPr/>
                    <a:lstStyle/>
                    <a:p>
                      <a:pPr indent="0" marL="0">
                        <a:lnSpc>
                          <a:spcPts val="1680"/>
                        </a:lnSpc>
                        <a:buNone/>
                      </a:pPr>
                      <a:r>
                        <a:rPr lang="en-US" sz="1200" dirty="0">
                          <a:solidFill>
                            <a:srgbClr val="1C2733"/>
                          </a:solidFill>
                          <a:latin typeface="IBM Plex Sans" pitchFamily="34" charset="0"/>
                          <a:ea typeface="IBM Plex Sans" pitchFamily="34" charset="-122"/>
                          <a:cs typeface="IBM Plex Sans" pitchFamily="34" charset="-120"/>
                        </a:rPr>
                        <a:t>a,e,f</a:t>
                      </a:r>
                      <a:endParaRPr lang="en-US" sz="1200" dirty="0">
                        <a:latin typeface="IBM Plex Sans" charset="0"/>
                        <a:ea typeface="IBM Plex Sans" charset="0"/>
                        <a:cs typeface="IBM Plex Sans" charset="0"/>
                      </a:endParaRPr>
                    </a:p>
                  </a:txBody>
                  <a:tcPr marL="76200" marR="76200" marT="31750" marB="31750" anchor="t">
                    <a:lnL w="12700" cap="flat" cmpd="sng" algn="ctr">
                      <a:solidFill>
                        <a:srgbClr val="C0BDB7"/>
                      </a:solidFill>
                      <a:prstDash val="solid"/>
                      <a:round/>
                      <a:headEnd type="none" w="med" len="med"/>
                      <a:tailEnd type="none" w="med" len="med"/>
                    </a:lnL>
                    <a:lnR w="12700" cap="flat" cmpd="sng" algn="ctr">
                      <a:solidFill>
                        <a:srgbClr val="C0BDB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r>
            </a:tbl>
          </a:graphicData>
        </a:graphic>
      </p:graphicFrame>
      <p:sp>
        <p:nvSpPr>
          <p:cNvPr id="30" name="Text 23"/>
          <p:cNvSpPr/>
          <p:nvPr/>
        </p:nvSpPr>
        <p:spPr>
          <a:xfrm>
            <a:off x="6197600" y="2834639"/>
            <a:ext cx="5337048" cy="220980"/>
          </a:xfrm>
          <a:prstGeom prst="rect">
            <a:avLst/>
          </a:prstGeom>
          <a:noFill/>
          <a:ln/>
        </p:spPr>
        <p:txBody>
          <a:bodyPr wrap="square" lIns="0" tIns="0" rIns="0" bIns="0" rtlCol="0" anchor="t">
            <a:normAutofit/>
          </a:bodyPr>
          <a:lstStyle/>
          <a:p>
            <a:pPr algn="l" indent="0" marL="0">
              <a:lnSpc>
                <a:spcPts val="1540"/>
              </a:lnSpc>
              <a:buNone/>
            </a:pPr>
            <a:r>
              <a:rPr lang="en-US" sz="1100" b="1" dirty="0">
                <a:solidFill>
                  <a:srgbClr val="B8863B"/>
                </a:solidFill>
                <a:latin typeface="IBM Plex Sans" pitchFamily="34" charset="0"/>
                <a:ea typeface="IBM Plex Sans" pitchFamily="34" charset="-122"/>
                <a:cs typeface="IBM Plex Sans" pitchFamily="34" charset="-120"/>
              </a:rPr>
              <a:t>TOP-6 KẾT QUẢ (k=6)</a:t>
            </a:r>
            <a:endParaRPr lang="en-US" sz="1100" dirty="0"/>
          </a:p>
        </p:txBody>
      </p:sp>
      <p:graphicFrame>
        <p:nvGraphicFramePr>
          <p:cNvPr id="31" name="Table 1"/>
          <p:cNvGraphicFramePr>
            <a:graphicFrameLocks noGrp="1"/>
          </p:cNvGraphicFramePr>
          <p:nvPr>
            <p:extLst>
              <p:ext uri="{D42A27DB-BD31-4B8C-83A1-F6EECF244321}">
                <p14:modId xmlns:p14="http://schemas.microsoft.com/office/powerpoint/2010/main" val="1579011935"/>
              </p:ext>
            </p:extLst>
          </p:nvPr>
        </p:nvGraphicFramePr>
        <p:xfrm>
          <a:off x="6207760" y="3091181"/>
          <a:ext cx="5171440" cy="2098040"/>
        </p:xfrm>
        <a:graphic>
          <a:graphicData uri="http://schemas.openxmlformats.org/drawingml/2006/table">
            <a:tbl>
              <a:tblPr/>
              <a:tblGrid>
                <a:gridCol w="1723813"/>
                <a:gridCol w="1723813"/>
                <a:gridCol w="1723813"/>
              </a:tblGrid>
              <a:tr h="299720">
                <a:tc>
                  <a:txBody>
                    <a:bodyPr/>
                    <a:lstStyle/>
                    <a:p>
                      <a:pPr indent="0" marL="0">
                        <a:lnSpc>
                          <a:spcPts val="1680"/>
                        </a:lnSpc>
                        <a:buNone/>
                      </a:pPr>
                      <a:r>
                        <a:rPr lang="en-US" sz="1200" b="1" dirty="0">
                          <a:solidFill>
                            <a:srgbClr val="FAF9F5"/>
                          </a:solidFill>
                          <a:latin typeface="IBM Plex Sans" pitchFamily="34" charset="0"/>
                          <a:ea typeface="IBM Plex Sans" pitchFamily="34" charset="-122"/>
                          <a:cs typeface="IBM Plex Sans" pitchFamily="34" charset="-120"/>
                        </a:rPr>
                        <a:t>Hạng</a:t>
                      </a:r>
                      <a:endParaRPr lang="en-US" sz="1200" dirty="0">
                        <a:latin typeface="IBM Plex Sans" charset="0"/>
                        <a:ea typeface="IBM Plex Sans" charset="0"/>
                        <a:cs typeface="IBM Plex Sans" charset="0"/>
                      </a:endParaRPr>
                    </a:p>
                  </a:txBody>
                  <a:tcPr marL="76200" marR="76200" marT="38100" marB="38100" anchor="t">
                    <a:lnL w="12700" cap="flat" cmpd="sng" algn="ctr">
                      <a:solidFill>
                        <a:srgbClr val="C7C7C3"/>
                      </a:solidFill>
                      <a:prstDash val="solid"/>
                      <a:round/>
                      <a:headEnd type="none" w="med" len="med"/>
                      <a:tailEnd type="none" w="med" len="med"/>
                    </a:lnL>
                    <a:lnR w="12700" cap="flat" cmpd="sng" algn="ctr">
                      <a:solidFill>
                        <a:srgbClr val="1A232C"/>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1A232C"/>
                      </a:solidFill>
                      <a:prstDash val="solid"/>
                      <a:round/>
                      <a:headEnd type="none" w="med" len="med"/>
                      <a:tailEnd type="none" w="med" len="med"/>
                    </a:lnB>
                    <a:solidFill>
                      <a:srgbClr val="1C2733"/>
                    </a:solidFill>
                  </a:tcPr>
                </a:tc>
                <a:tc>
                  <a:txBody>
                    <a:bodyPr/>
                    <a:lstStyle/>
                    <a:p>
                      <a:pPr indent="0" marL="0">
                        <a:lnSpc>
                          <a:spcPts val="1680"/>
                        </a:lnSpc>
                        <a:buNone/>
                      </a:pPr>
                      <a:r>
                        <a:rPr lang="en-US" sz="1200" b="1" dirty="0">
                          <a:solidFill>
                            <a:srgbClr val="FAF9F5"/>
                          </a:solidFill>
                          <a:latin typeface="IBM Plex Sans" pitchFamily="34" charset="0"/>
                          <a:ea typeface="IBM Plex Sans" pitchFamily="34" charset="-122"/>
                          <a:cs typeface="IBM Plex Sans" pitchFamily="34" charset="-120"/>
                        </a:rPr>
                        <a:t>Tập mục</a:t>
                      </a:r>
                      <a:endParaRPr lang="en-US" sz="1200" dirty="0">
                        <a:latin typeface="IBM Plex Sans" charset="0"/>
                        <a:ea typeface="IBM Plex Sans" charset="0"/>
                        <a:cs typeface="IBM Plex Sans" charset="0"/>
                      </a:endParaRPr>
                    </a:p>
                  </a:txBody>
                  <a:tcPr marL="76200" marR="76200" marT="38100" marB="38100" anchor="t">
                    <a:lnL w="12700" cap="flat" cmpd="sng" algn="ctr">
                      <a:solidFill>
                        <a:srgbClr val="1A232C"/>
                      </a:solidFill>
                      <a:prstDash val="solid"/>
                      <a:round/>
                      <a:headEnd type="none" w="med" len="med"/>
                      <a:tailEnd type="none" w="med" len="med"/>
                    </a:lnL>
                    <a:lnR w="12700" cap="flat" cmpd="sng" algn="ctr">
                      <a:solidFill>
                        <a:srgbClr val="1A232C"/>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1A232C"/>
                      </a:solidFill>
                      <a:prstDash val="solid"/>
                      <a:round/>
                      <a:headEnd type="none" w="med" len="med"/>
                      <a:tailEnd type="none" w="med" len="med"/>
                    </a:lnB>
                    <a:solidFill>
                      <a:srgbClr val="1C2733"/>
                    </a:solidFill>
                  </a:tcPr>
                </a:tc>
                <a:tc>
                  <a:txBody>
                    <a:bodyPr/>
                    <a:lstStyle/>
                    <a:p>
                      <a:pPr algn="r" indent="0" marL="0">
                        <a:lnSpc>
                          <a:spcPts val="1680"/>
                        </a:lnSpc>
                        <a:buNone/>
                      </a:pPr>
                      <a:r>
                        <a:rPr lang="en-US" sz="1200" b="1" dirty="0">
                          <a:solidFill>
                            <a:srgbClr val="FAF9F5"/>
                          </a:solidFill>
                          <a:latin typeface="IBM Plex Sans" pitchFamily="34" charset="0"/>
                          <a:ea typeface="IBM Plex Sans" pitchFamily="34" charset="-122"/>
                          <a:cs typeface="IBM Plex Sans" pitchFamily="34" charset="-120"/>
                        </a:rPr>
                        <a:t>Utility</a:t>
                      </a:r>
                      <a:endParaRPr lang="en-US" sz="1200" dirty="0">
                        <a:latin typeface="IBM Plex Sans" charset="0"/>
                        <a:ea typeface="IBM Plex Sans" charset="0"/>
                        <a:cs typeface="IBM Plex Sans" charset="0"/>
                      </a:endParaRPr>
                    </a:p>
                  </a:txBody>
                  <a:tcPr marL="76200" marR="76200" marT="38100" marB="38100" anchor="t">
                    <a:lnL w="12700" cap="flat" cmpd="sng" algn="ctr">
                      <a:solidFill>
                        <a:srgbClr val="1A232C"/>
                      </a:solidFill>
                      <a:prstDash val="solid"/>
                      <a:round/>
                      <a:headEnd type="none" w="med" len="med"/>
                      <a:tailEnd type="none" w="med" len="med"/>
                    </a:lnL>
                    <a:lnR w="12700" cap="flat" cmpd="sng" algn="ctr">
                      <a:solidFill>
                        <a:srgbClr val="1A232C"/>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1A232C"/>
                      </a:solidFill>
                      <a:prstDash val="solid"/>
                      <a:round/>
                      <a:headEnd type="none" w="med" len="med"/>
                      <a:tailEnd type="none" w="med" len="med"/>
                    </a:lnB>
                    <a:solidFill>
                      <a:srgbClr val="1C2733"/>
                    </a:solidFill>
                  </a:tcPr>
                </a:tc>
              </a:tr>
              <a:tr h="299720">
                <a:tc>
                  <a:txBody>
                    <a:bodyPr/>
                    <a:lstStyle/>
                    <a:p>
                      <a:pPr indent="0" marL="0">
                        <a:lnSpc>
                          <a:spcPts val="1680"/>
                        </a:lnSpc>
                        <a:buNone/>
                      </a:pPr>
                      <a:r>
                        <a:rPr lang="en-US" sz="1200" dirty="0">
                          <a:solidFill>
                            <a:srgbClr val="1C2733"/>
                          </a:solidFill>
                          <a:latin typeface="IBM Plex Sans" pitchFamily="34" charset="0"/>
                          <a:ea typeface="IBM Plex Sans" pitchFamily="34" charset="-122"/>
                          <a:cs typeface="IBM Plex Sans" pitchFamily="34" charset="-120"/>
                        </a:rPr>
                        <a:t>1</a:t>
                      </a:r>
                      <a:endParaRPr lang="en-US" sz="1200" dirty="0">
                        <a:latin typeface="IBM Plex Sans" charset="0"/>
                        <a:ea typeface="IBM Plex Sans" charset="0"/>
                        <a:cs typeface="IBM Plex Sans" charset="0"/>
                      </a:endParaRPr>
                    </a:p>
                  </a:txBody>
                  <a:tcPr marL="76200" marR="76200" marT="38100" marB="38100" anchor="t">
                    <a:lnL w="12700" cap="flat" cmpd="sng" algn="ctr">
                      <a:solidFill>
                        <a:srgbClr val="C7C7C3"/>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A232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C2733"/>
                          </a:solidFill>
                          <a:latin typeface="IBM Plex Sans" pitchFamily="34" charset="0"/>
                          <a:ea typeface="IBM Plex Sans" pitchFamily="34" charset="-122"/>
                          <a:cs typeface="IBM Plex Sans" pitchFamily="34" charset="-120"/>
                        </a:rPr>
                        <a:t>{W}</a:t>
                      </a:r>
                      <a:endParaRPr lang="en-US" sz="1200" dirty="0">
                        <a:latin typeface="IBM Plex Sans" charset="0"/>
                        <a:ea typeface="IBM Plex Sans" charset="0"/>
                        <a:cs typeface="IBM Plex Sans"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A232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r" indent="0" marL="0">
                        <a:lnSpc>
                          <a:spcPts val="1680"/>
                        </a:lnSpc>
                        <a:buNone/>
                      </a:pPr>
                      <a:r>
                        <a:rPr lang="en-US" sz="1200" dirty="0">
                          <a:solidFill>
                            <a:srgbClr val="B8863B"/>
                          </a:solidFill>
                          <a:latin typeface="IBM Plex Sans" pitchFamily="34" charset="0"/>
                          <a:ea typeface="IBM Plex Sans" pitchFamily="34" charset="-122"/>
                          <a:cs typeface="IBM Plex Sans" pitchFamily="34" charset="-120"/>
                        </a:rPr>
                        <a:t>218</a:t>
                      </a:r>
                      <a:endParaRPr lang="en-US" sz="1200" dirty="0">
                        <a:latin typeface="IBM Plex Sans" charset="0"/>
                        <a:ea typeface="IBM Plex Sans" charset="0"/>
                        <a:cs typeface="IBM Plex Sans"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A232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299720">
                <a:tc>
                  <a:txBody>
                    <a:bodyPr/>
                    <a:lstStyle/>
                    <a:p>
                      <a:pPr indent="0" marL="0">
                        <a:lnSpc>
                          <a:spcPts val="1680"/>
                        </a:lnSpc>
                        <a:buNone/>
                      </a:pPr>
                      <a:r>
                        <a:rPr lang="en-US" sz="1200" dirty="0">
                          <a:solidFill>
                            <a:srgbClr val="1C2733"/>
                          </a:solidFill>
                          <a:latin typeface="IBM Plex Sans" pitchFamily="34" charset="0"/>
                          <a:ea typeface="IBM Plex Sans" pitchFamily="34" charset="-122"/>
                          <a:cs typeface="IBM Plex Sans" pitchFamily="34" charset="-120"/>
                        </a:rPr>
                        <a:t>2</a:t>
                      </a:r>
                      <a:endParaRPr lang="en-US" sz="1200" dirty="0">
                        <a:latin typeface="IBM Plex Sans" charset="0"/>
                        <a:ea typeface="IBM Plex Sans" charset="0"/>
                        <a:cs typeface="IBM Plex Sans" charset="0"/>
                      </a:endParaRPr>
                    </a:p>
                  </a:txBody>
                  <a:tcPr marL="76200" marR="76200" marT="38100" marB="38100" anchor="t">
                    <a:lnL w="12700" cap="flat" cmpd="sng" algn="ctr">
                      <a:solidFill>
                        <a:srgbClr val="C7C7C3"/>
                      </a:solidFill>
                      <a:prstDash val="solid"/>
                      <a:round/>
                      <a:headEnd type="none" w="med" len="med"/>
                      <a:tailEnd type="none" w="med" len="med"/>
                    </a:lnL>
                    <a:lnR w="12700" cap="flat" cmpd="sng" algn="ctr">
                      <a:solidFill>
                        <a:srgbClr val="C0BDB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c>
                  <a:txBody>
                    <a:bodyPr/>
                    <a:lstStyle/>
                    <a:p>
                      <a:pPr indent="0" marL="0">
                        <a:lnSpc>
                          <a:spcPts val="1680"/>
                        </a:lnSpc>
                        <a:buNone/>
                      </a:pPr>
                      <a:r>
                        <a:rPr lang="en-US" sz="1200" dirty="0">
                          <a:solidFill>
                            <a:srgbClr val="1C2733"/>
                          </a:solidFill>
                          <a:latin typeface="IBM Plex Sans" pitchFamily="34" charset="0"/>
                          <a:ea typeface="IBM Plex Sans" pitchFamily="34" charset="-122"/>
                          <a:cs typeface="IBM Plex Sans" pitchFamily="34" charset="-120"/>
                        </a:rPr>
                        <a:t>{P,R}</a:t>
                      </a:r>
                      <a:endParaRPr lang="en-US" sz="1200" dirty="0">
                        <a:latin typeface="IBM Plex Sans" charset="0"/>
                        <a:ea typeface="IBM Plex Sans" charset="0"/>
                        <a:cs typeface="IBM Plex Sans" charset="0"/>
                      </a:endParaRPr>
                    </a:p>
                  </a:txBody>
                  <a:tcPr marL="76200" marR="76200" marT="38100" marB="38100" anchor="t">
                    <a:lnL w="12700" cap="flat" cmpd="sng" algn="ctr">
                      <a:solidFill>
                        <a:srgbClr val="C0BDB7"/>
                      </a:solidFill>
                      <a:prstDash val="solid"/>
                      <a:round/>
                      <a:headEnd type="none" w="med" len="med"/>
                      <a:tailEnd type="none" w="med" len="med"/>
                    </a:lnL>
                    <a:lnR w="12700" cap="flat" cmpd="sng" algn="ctr">
                      <a:solidFill>
                        <a:srgbClr val="C0BDB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c>
                  <a:txBody>
                    <a:bodyPr/>
                    <a:lstStyle/>
                    <a:p>
                      <a:pPr algn="r" indent="0" marL="0">
                        <a:lnSpc>
                          <a:spcPts val="1680"/>
                        </a:lnSpc>
                        <a:buNone/>
                      </a:pPr>
                      <a:r>
                        <a:rPr lang="en-US" sz="1200" dirty="0">
                          <a:solidFill>
                            <a:srgbClr val="1C2733"/>
                          </a:solidFill>
                          <a:latin typeface="IBM Plex Sans" pitchFamily="34" charset="0"/>
                          <a:ea typeface="IBM Plex Sans" pitchFamily="34" charset="-122"/>
                          <a:cs typeface="IBM Plex Sans" pitchFamily="34" charset="-120"/>
                        </a:rPr>
                        <a:t>157</a:t>
                      </a:r>
                      <a:endParaRPr lang="en-US" sz="1200" dirty="0">
                        <a:latin typeface="IBM Plex Sans" charset="0"/>
                        <a:ea typeface="IBM Plex Sans" charset="0"/>
                        <a:cs typeface="IBM Plex Sans" charset="0"/>
                      </a:endParaRPr>
                    </a:p>
                  </a:txBody>
                  <a:tcPr marL="76200" marR="76200" marT="38100" marB="38100" anchor="t">
                    <a:lnL w="12700" cap="flat" cmpd="sng" algn="ctr">
                      <a:solidFill>
                        <a:srgbClr val="C0BDB7"/>
                      </a:solidFill>
                      <a:prstDash val="solid"/>
                      <a:round/>
                      <a:headEnd type="none" w="med" len="med"/>
                      <a:tailEnd type="none" w="med" len="med"/>
                    </a:lnL>
                    <a:lnR w="12700" cap="flat" cmpd="sng" algn="ctr">
                      <a:solidFill>
                        <a:srgbClr val="C0BDB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r>
              <a:tr h="299720">
                <a:tc>
                  <a:txBody>
                    <a:bodyPr/>
                    <a:lstStyle/>
                    <a:p>
                      <a:pPr indent="0" marL="0">
                        <a:lnSpc>
                          <a:spcPts val="1680"/>
                        </a:lnSpc>
                        <a:buNone/>
                      </a:pPr>
                      <a:r>
                        <a:rPr lang="en-US" sz="1200" dirty="0">
                          <a:solidFill>
                            <a:srgbClr val="1C2733"/>
                          </a:solidFill>
                          <a:latin typeface="IBM Plex Sans" pitchFamily="34" charset="0"/>
                          <a:ea typeface="IBM Plex Sans" pitchFamily="34" charset="-122"/>
                          <a:cs typeface="IBM Plex Sans" pitchFamily="34" charset="-120"/>
                        </a:rPr>
                        <a:t>3</a:t>
                      </a:r>
                      <a:endParaRPr lang="en-US" sz="1200" dirty="0">
                        <a:latin typeface="IBM Plex Sans" charset="0"/>
                        <a:ea typeface="IBM Plex Sans" charset="0"/>
                        <a:cs typeface="IBM Plex Sans" charset="0"/>
                      </a:endParaRPr>
                    </a:p>
                  </a:txBody>
                  <a:tcPr marL="76200" marR="76200" marT="38100" marB="38100" anchor="t">
                    <a:lnL w="12700" cap="flat" cmpd="sng" algn="ctr">
                      <a:solidFill>
                        <a:srgbClr val="C7C7C3"/>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BDB7"/>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C2733"/>
                          </a:solidFill>
                          <a:latin typeface="IBM Plex Sans" pitchFamily="34" charset="0"/>
                          <a:ea typeface="IBM Plex Sans" pitchFamily="34" charset="-122"/>
                          <a:cs typeface="IBM Plex Sans" pitchFamily="34" charset="-120"/>
                        </a:rPr>
                        <a:t>{P,Q,R}</a:t>
                      </a:r>
                      <a:endParaRPr lang="en-US" sz="1200" dirty="0">
                        <a:latin typeface="IBM Plex Sans" charset="0"/>
                        <a:ea typeface="IBM Plex Sans" charset="0"/>
                        <a:cs typeface="IBM Plex Sans"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BDB7"/>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r" indent="0" marL="0">
                        <a:lnSpc>
                          <a:spcPts val="1680"/>
                        </a:lnSpc>
                        <a:buNone/>
                      </a:pPr>
                      <a:r>
                        <a:rPr lang="en-US" sz="1200" dirty="0">
                          <a:solidFill>
                            <a:srgbClr val="1C2733"/>
                          </a:solidFill>
                          <a:latin typeface="IBM Plex Sans" pitchFamily="34" charset="0"/>
                          <a:ea typeface="IBM Plex Sans" pitchFamily="34" charset="-122"/>
                          <a:cs typeface="IBM Plex Sans" pitchFamily="34" charset="-120"/>
                        </a:rPr>
                        <a:t>108</a:t>
                      </a:r>
                      <a:endParaRPr lang="en-US" sz="1200" dirty="0">
                        <a:latin typeface="IBM Plex Sans" charset="0"/>
                        <a:ea typeface="IBM Plex Sans" charset="0"/>
                        <a:cs typeface="IBM Plex Sans"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BDB7"/>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299720">
                <a:tc>
                  <a:txBody>
                    <a:bodyPr/>
                    <a:lstStyle/>
                    <a:p>
                      <a:pPr indent="0" marL="0">
                        <a:lnSpc>
                          <a:spcPts val="1680"/>
                        </a:lnSpc>
                        <a:buNone/>
                      </a:pPr>
                      <a:r>
                        <a:rPr lang="en-US" sz="1200" dirty="0">
                          <a:solidFill>
                            <a:srgbClr val="1C2733"/>
                          </a:solidFill>
                          <a:latin typeface="IBM Plex Sans" pitchFamily="34" charset="0"/>
                          <a:ea typeface="IBM Plex Sans" pitchFamily="34" charset="-122"/>
                          <a:cs typeface="IBM Plex Sans" pitchFamily="34" charset="-120"/>
                        </a:rPr>
                        <a:t>4</a:t>
                      </a:r>
                      <a:endParaRPr lang="en-US" sz="1200" dirty="0">
                        <a:latin typeface="IBM Plex Sans" charset="0"/>
                        <a:ea typeface="IBM Plex Sans" charset="0"/>
                        <a:cs typeface="IBM Plex Sans" charset="0"/>
                      </a:endParaRPr>
                    </a:p>
                  </a:txBody>
                  <a:tcPr marL="76200" marR="76200" marT="38100" marB="38100" anchor="t">
                    <a:lnL w="12700" cap="flat" cmpd="sng" algn="ctr">
                      <a:solidFill>
                        <a:srgbClr val="C7C7C3"/>
                      </a:solidFill>
                      <a:prstDash val="solid"/>
                      <a:round/>
                      <a:headEnd type="none" w="med" len="med"/>
                      <a:tailEnd type="none" w="med" len="med"/>
                    </a:lnL>
                    <a:lnR w="12700" cap="flat" cmpd="sng" algn="ctr">
                      <a:solidFill>
                        <a:srgbClr val="C0BDB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c>
                  <a:txBody>
                    <a:bodyPr/>
                    <a:lstStyle/>
                    <a:p>
                      <a:pPr indent="0" marL="0">
                        <a:lnSpc>
                          <a:spcPts val="1680"/>
                        </a:lnSpc>
                        <a:buNone/>
                      </a:pPr>
                      <a:r>
                        <a:rPr lang="en-US" sz="1200" dirty="0">
                          <a:solidFill>
                            <a:srgbClr val="1C2733"/>
                          </a:solidFill>
                          <a:latin typeface="IBM Plex Sans" pitchFamily="34" charset="0"/>
                          <a:ea typeface="IBM Plex Sans" pitchFamily="34" charset="-122"/>
                          <a:cs typeface="IBM Plex Sans" pitchFamily="34" charset="-120"/>
                        </a:rPr>
                        <a:t>{P}</a:t>
                      </a:r>
                      <a:endParaRPr lang="en-US" sz="1200" dirty="0">
                        <a:latin typeface="IBM Plex Sans" charset="0"/>
                        <a:ea typeface="IBM Plex Sans" charset="0"/>
                        <a:cs typeface="IBM Plex Sans" charset="0"/>
                      </a:endParaRPr>
                    </a:p>
                  </a:txBody>
                  <a:tcPr marL="76200" marR="76200" marT="38100" marB="38100" anchor="t">
                    <a:lnL w="12700" cap="flat" cmpd="sng" algn="ctr">
                      <a:solidFill>
                        <a:srgbClr val="C0BDB7"/>
                      </a:solidFill>
                      <a:prstDash val="solid"/>
                      <a:round/>
                      <a:headEnd type="none" w="med" len="med"/>
                      <a:tailEnd type="none" w="med" len="med"/>
                    </a:lnL>
                    <a:lnR w="12700" cap="flat" cmpd="sng" algn="ctr">
                      <a:solidFill>
                        <a:srgbClr val="C0BDB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c>
                  <a:txBody>
                    <a:bodyPr/>
                    <a:lstStyle/>
                    <a:p>
                      <a:pPr algn="r" indent="0" marL="0">
                        <a:lnSpc>
                          <a:spcPts val="1680"/>
                        </a:lnSpc>
                        <a:buNone/>
                      </a:pPr>
                      <a:r>
                        <a:rPr lang="en-US" sz="1200" dirty="0">
                          <a:solidFill>
                            <a:srgbClr val="1C2733"/>
                          </a:solidFill>
                          <a:latin typeface="IBM Plex Sans" pitchFamily="34" charset="0"/>
                          <a:ea typeface="IBM Plex Sans" pitchFamily="34" charset="-122"/>
                          <a:cs typeface="IBM Plex Sans" pitchFamily="34" charset="-120"/>
                        </a:rPr>
                        <a:t>99</a:t>
                      </a:r>
                      <a:endParaRPr lang="en-US" sz="1200" dirty="0">
                        <a:latin typeface="IBM Plex Sans" charset="0"/>
                        <a:ea typeface="IBM Plex Sans" charset="0"/>
                        <a:cs typeface="IBM Plex Sans" charset="0"/>
                      </a:endParaRPr>
                    </a:p>
                  </a:txBody>
                  <a:tcPr marL="76200" marR="76200" marT="38100" marB="38100" anchor="t">
                    <a:lnL w="12700" cap="flat" cmpd="sng" algn="ctr">
                      <a:solidFill>
                        <a:srgbClr val="C0BDB7"/>
                      </a:solidFill>
                      <a:prstDash val="solid"/>
                      <a:round/>
                      <a:headEnd type="none" w="med" len="med"/>
                      <a:tailEnd type="none" w="med" len="med"/>
                    </a:lnL>
                    <a:lnR w="12700" cap="flat" cmpd="sng" algn="ctr">
                      <a:solidFill>
                        <a:srgbClr val="C0BDB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r>
              <a:tr h="299720">
                <a:tc>
                  <a:txBody>
                    <a:bodyPr/>
                    <a:lstStyle/>
                    <a:p>
                      <a:pPr indent="0" marL="0">
                        <a:lnSpc>
                          <a:spcPts val="1680"/>
                        </a:lnSpc>
                        <a:buNone/>
                      </a:pPr>
                      <a:r>
                        <a:rPr lang="en-US" sz="1200" dirty="0">
                          <a:solidFill>
                            <a:srgbClr val="1C2733"/>
                          </a:solidFill>
                          <a:latin typeface="IBM Plex Sans" pitchFamily="34" charset="0"/>
                          <a:ea typeface="IBM Plex Sans" pitchFamily="34" charset="-122"/>
                          <a:cs typeface="IBM Plex Sans" pitchFamily="34" charset="-120"/>
                        </a:rPr>
                        <a:t>5</a:t>
                      </a:r>
                      <a:endParaRPr lang="en-US" sz="1200" dirty="0">
                        <a:latin typeface="IBM Plex Sans" charset="0"/>
                        <a:ea typeface="IBM Plex Sans" charset="0"/>
                        <a:cs typeface="IBM Plex Sans" charset="0"/>
                      </a:endParaRPr>
                    </a:p>
                  </a:txBody>
                  <a:tcPr marL="76200" marR="76200" marT="38100" marB="38100" anchor="t">
                    <a:lnL w="12700" cap="flat" cmpd="sng" algn="ctr">
                      <a:solidFill>
                        <a:srgbClr val="C7C7C3"/>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BDB7"/>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C2733"/>
                          </a:solidFill>
                          <a:latin typeface="IBM Plex Sans" pitchFamily="34" charset="0"/>
                          <a:ea typeface="IBM Plex Sans" pitchFamily="34" charset="-122"/>
                          <a:cs typeface="IBM Plex Sans" pitchFamily="34" charset="-120"/>
                        </a:rPr>
                        <a:t>{P,Q}</a:t>
                      </a:r>
                      <a:endParaRPr lang="en-US" sz="1200" dirty="0">
                        <a:latin typeface="IBM Plex Sans" charset="0"/>
                        <a:ea typeface="IBM Plex Sans" charset="0"/>
                        <a:cs typeface="IBM Plex Sans"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BDB7"/>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r" indent="0" marL="0">
                        <a:lnSpc>
                          <a:spcPts val="1680"/>
                        </a:lnSpc>
                        <a:buNone/>
                      </a:pPr>
                      <a:r>
                        <a:rPr lang="en-US" sz="1200" dirty="0">
                          <a:solidFill>
                            <a:srgbClr val="1C2733"/>
                          </a:solidFill>
                          <a:latin typeface="IBM Plex Sans" pitchFamily="34" charset="0"/>
                          <a:ea typeface="IBM Plex Sans" pitchFamily="34" charset="-122"/>
                          <a:cs typeface="IBM Plex Sans" pitchFamily="34" charset="-120"/>
                        </a:rPr>
                        <a:t>98</a:t>
                      </a:r>
                      <a:endParaRPr lang="en-US" sz="1200" dirty="0">
                        <a:latin typeface="IBM Plex Sans" charset="0"/>
                        <a:ea typeface="IBM Plex Sans" charset="0"/>
                        <a:cs typeface="IBM Plex Sans"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BDB7"/>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299720">
                <a:tc>
                  <a:txBody>
                    <a:bodyPr/>
                    <a:lstStyle/>
                    <a:p>
                      <a:pPr indent="0" marL="0">
                        <a:lnSpc>
                          <a:spcPts val="1680"/>
                        </a:lnSpc>
                        <a:buNone/>
                      </a:pPr>
                      <a:r>
                        <a:rPr lang="en-US" sz="1200" dirty="0">
                          <a:solidFill>
                            <a:srgbClr val="1C2733"/>
                          </a:solidFill>
                          <a:latin typeface="IBM Plex Sans" pitchFamily="34" charset="0"/>
                          <a:ea typeface="IBM Plex Sans" pitchFamily="34" charset="-122"/>
                          <a:cs typeface="IBM Plex Sans" pitchFamily="34" charset="-120"/>
                        </a:rPr>
                        <a:t>6</a:t>
                      </a:r>
                      <a:endParaRPr lang="en-US" sz="1200" dirty="0">
                        <a:latin typeface="IBM Plex Sans" charset="0"/>
                        <a:ea typeface="IBM Plex Sans" charset="0"/>
                        <a:cs typeface="IBM Plex Sans" charset="0"/>
                      </a:endParaRPr>
                    </a:p>
                  </a:txBody>
                  <a:tcPr marL="76200" marR="76200" marT="38100" marB="38100" anchor="t">
                    <a:lnL w="12700" cap="flat" cmpd="sng" algn="ctr">
                      <a:solidFill>
                        <a:srgbClr val="C7C7C3"/>
                      </a:solidFill>
                      <a:prstDash val="solid"/>
                      <a:round/>
                      <a:headEnd type="none" w="med" len="med"/>
                      <a:tailEnd type="none" w="med" len="med"/>
                    </a:lnL>
                    <a:lnR w="12700" cap="flat" cmpd="sng" algn="ctr">
                      <a:solidFill>
                        <a:srgbClr val="C0BDB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c>
                  <a:txBody>
                    <a:bodyPr/>
                    <a:lstStyle/>
                    <a:p>
                      <a:pPr indent="0" marL="0">
                        <a:lnSpc>
                          <a:spcPts val="1680"/>
                        </a:lnSpc>
                        <a:buNone/>
                      </a:pPr>
                      <a:r>
                        <a:rPr lang="en-US" sz="1200" dirty="0">
                          <a:solidFill>
                            <a:srgbClr val="1C2733"/>
                          </a:solidFill>
                          <a:latin typeface="IBM Plex Sans" pitchFamily="34" charset="0"/>
                          <a:ea typeface="IBM Plex Sans" pitchFamily="34" charset="-122"/>
                          <a:cs typeface="IBM Plex Sans" pitchFamily="34" charset="-120"/>
                        </a:rPr>
                        <a:t>{a,b,f}</a:t>
                      </a:r>
                      <a:endParaRPr lang="en-US" sz="1200" dirty="0">
                        <a:latin typeface="IBM Plex Sans" charset="0"/>
                        <a:ea typeface="IBM Plex Sans" charset="0"/>
                        <a:cs typeface="IBM Plex Sans" charset="0"/>
                      </a:endParaRPr>
                    </a:p>
                  </a:txBody>
                  <a:tcPr marL="76200" marR="76200" marT="38100" marB="38100" anchor="t">
                    <a:lnL w="12700" cap="flat" cmpd="sng" algn="ctr">
                      <a:solidFill>
                        <a:srgbClr val="C0BDB7"/>
                      </a:solidFill>
                      <a:prstDash val="solid"/>
                      <a:round/>
                      <a:headEnd type="none" w="med" len="med"/>
                      <a:tailEnd type="none" w="med" len="med"/>
                    </a:lnL>
                    <a:lnR w="12700" cap="flat" cmpd="sng" algn="ctr">
                      <a:solidFill>
                        <a:srgbClr val="C0BDB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c>
                  <a:txBody>
                    <a:bodyPr/>
                    <a:lstStyle/>
                    <a:p>
                      <a:pPr algn="r" indent="0" marL="0">
                        <a:lnSpc>
                          <a:spcPts val="1680"/>
                        </a:lnSpc>
                        <a:buNone/>
                      </a:pPr>
                      <a:r>
                        <a:rPr lang="en-US" sz="1200" dirty="0">
                          <a:solidFill>
                            <a:srgbClr val="1C2733"/>
                          </a:solidFill>
                          <a:latin typeface="IBM Plex Sans" pitchFamily="34" charset="0"/>
                          <a:ea typeface="IBM Plex Sans" pitchFamily="34" charset="-122"/>
                          <a:cs typeface="IBM Plex Sans" pitchFamily="34" charset="-120"/>
                        </a:rPr>
                        <a:t>97</a:t>
                      </a:r>
                      <a:endParaRPr lang="en-US" sz="1200" dirty="0">
                        <a:latin typeface="IBM Plex Sans" charset="0"/>
                        <a:ea typeface="IBM Plex Sans" charset="0"/>
                        <a:cs typeface="IBM Plex Sans" charset="0"/>
                      </a:endParaRPr>
                    </a:p>
                  </a:txBody>
                  <a:tcPr marL="76200" marR="76200" marT="38100" marB="38100" anchor="t">
                    <a:lnL w="12700" cap="flat" cmpd="sng" algn="ctr">
                      <a:solidFill>
                        <a:srgbClr val="C0BDB7"/>
                      </a:solidFill>
                      <a:prstDash val="solid"/>
                      <a:round/>
                      <a:headEnd type="none" w="med" len="med"/>
                      <a:tailEnd type="none" w="med" len="med"/>
                    </a:lnL>
                    <a:lnR w="12700" cap="flat" cmpd="sng" algn="ctr">
                      <a:solidFill>
                        <a:srgbClr val="C0BDB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r>
            </a:tbl>
          </a:graphicData>
        </a:graphic>
      </p:graphicFrame>
      <p:sp>
        <p:nvSpPr>
          <p:cNvPr id="32" name="Text 24"/>
          <p:cNvSpPr/>
          <p:nvPr/>
        </p:nvSpPr>
        <p:spPr>
          <a:xfrm>
            <a:off x="812800" y="6238239"/>
            <a:ext cx="45545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199"/>
                </a:solidFill>
                <a:latin typeface="IBM Plex Sans" pitchFamily="34" charset="0"/>
                <a:ea typeface="IBM Plex Sans" pitchFamily="34" charset="-122"/>
                <a:cs typeface="IBM Plex Sans" pitchFamily="34" charset="-120"/>
              </a:rPr>
              <a:t>5 / 34</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863B"/>
                </a:solidFill>
                <a:latin typeface="IBM Plex Sans" pitchFamily="34" charset="0"/>
                <a:ea typeface="IBM Plex Sans" pitchFamily="34" charset="-122"/>
                <a:cs typeface="IBM Plex Sans" pitchFamily="34" charset="-120"/>
              </a:rPr>
              <a:t>CHIẾN LƯỢC 1 / 4</a:t>
            </a:r>
            <a:endParaRPr lang="en-US" sz="1200" dirty="0"/>
          </a:p>
        </p:txBody>
      </p:sp>
      <p:sp>
        <p:nvSpPr>
          <p:cNvPr id="3" name="Text 1"/>
          <p:cNvSpPr/>
          <p:nvPr/>
        </p:nvSpPr>
        <p:spPr>
          <a:xfrm>
            <a:off x="812800" y="1076961"/>
            <a:ext cx="10883392" cy="34671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C2733"/>
                </a:solidFill>
                <a:latin typeface="EB Garamond" pitchFamily="34" charset="0"/>
                <a:ea typeface="EB Garamond" pitchFamily="34" charset="-122"/>
                <a:cs typeface="EB Garamond" pitchFamily="34" charset="-120"/>
              </a:rPr>
              <a:t>Sắp xếp ưu tiên khoản mục cấp cao</a:t>
            </a:r>
            <a:endParaRPr lang="en-US" sz="2200" dirty="0"/>
          </a:p>
        </p:txBody>
      </p:sp>
      <p:sp>
        <p:nvSpPr>
          <p:cNvPr id="4" name="Text 2"/>
          <p:cNvSpPr/>
          <p:nvPr/>
        </p:nvSpPr>
        <p:spPr>
          <a:xfrm>
            <a:off x="812800" y="1537971"/>
            <a:ext cx="10883392"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4A5568"/>
                </a:solidFill>
                <a:latin typeface="IBM Plex Sans" pitchFamily="34" charset="0"/>
                <a:ea typeface="IBM Plex Sans" pitchFamily="34" charset="-122"/>
                <a:cs typeface="IBM Plex Sans" pitchFamily="34" charset="-120"/>
              </a:rPr>
              <a:t>Quy tắc sắp xếp (Strategy 1): (1) khác cấp độ → cấp độ </a:t>
            </a:r>
            <a:r>
              <a:rPr lang="en-US" sz="1250" b="1" dirty="0">
                <a:solidFill>
                  <a:srgbClr val="4A5568"/>
                </a:solidFill>
                <a:latin typeface="IBM Plex Sans" pitchFamily="34" charset="0"/>
                <a:ea typeface="IBM Plex Sans" pitchFamily="34" charset="-122"/>
                <a:cs typeface="IBM Plex Sans" pitchFamily="34" charset="-120"/>
              </a:rPr>
              <a:t>CAO hơn</a:t>
            </a:r>
            <a:r>
              <a:rPr lang="en-US" sz="1250" dirty="0">
                <a:solidFill>
                  <a:srgbClr val="4A5568"/>
                </a:solidFill>
                <a:latin typeface="IBM Plex Sans" pitchFamily="34" charset="0"/>
                <a:ea typeface="IBM Plex Sans" pitchFamily="34" charset="-122"/>
                <a:cs typeface="IBM Plex Sans" pitchFamily="34" charset="-120"/>
              </a:rPr>
              <a:t> xếp trước; (2) cùng cấp độ → xếp theo </a:t>
            </a:r>
            <a:r>
              <a:rPr lang="en-US" sz="1250" b="1" dirty="0">
                <a:solidFill>
                  <a:srgbClr val="4A5568"/>
                </a:solidFill>
                <a:latin typeface="IBM Plex Sans" pitchFamily="34" charset="0"/>
                <a:ea typeface="IBM Plex Sans" pitchFamily="34" charset="-122"/>
                <a:cs typeface="IBM Plex Sans" pitchFamily="34" charset="-120"/>
              </a:rPr>
              <a:t>GTWU tăng dần</a:t>
            </a:r>
            <a:r>
              <a:rPr lang="en-US" sz="1250" dirty="0">
                <a:solidFill>
                  <a:srgbClr val="4A5568"/>
                </a:solidFill>
                <a:latin typeface="IBM Plex Sans" pitchFamily="34" charset="0"/>
                <a:ea typeface="IBM Plex Sans" pitchFamily="34" charset="-122"/>
                <a:cs typeface="IBM Plex Sans" pitchFamily="34" charset="-120"/>
              </a:rPr>
              <a:t>.</a:t>
            </a:r>
            <a:endParaRPr lang="en-US" sz="12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1910081"/>
          <a:ext cx="10556240" cy="711200"/>
        </p:xfrm>
        <a:graphic>
          <a:graphicData uri="http://schemas.openxmlformats.org/drawingml/2006/table">
            <a:tbl>
              <a:tblPr/>
              <a:tblGrid>
                <a:gridCol w="1055624"/>
                <a:gridCol w="1055624"/>
                <a:gridCol w="1055624"/>
                <a:gridCol w="1055624"/>
                <a:gridCol w="1055624"/>
                <a:gridCol w="1055624"/>
                <a:gridCol w="1055624"/>
                <a:gridCol w="1055624"/>
                <a:gridCol w="1055624"/>
                <a:gridCol w="1055624"/>
              </a:tblGrid>
              <a:tr h="355600">
                <a:tc>
                  <a:txBody>
                    <a:bodyPr/>
                    <a:lstStyle/>
                    <a:p>
                      <a:pPr algn="ctr" indent="0" marL="0">
                        <a:lnSpc>
                          <a:spcPts val="1820"/>
                        </a:lnSpc>
                        <a:buNone/>
                      </a:pPr>
                      <a:r>
                        <a:rPr lang="en-US" sz="1300" b="1" dirty="0">
                          <a:solidFill>
                            <a:srgbClr val="FAF9F5"/>
                          </a:solidFill>
                          <a:latin typeface="IBM Plex Sans" pitchFamily="34" charset="0"/>
                          <a:ea typeface="IBM Plex Sans" pitchFamily="34" charset="-122"/>
                          <a:cs typeface="IBM Plex Sans" pitchFamily="34" charset="-120"/>
                        </a:rPr>
                        <a:t>W</a:t>
                      </a:r>
                      <a:endParaRPr lang="en-US" sz="1300" dirty="0">
                        <a:latin typeface="IBM Plex Sans" charset="0"/>
                        <a:ea typeface="IBM Plex Sans" charset="0"/>
                        <a:cs typeface="IBM Plex Sans" charset="0"/>
                      </a:endParaRPr>
                    </a:p>
                  </a:txBody>
                  <a:tcPr marL="50800" marR="50800" marT="57150" marB="57150" anchor="t">
                    <a:lnL w="12700" cap="flat" cmpd="sng" algn="ctr">
                      <a:solidFill>
                        <a:srgbClr val="C7C7C3"/>
                      </a:solidFill>
                      <a:prstDash val="solid"/>
                      <a:round/>
                      <a:headEnd type="none" w="med" len="med"/>
                      <a:tailEnd type="none" w="med" len="med"/>
                    </a:lnL>
                    <a:lnR w="12700" cap="flat" cmpd="sng" algn="ctr">
                      <a:solidFill>
                        <a:srgbClr val="1A232C"/>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1A232C"/>
                      </a:solidFill>
                      <a:prstDash val="solid"/>
                      <a:round/>
                      <a:headEnd type="none" w="med" len="med"/>
                      <a:tailEnd type="none" w="med" len="med"/>
                    </a:lnB>
                    <a:solidFill>
                      <a:srgbClr val="1C2733"/>
                    </a:solidFill>
                  </a:tcPr>
                </a:tc>
                <a:tc>
                  <a:txBody>
                    <a:bodyPr/>
                    <a:lstStyle/>
                    <a:p>
                      <a:pPr algn="ctr" indent="0" marL="0">
                        <a:lnSpc>
                          <a:spcPts val="1820"/>
                        </a:lnSpc>
                        <a:buNone/>
                      </a:pPr>
                      <a:r>
                        <a:rPr lang="en-US" sz="1300" b="1" dirty="0">
                          <a:solidFill>
                            <a:srgbClr val="FAF9F5"/>
                          </a:solidFill>
                          <a:latin typeface="IBM Plex Sans" pitchFamily="34" charset="0"/>
                          <a:ea typeface="IBM Plex Sans" pitchFamily="34" charset="-122"/>
                          <a:cs typeface="IBM Plex Sans" pitchFamily="34" charset="-120"/>
                        </a:rPr>
                        <a:t>P</a:t>
                      </a:r>
                      <a:endParaRPr lang="en-US" sz="1300" dirty="0">
                        <a:latin typeface="IBM Plex Sans" charset="0"/>
                        <a:ea typeface="IBM Plex Sans" charset="0"/>
                        <a:cs typeface="IBM Plex Sans" charset="0"/>
                      </a:endParaRPr>
                    </a:p>
                  </a:txBody>
                  <a:tcPr marL="50800" marR="50800" marT="57150" marB="57150" anchor="t">
                    <a:lnL w="12700" cap="flat" cmpd="sng" algn="ctr">
                      <a:solidFill>
                        <a:srgbClr val="1A232C"/>
                      </a:solidFill>
                      <a:prstDash val="solid"/>
                      <a:round/>
                      <a:headEnd type="none" w="med" len="med"/>
                      <a:tailEnd type="none" w="med" len="med"/>
                    </a:lnL>
                    <a:lnR w="12700" cap="flat" cmpd="sng" algn="ctr">
                      <a:solidFill>
                        <a:srgbClr val="1A232C"/>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1A232C"/>
                      </a:solidFill>
                      <a:prstDash val="solid"/>
                      <a:round/>
                      <a:headEnd type="none" w="med" len="med"/>
                      <a:tailEnd type="none" w="med" len="med"/>
                    </a:lnB>
                    <a:solidFill>
                      <a:srgbClr val="1C2733"/>
                    </a:solidFill>
                  </a:tcPr>
                </a:tc>
                <a:tc>
                  <a:txBody>
                    <a:bodyPr/>
                    <a:lstStyle/>
                    <a:p>
                      <a:pPr algn="ctr" indent="0" marL="0">
                        <a:lnSpc>
                          <a:spcPts val="1820"/>
                        </a:lnSpc>
                        <a:buNone/>
                      </a:pPr>
                      <a:r>
                        <a:rPr lang="en-US" sz="1300" b="1" dirty="0">
                          <a:solidFill>
                            <a:srgbClr val="FAF9F5"/>
                          </a:solidFill>
                          <a:latin typeface="IBM Plex Sans" pitchFamily="34" charset="0"/>
                          <a:ea typeface="IBM Plex Sans" pitchFamily="34" charset="-122"/>
                          <a:cs typeface="IBM Plex Sans" pitchFamily="34" charset="-120"/>
                        </a:rPr>
                        <a:t>Q</a:t>
                      </a:r>
                      <a:endParaRPr lang="en-US" sz="1300" dirty="0">
                        <a:latin typeface="IBM Plex Sans" charset="0"/>
                        <a:ea typeface="IBM Plex Sans" charset="0"/>
                        <a:cs typeface="IBM Plex Sans" charset="0"/>
                      </a:endParaRPr>
                    </a:p>
                  </a:txBody>
                  <a:tcPr marL="50800" marR="50800" marT="57150" marB="57150" anchor="t">
                    <a:lnL w="12700" cap="flat" cmpd="sng" algn="ctr">
                      <a:solidFill>
                        <a:srgbClr val="1A232C"/>
                      </a:solidFill>
                      <a:prstDash val="solid"/>
                      <a:round/>
                      <a:headEnd type="none" w="med" len="med"/>
                      <a:tailEnd type="none" w="med" len="med"/>
                    </a:lnL>
                    <a:lnR w="12700" cap="flat" cmpd="sng" algn="ctr">
                      <a:solidFill>
                        <a:srgbClr val="1A232C"/>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1A232C"/>
                      </a:solidFill>
                      <a:prstDash val="solid"/>
                      <a:round/>
                      <a:headEnd type="none" w="med" len="med"/>
                      <a:tailEnd type="none" w="med" len="med"/>
                    </a:lnB>
                    <a:solidFill>
                      <a:srgbClr val="1C2733"/>
                    </a:solidFill>
                  </a:tcPr>
                </a:tc>
                <a:tc>
                  <a:txBody>
                    <a:bodyPr/>
                    <a:lstStyle/>
                    <a:p>
                      <a:pPr algn="ctr" indent="0" marL="0">
                        <a:lnSpc>
                          <a:spcPts val="1820"/>
                        </a:lnSpc>
                        <a:buNone/>
                      </a:pPr>
                      <a:r>
                        <a:rPr lang="en-US" sz="1300" b="1" dirty="0">
                          <a:solidFill>
                            <a:srgbClr val="FAF9F5"/>
                          </a:solidFill>
                          <a:latin typeface="IBM Plex Sans" pitchFamily="34" charset="0"/>
                          <a:ea typeface="IBM Plex Sans" pitchFamily="34" charset="-122"/>
                          <a:cs typeface="IBM Plex Sans" pitchFamily="34" charset="-120"/>
                        </a:rPr>
                        <a:t>R</a:t>
                      </a:r>
                      <a:endParaRPr lang="en-US" sz="1300" dirty="0">
                        <a:latin typeface="IBM Plex Sans" charset="0"/>
                        <a:ea typeface="IBM Plex Sans" charset="0"/>
                        <a:cs typeface="IBM Plex Sans" charset="0"/>
                      </a:endParaRPr>
                    </a:p>
                  </a:txBody>
                  <a:tcPr marL="50800" marR="50800" marT="57150" marB="57150" anchor="t">
                    <a:lnL w="12700" cap="flat" cmpd="sng" algn="ctr">
                      <a:solidFill>
                        <a:srgbClr val="1A232C"/>
                      </a:solidFill>
                      <a:prstDash val="solid"/>
                      <a:round/>
                      <a:headEnd type="none" w="med" len="med"/>
                      <a:tailEnd type="none" w="med" len="med"/>
                    </a:lnL>
                    <a:lnR w="12700" cap="flat" cmpd="sng" algn="ctr">
                      <a:solidFill>
                        <a:srgbClr val="1A232C"/>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1A232C"/>
                      </a:solidFill>
                      <a:prstDash val="solid"/>
                      <a:round/>
                      <a:headEnd type="none" w="med" len="med"/>
                      <a:tailEnd type="none" w="med" len="med"/>
                    </a:lnB>
                    <a:solidFill>
                      <a:srgbClr val="1C2733"/>
                    </a:solidFill>
                  </a:tcPr>
                </a:tc>
                <a:tc>
                  <a:txBody>
                    <a:bodyPr/>
                    <a:lstStyle/>
                    <a:p>
                      <a:pPr algn="ctr" indent="0" marL="0">
                        <a:lnSpc>
                          <a:spcPts val="1820"/>
                        </a:lnSpc>
                        <a:buNone/>
                      </a:pPr>
                      <a:r>
                        <a:rPr lang="en-US" sz="1300" b="1" dirty="0">
                          <a:solidFill>
                            <a:srgbClr val="FAF9F5"/>
                          </a:solidFill>
                          <a:latin typeface="IBM Plex Sans" pitchFamily="34" charset="0"/>
                          <a:ea typeface="IBM Plex Sans" pitchFamily="34" charset="-122"/>
                          <a:cs typeface="IBM Plex Sans" pitchFamily="34" charset="-120"/>
                        </a:rPr>
                        <a:t>a</a:t>
                      </a:r>
                      <a:endParaRPr lang="en-US" sz="1300" dirty="0">
                        <a:latin typeface="IBM Plex Sans" charset="0"/>
                        <a:ea typeface="IBM Plex Sans" charset="0"/>
                        <a:cs typeface="IBM Plex Sans" charset="0"/>
                      </a:endParaRPr>
                    </a:p>
                  </a:txBody>
                  <a:tcPr marL="50800" marR="50800" marT="57150" marB="57150" anchor="t">
                    <a:lnL w="12700" cap="flat" cmpd="sng" algn="ctr">
                      <a:solidFill>
                        <a:srgbClr val="1A232C"/>
                      </a:solidFill>
                      <a:prstDash val="solid"/>
                      <a:round/>
                      <a:headEnd type="none" w="med" len="med"/>
                      <a:tailEnd type="none" w="med" len="med"/>
                    </a:lnL>
                    <a:lnR w="12700" cap="flat" cmpd="sng" algn="ctr">
                      <a:solidFill>
                        <a:srgbClr val="1A232C"/>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1A232C"/>
                      </a:solidFill>
                      <a:prstDash val="solid"/>
                      <a:round/>
                      <a:headEnd type="none" w="med" len="med"/>
                      <a:tailEnd type="none" w="med" len="med"/>
                    </a:lnB>
                    <a:solidFill>
                      <a:srgbClr val="1C2733"/>
                    </a:solidFill>
                  </a:tcPr>
                </a:tc>
                <a:tc>
                  <a:txBody>
                    <a:bodyPr/>
                    <a:lstStyle/>
                    <a:p>
                      <a:pPr algn="ctr" indent="0" marL="0">
                        <a:lnSpc>
                          <a:spcPts val="1820"/>
                        </a:lnSpc>
                        <a:buNone/>
                      </a:pPr>
                      <a:r>
                        <a:rPr lang="en-US" sz="1300" b="1" dirty="0">
                          <a:solidFill>
                            <a:srgbClr val="FAF9F5"/>
                          </a:solidFill>
                          <a:latin typeface="IBM Plex Sans" pitchFamily="34" charset="0"/>
                          <a:ea typeface="IBM Plex Sans" pitchFamily="34" charset="-122"/>
                          <a:cs typeface="IBM Plex Sans" pitchFamily="34" charset="-120"/>
                        </a:rPr>
                        <a:t>b</a:t>
                      </a:r>
                      <a:endParaRPr lang="en-US" sz="1300" dirty="0">
                        <a:latin typeface="IBM Plex Sans" charset="0"/>
                        <a:ea typeface="IBM Plex Sans" charset="0"/>
                        <a:cs typeface="IBM Plex Sans" charset="0"/>
                      </a:endParaRPr>
                    </a:p>
                  </a:txBody>
                  <a:tcPr marL="50800" marR="50800" marT="57150" marB="57150" anchor="t">
                    <a:lnL w="12700" cap="flat" cmpd="sng" algn="ctr">
                      <a:solidFill>
                        <a:srgbClr val="1A232C"/>
                      </a:solidFill>
                      <a:prstDash val="solid"/>
                      <a:round/>
                      <a:headEnd type="none" w="med" len="med"/>
                      <a:tailEnd type="none" w="med" len="med"/>
                    </a:lnL>
                    <a:lnR w="12700" cap="flat" cmpd="sng" algn="ctr">
                      <a:solidFill>
                        <a:srgbClr val="1A232C"/>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1A232C"/>
                      </a:solidFill>
                      <a:prstDash val="solid"/>
                      <a:round/>
                      <a:headEnd type="none" w="med" len="med"/>
                      <a:tailEnd type="none" w="med" len="med"/>
                    </a:lnB>
                    <a:solidFill>
                      <a:srgbClr val="1C2733"/>
                    </a:solidFill>
                  </a:tcPr>
                </a:tc>
                <a:tc>
                  <a:txBody>
                    <a:bodyPr/>
                    <a:lstStyle/>
                    <a:p>
                      <a:pPr algn="ctr" indent="0" marL="0">
                        <a:lnSpc>
                          <a:spcPts val="1820"/>
                        </a:lnSpc>
                        <a:buNone/>
                      </a:pPr>
                      <a:r>
                        <a:rPr lang="en-US" sz="1300" b="1" dirty="0">
                          <a:solidFill>
                            <a:srgbClr val="FAF9F5"/>
                          </a:solidFill>
                          <a:latin typeface="IBM Plex Sans" pitchFamily="34" charset="0"/>
                          <a:ea typeface="IBM Plex Sans" pitchFamily="34" charset="-122"/>
                          <a:cs typeface="IBM Plex Sans" pitchFamily="34" charset="-120"/>
                        </a:rPr>
                        <a:t>c</a:t>
                      </a:r>
                      <a:endParaRPr lang="en-US" sz="1300" dirty="0">
                        <a:latin typeface="IBM Plex Sans" charset="0"/>
                        <a:ea typeface="IBM Plex Sans" charset="0"/>
                        <a:cs typeface="IBM Plex Sans" charset="0"/>
                      </a:endParaRPr>
                    </a:p>
                  </a:txBody>
                  <a:tcPr marL="50800" marR="50800" marT="57150" marB="57150" anchor="t">
                    <a:lnL w="12700" cap="flat" cmpd="sng" algn="ctr">
                      <a:solidFill>
                        <a:srgbClr val="1A232C"/>
                      </a:solidFill>
                      <a:prstDash val="solid"/>
                      <a:round/>
                      <a:headEnd type="none" w="med" len="med"/>
                      <a:tailEnd type="none" w="med" len="med"/>
                    </a:lnL>
                    <a:lnR w="12700" cap="flat" cmpd="sng" algn="ctr">
                      <a:solidFill>
                        <a:srgbClr val="1A232C"/>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1A232C"/>
                      </a:solidFill>
                      <a:prstDash val="solid"/>
                      <a:round/>
                      <a:headEnd type="none" w="med" len="med"/>
                      <a:tailEnd type="none" w="med" len="med"/>
                    </a:lnB>
                    <a:solidFill>
                      <a:srgbClr val="1C2733"/>
                    </a:solidFill>
                  </a:tcPr>
                </a:tc>
                <a:tc>
                  <a:txBody>
                    <a:bodyPr/>
                    <a:lstStyle/>
                    <a:p>
                      <a:pPr algn="ctr" indent="0" marL="0">
                        <a:lnSpc>
                          <a:spcPts val="1820"/>
                        </a:lnSpc>
                        <a:buNone/>
                      </a:pPr>
                      <a:r>
                        <a:rPr lang="en-US" sz="1300" b="1" dirty="0">
                          <a:solidFill>
                            <a:srgbClr val="FAF9F5"/>
                          </a:solidFill>
                          <a:latin typeface="IBM Plex Sans" pitchFamily="34" charset="0"/>
                          <a:ea typeface="IBM Plex Sans" pitchFamily="34" charset="-122"/>
                          <a:cs typeface="IBM Plex Sans" pitchFamily="34" charset="-120"/>
                        </a:rPr>
                        <a:t>d</a:t>
                      </a:r>
                      <a:endParaRPr lang="en-US" sz="1300" dirty="0">
                        <a:latin typeface="IBM Plex Sans" charset="0"/>
                        <a:ea typeface="IBM Plex Sans" charset="0"/>
                        <a:cs typeface="IBM Plex Sans" charset="0"/>
                      </a:endParaRPr>
                    </a:p>
                  </a:txBody>
                  <a:tcPr marL="50800" marR="50800" marT="57150" marB="57150" anchor="t">
                    <a:lnL w="12700" cap="flat" cmpd="sng" algn="ctr">
                      <a:solidFill>
                        <a:srgbClr val="1A232C"/>
                      </a:solidFill>
                      <a:prstDash val="solid"/>
                      <a:round/>
                      <a:headEnd type="none" w="med" len="med"/>
                      <a:tailEnd type="none" w="med" len="med"/>
                    </a:lnL>
                    <a:lnR w="12700" cap="flat" cmpd="sng" algn="ctr">
                      <a:solidFill>
                        <a:srgbClr val="1A232C"/>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1A232C"/>
                      </a:solidFill>
                      <a:prstDash val="solid"/>
                      <a:round/>
                      <a:headEnd type="none" w="med" len="med"/>
                      <a:tailEnd type="none" w="med" len="med"/>
                    </a:lnB>
                    <a:solidFill>
                      <a:srgbClr val="1C2733"/>
                    </a:solidFill>
                  </a:tcPr>
                </a:tc>
                <a:tc>
                  <a:txBody>
                    <a:bodyPr/>
                    <a:lstStyle/>
                    <a:p>
                      <a:pPr algn="ctr" indent="0" marL="0">
                        <a:lnSpc>
                          <a:spcPts val="1820"/>
                        </a:lnSpc>
                        <a:buNone/>
                      </a:pPr>
                      <a:r>
                        <a:rPr lang="en-US" sz="1300" b="1" dirty="0">
                          <a:solidFill>
                            <a:srgbClr val="FAF9F5"/>
                          </a:solidFill>
                          <a:latin typeface="IBM Plex Sans" pitchFamily="34" charset="0"/>
                          <a:ea typeface="IBM Plex Sans" pitchFamily="34" charset="-122"/>
                          <a:cs typeface="IBM Plex Sans" pitchFamily="34" charset="-120"/>
                        </a:rPr>
                        <a:t>e</a:t>
                      </a:r>
                      <a:endParaRPr lang="en-US" sz="1300" dirty="0">
                        <a:latin typeface="IBM Plex Sans" charset="0"/>
                        <a:ea typeface="IBM Plex Sans" charset="0"/>
                        <a:cs typeface="IBM Plex Sans" charset="0"/>
                      </a:endParaRPr>
                    </a:p>
                  </a:txBody>
                  <a:tcPr marL="50800" marR="50800" marT="57150" marB="57150" anchor="t">
                    <a:lnL w="12700" cap="flat" cmpd="sng" algn="ctr">
                      <a:solidFill>
                        <a:srgbClr val="1A232C"/>
                      </a:solidFill>
                      <a:prstDash val="solid"/>
                      <a:round/>
                      <a:headEnd type="none" w="med" len="med"/>
                      <a:tailEnd type="none" w="med" len="med"/>
                    </a:lnL>
                    <a:lnR w="12700" cap="flat" cmpd="sng" algn="ctr">
                      <a:solidFill>
                        <a:srgbClr val="1A232C"/>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1A232C"/>
                      </a:solidFill>
                      <a:prstDash val="solid"/>
                      <a:round/>
                      <a:headEnd type="none" w="med" len="med"/>
                      <a:tailEnd type="none" w="med" len="med"/>
                    </a:lnB>
                    <a:solidFill>
                      <a:srgbClr val="1C2733"/>
                    </a:solidFill>
                  </a:tcPr>
                </a:tc>
                <a:tc>
                  <a:txBody>
                    <a:bodyPr/>
                    <a:lstStyle/>
                    <a:p>
                      <a:pPr algn="ctr" indent="0" marL="0">
                        <a:lnSpc>
                          <a:spcPts val="1820"/>
                        </a:lnSpc>
                        <a:buNone/>
                      </a:pPr>
                      <a:r>
                        <a:rPr lang="en-US" sz="1300" b="1" dirty="0">
                          <a:solidFill>
                            <a:srgbClr val="FAF9F5"/>
                          </a:solidFill>
                          <a:latin typeface="IBM Plex Sans" pitchFamily="34" charset="0"/>
                          <a:ea typeface="IBM Plex Sans" pitchFamily="34" charset="-122"/>
                          <a:cs typeface="IBM Plex Sans" pitchFamily="34" charset="-120"/>
                        </a:rPr>
                        <a:t>f</a:t>
                      </a:r>
                      <a:endParaRPr lang="en-US" sz="1300" dirty="0">
                        <a:latin typeface="IBM Plex Sans" charset="0"/>
                        <a:ea typeface="IBM Plex Sans" charset="0"/>
                        <a:cs typeface="IBM Plex Sans" charset="0"/>
                      </a:endParaRPr>
                    </a:p>
                  </a:txBody>
                  <a:tcPr marL="50800" marR="50800" marT="57150" marB="57150" anchor="t">
                    <a:lnL w="12700" cap="flat" cmpd="sng" algn="ctr">
                      <a:solidFill>
                        <a:srgbClr val="1A232C"/>
                      </a:solidFill>
                      <a:prstDash val="solid"/>
                      <a:round/>
                      <a:headEnd type="none" w="med" len="med"/>
                      <a:tailEnd type="none" w="med" len="med"/>
                    </a:lnL>
                    <a:lnR w="12700" cap="flat" cmpd="sng" algn="ctr">
                      <a:solidFill>
                        <a:srgbClr val="1A232C"/>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1A232C"/>
                      </a:solidFill>
                      <a:prstDash val="solid"/>
                      <a:round/>
                      <a:headEnd type="none" w="med" len="med"/>
                      <a:tailEnd type="none" w="med" len="med"/>
                    </a:lnB>
                    <a:solidFill>
                      <a:srgbClr val="1C2733"/>
                    </a:solidFill>
                  </a:tcPr>
                </a:tc>
              </a:tr>
              <a:tr h="355600">
                <a:tc>
                  <a:txBody>
                    <a:bodyPr/>
                    <a:lstStyle/>
                    <a:p>
                      <a:pPr algn="ctr" indent="0" marL="0">
                        <a:lnSpc>
                          <a:spcPts val="1820"/>
                        </a:lnSpc>
                        <a:buNone/>
                      </a:pPr>
                      <a:r>
                        <a:rPr lang="en-US" sz="1300" dirty="0">
                          <a:solidFill>
                            <a:srgbClr val="1C2733"/>
                          </a:solidFill>
                          <a:latin typeface="IBM Plex Sans" pitchFamily="34" charset="0"/>
                          <a:ea typeface="IBM Plex Sans" pitchFamily="34" charset="-122"/>
                          <a:cs typeface="IBM Plex Sans" pitchFamily="34" charset="-120"/>
                        </a:rPr>
                        <a:t>218</a:t>
                      </a:r>
                      <a:endParaRPr lang="en-US" sz="1300" dirty="0">
                        <a:latin typeface="IBM Plex Sans" charset="0"/>
                        <a:ea typeface="IBM Plex Sans" charset="0"/>
                        <a:cs typeface="IBM Plex Sans" charset="0"/>
                      </a:endParaRPr>
                    </a:p>
                  </a:txBody>
                  <a:tcPr marL="50800" marR="50800" marT="57150" marB="57150" anchor="t">
                    <a:lnL w="12700" cap="flat" cmpd="sng" algn="ctr">
                      <a:solidFill>
                        <a:srgbClr val="C7C7C3"/>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A232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ctr" indent="0" marL="0">
                        <a:lnSpc>
                          <a:spcPts val="1820"/>
                        </a:lnSpc>
                        <a:buNone/>
                      </a:pPr>
                      <a:r>
                        <a:rPr lang="en-US" sz="1300" dirty="0">
                          <a:solidFill>
                            <a:srgbClr val="1C2733"/>
                          </a:solidFill>
                          <a:latin typeface="IBM Plex Sans" pitchFamily="34" charset="0"/>
                          <a:ea typeface="IBM Plex Sans" pitchFamily="34" charset="-122"/>
                          <a:cs typeface="IBM Plex Sans" pitchFamily="34" charset="-120"/>
                        </a:rPr>
                        <a:t>205</a:t>
                      </a:r>
                      <a:endParaRPr lang="en-US" sz="1300" dirty="0">
                        <a:latin typeface="IBM Plex Sans" charset="0"/>
                        <a:ea typeface="IBM Plex Sans" charset="0"/>
                        <a:cs typeface="IBM Plex Sans" charset="0"/>
                      </a:endParaRPr>
                    </a:p>
                  </a:txBody>
                  <a:tcPr marL="50800" marR="50800" marT="57150" marB="5715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A232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ctr" indent="0" marL="0">
                        <a:lnSpc>
                          <a:spcPts val="1820"/>
                        </a:lnSpc>
                        <a:buNone/>
                      </a:pPr>
                      <a:r>
                        <a:rPr lang="en-US" sz="1300" dirty="0">
                          <a:solidFill>
                            <a:srgbClr val="1C2733"/>
                          </a:solidFill>
                          <a:latin typeface="IBM Plex Sans" pitchFamily="34" charset="0"/>
                          <a:ea typeface="IBM Plex Sans" pitchFamily="34" charset="-122"/>
                          <a:cs typeface="IBM Plex Sans" pitchFamily="34" charset="-120"/>
                        </a:rPr>
                        <a:t>153</a:t>
                      </a:r>
                      <a:endParaRPr lang="en-US" sz="1300" dirty="0">
                        <a:latin typeface="IBM Plex Sans" charset="0"/>
                        <a:ea typeface="IBM Plex Sans" charset="0"/>
                        <a:cs typeface="IBM Plex Sans" charset="0"/>
                      </a:endParaRPr>
                    </a:p>
                  </a:txBody>
                  <a:tcPr marL="50800" marR="50800" marT="57150" marB="5715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A232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ctr" indent="0" marL="0">
                        <a:lnSpc>
                          <a:spcPts val="1820"/>
                        </a:lnSpc>
                        <a:buNone/>
                      </a:pPr>
                      <a:r>
                        <a:rPr lang="en-US" sz="1300" dirty="0">
                          <a:solidFill>
                            <a:srgbClr val="1C2733"/>
                          </a:solidFill>
                          <a:latin typeface="IBM Plex Sans" pitchFamily="34" charset="0"/>
                          <a:ea typeface="IBM Plex Sans" pitchFamily="34" charset="-122"/>
                          <a:cs typeface="IBM Plex Sans" pitchFamily="34" charset="-120"/>
                        </a:rPr>
                        <a:t>186</a:t>
                      </a:r>
                      <a:endParaRPr lang="en-US" sz="1300" dirty="0">
                        <a:latin typeface="IBM Plex Sans" charset="0"/>
                        <a:ea typeface="IBM Plex Sans" charset="0"/>
                        <a:cs typeface="IBM Plex Sans" charset="0"/>
                      </a:endParaRPr>
                    </a:p>
                  </a:txBody>
                  <a:tcPr marL="50800" marR="50800" marT="57150" marB="5715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A232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ctr" indent="0" marL="0">
                        <a:lnSpc>
                          <a:spcPts val="1820"/>
                        </a:lnSpc>
                        <a:buNone/>
                      </a:pPr>
                      <a:r>
                        <a:rPr lang="en-US" sz="1300" dirty="0">
                          <a:solidFill>
                            <a:srgbClr val="1C2733"/>
                          </a:solidFill>
                          <a:latin typeface="IBM Plex Sans" pitchFamily="34" charset="0"/>
                          <a:ea typeface="IBM Plex Sans" pitchFamily="34" charset="-122"/>
                          <a:cs typeface="IBM Plex Sans" pitchFamily="34" charset="-120"/>
                        </a:rPr>
                        <a:t>205</a:t>
                      </a:r>
                      <a:endParaRPr lang="en-US" sz="1300" dirty="0">
                        <a:latin typeface="IBM Plex Sans" charset="0"/>
                        <a:ea typeface="IBM Plex Sans" charset="0"/>
                        <a:cs typeface="IBM Plex Sans" charset="0"/>
                      </a:endParaRPr>
                    </a:p>
                  </a:txBody>
                  <a:tcPr marL="50800" marR="50800" marT="57150" marB="5715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A232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ctr" indent="0" marL="0">
                        <a:lnSpc>
                          <a:spcPts val="1820"/>
                        </a:lnSpc>
                        <a:buNone/>
                      </a:pPr>
                      <a:r>
                        <a:rPr lang="en-US" sz="1300" dirty="0">
                          <a:solidFill>
                            <a:srgbClr val="1C2733"/>
                          </a:solidFill>
                          <a:latin typeface="IBM Plex Sans" pitchFamily="34" charset="0"/>
                          <a:ea typeface="IBM Plex Sans" pitchFamily="34" charset="-122"/>
                          <a:cs typeface="IBM Plex Sans" pitchFamily="34" charset="-120"/>
                        </a:rPr>
                        <a:t>167</a:t>
                      </a:r>
                      <a:endParaRPr lang="en-US" sz="1300" dirty="0">
                        <a:latin typeface="IBM Plex Sans" charset="0"/>
                        <a:ea typeface="IBM Plex Sans" charset="0"/>
                        <a:cs typeface="IBM Plex Sans" charset="0"/>
                      </a:endParaRPr>
                    </a:p>
                  </a:txBody>
                  <a:tcPr marL="50800" marR="50800" marT="57150" marB="5715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A232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ctr" indent="0" marL="0">
                        <a:lnSpc>
                          <a:spcPts val="1820"/>
                        </a:lnSpc>
                        <a:buNone/>
                      </a:pPr>
                      <a:r>
                        <a:rPr lang="en-US" sz="1300" dirty="0">
                          <a:solidFill>
                            <a:srgbClr val="1C2733"/>
                          </a:solidFill>
                          <a:latin typeface="IBM Plex Sans" pitchFamily="34" charset="0"/>
                          <a:ea typeface="IBM Plex Sans" pitchFamily="34" charset="-122"/>
                          <a:cs typeface="IBM Plex Sans" pitchFamily="34" charset="-120"/>
                        </a:rPr>
                        <a:t>110</a:t>
                      </a:r>
                      <a:endParaRPr lang="en-US" sz="1300" dirty="0">
                        <a:latin typeface="IBM Plex Sans" charset="0"/>
                        <a:ea typeface="IBM Plex Sans" charset="0"/>
                        <a:cs typeface="IBM Plex Sans" charset="0"/>
                      </a:endParaRPr>
                    </a:p>
                  </a:txBody>
                  <a:tcPr marL="50800" marR="50800" marT="57150" marB="5715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A232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ctr" indent="0" marL="0">
                        <a:lnSpc>
                          <a:spcPts val="1820"/>
                        </a:lnSpc>
                        <a:buNone/>
                      </a:pPr>
                      <a:r>
                        <a:rPr lang="en-US" sz="1300" dirty="0">
                          <a:solidFill>
                            <a:srgbClr val="1C2733"/>
                          </a:solidFill>
                          <a:latin typeface="IBM Plex Sans" pitchFamily="34" charset="0"/>
                          <a:ea typeface="IBM Plex Sans" pitchFamily="34" charset="-122"/>
                          <a:cs typeface="IBM Plex Sans" pitchFamily="34" charset="-120"/>
                        </a:rPr>
                        <a:t>100</a:t>
                      </a:r>
                      <a:endParaRPr lang="en-US" sz="1300" dirty="0">
                        <a:latin typeface="IBM Plex Sans" charset="0"/>
                        <a:ea typeface="IBM Plex Sans" charset="0"/>
                        <a:cs typeface="IBM Plex Sans" charset="0"/>
                      </a:endParaRPr>
                    </a:p>
                  </a:txBody>
                  <a:tcPr marL="50800" marR="50800" marT="57150" marB="5715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A232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ctr" indent="0" marL="0">
                        <a:lnSpc>
                          <a:spcPts val="1820"/>
                        </a:lnSpc>
                        <a:buNone/>
                      </a:pPr>
                      <a:r>
                        <a:rPr lang="en-US" sz="1300" dirty="0">
                          <a:solidFill>
                            <a:srgbClr val="1C2733"/>
                          </a:solidFill>
                          <a:latin typeface="IBM Plex Sans" pitchFamily="34" charset="0"/>
                          <a:ea typeface="IBM Plex Sans" pitchFamily="34" charset="-122"/>
                          <a:cs typeface="IBM Plex Sans" pitchFamily="34" charset="-120"/>
                        </a:rPr>
                        <a:t>96</a:t>
                      </a:r>
                      <a:endParaRPr lang="en-US" sz="1300" dirty="0">
                        <a:latin typeface="IBM Plex Sans" charset="0"/>
                        <a:ea typeface="IBM Plex Sans" charset="0"/>
                        <a:cs typeface="IBM Plex Sans" charset="0"/>
                      </a:endParaRPr>
                    </a:p>
                  </a:txBody>
                  <a:tcPr marL="50800" marR="50800" marT="57150" marB="5715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A232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ctr" indent="0" marL="0">
                        <a:lnSpc>
                          <a:spcPts val="1820"/>
                        </a:lnSpc>
                        <a:buNone/>
                      </a:pPr>
                      <a:r>
                        <a:rPr lang="en-US" sz="1300" dirty="0">
                          <a:solidFill>
                            <a:srgbClr val="1C2733"/>
                          </a:solidFill>
                          <a:latin typeface="IBM Plex Sans" pitchFamily="34" charset="0"/>
                          <a:ea typeface="IBM Plex Sans" pitchFamily="34" charset="-122"/>
                          <a:cs typeface="IBM Plex Sans" pitchFamily="34" charset="-120"/>
                        </a:rPr>
                        <a:t>154</a:t>
                      </a:r>
                      <a:endParaRPr lang="en-US" sz="1300" dirty="0">
                        <a:latin typeface="IBM Plex Sans" charset="0"/>
                        <a:ea typeface="IBM Plex Sans" charset="0"/>
                        <a:cs typeface="IBM Plex Sans" charset="0"/>
                      </a:endParaRPr>
                    </a:p>
                  </a:txBody>
                  <a:tcPr marL="50800" marR="50800" marT="57150" marB="5715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A232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6" name="Text 3"/>
          <p:cNvSpPr/>
          <p:nvPr/>
        </p:nvSpPr>
        <p:spPr>
          <a:xfrm>
            <a:off x="812800" y="2760982"/>
            <a:ext cx="10883392"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8A9199"/>
                </a:solidFill>
                <a:latin typeface="IBM Plex Sans" pitchFamily="34" charset="0"/>
                <a:ea typeface="IBM Plex Sans" pitchFamily="34" charset="-122"/>
                <a:cs typeface="IBM Plex Sans" pitchFamily="34" charset="-120"/>
              </a:rPr>
              <a:t>GTWU từng khoản mục (Bảng 5) — W,P,Q,R ở cấp cao (level 1-2); a-f ở cấp lá (level 0)</a:t>
            </a:r>
            <a:endParaRPr lang="en-US" sz="1100" dirty="0"/>
          </a:p>
        </p:txBody>
      </p:sp>
      <p:sp>
        <p:nvSpPr>
          <p:cNvPr id="7" name="Shape 4"/>
          <p:cNvSpPr/>
          <p:nvPr/>
        </p:nvSpPr>
        <p:spPr>
          <a:xfrm>
            <a:off x="812800" y="3096261"/>
            <a:ext cx="10566400" cy="1167130"/>
          </a:xfrm>
          <a:prstGeom prst="roundRect">
            <a:avLst>
              <a:gd name="adj" fmla="val 8705"/>
            </a:avLst>
          </a:prstGeom>
          <a:solidFill>
            <a:srgbClr val="1C2733"/>
          </a:solidFill>
          <a:ln/>
        </p:spPr>
      </p:sp>
      <p:sp>
        <p:nvSpPr>
          <p:cNvPr id="8" name="Text 5"/>
          <p:cNvSpPr/>
          <p:nvPr/>
        </p:nvSpPr>
        <p:spPr>
          <a:xfrm>
            <a:off x="1016000" y="3274061"/>
            <a:ext cx="10464800" cy="229870"/>
          </a:xfrm>
          <a:prstGeom prst="rect">
            <a:avLst/>
          </a:prstGeom>
          <a:noFill/>
          <a:ln/>
        </p:spPr>
        <p:txBody>
          <a:bodyPr wrap="square" lIns="0" tIns="0" rIns="0" bIns="0" rtlCol="0" anchor="t">
            <a:normAutofit/>
          </a:bodyPr>
          <a:lstStyle/>
          <a:p>
            <a:pPr algn="l" indent="0" marL="0">
              <a:lnSpc>
                <a:spcPts val="1610"/>
              </a:lnSpc>
              <a:buNone/>
            </a:pPr>
            <a:r>
              <a:rPr lang="en-US" sz="1150" b="1" spc="50" kern="0" dirty="0">
                <a:solidFill>
                  <a:srgbClr val="B8863B"/>
                </a:solidFill>
                <a:latin typeface="IBM Plex Sans" pitchFamily="34" charset="0"/>
                <a:ea typeface="IBM Plex Sans" pitchFamily="34" charset="-122"/>
                <a:cs typeface="IBM Plex Sans" pitchFamily="34" charset="-120"/>
              </a:rPr>
              <a:t>THỨ TỰ KHAI THÁC THẬT (Bảng 5, paper)</a:t>
            </a:r>
            <a:endParaRPr lang="en-US" sz="1150" dirty="0"/>
          </a:p>
        </p:txBody>
      </p:sp>
      <p:sp>
        <p:nvSpPr>
          <p:cNvPr id="9" name="Text 6"/>
          <p:cNvSpPr/>
          <p:nvPr/>
        </p:nvSpPr>
        <p:spPr>
          <a:xfrm>
            <a:off x="1016000" y="3542032"/>
            <a:ext cx="104648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AF9F5"/>
                </a:solidFill>
                <a:latin typeface="EB Garamond" pitchFamily="34" charset="0"/>
                <a:ea typeface="EB Garamond" pitchFamily="34" charset="-122"/>
                <a:cs typeface="EB Garamond" pitchFamily="34" charset="-120"/>
              </a:rPr>
              <a:t>W ≺ Q ≺ R ≺ P ≺ e ≺ d ≺ c ≺ f ≺ b ≺ a</a:t>
            </a:r>
            <a:endParaRPr lang="en-US" sz="1500" dirty="0"/>
          </a:p>
        </p:txBody>
      </p:sp>
      <p:sp>
        <p:nvSpPr>
          <p:cNvPr id="10" name="Text 7"/>
          <p:cNvSpPr/>
          <p:nvPr/>
        </p:nvSpPr>
        <p:spPr>
          <a:xfrm>
            <a:off x="1016000" y="3872232"/>
            <a:ext cx="10464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7CDD4"/>
                </a:solidFill>
                <a:latin typeface="IBM Plex Sans" pitchFamily="34" charset="0"/>
                <a:ea typeface="IBM Plex Sans" pitchFamily="34" charset="-122"/>
                <a:cs typeface="IBM Plex Sans" pitchFamily="34" charset="-120"/>
              </a:rPr>
              <a:t>W,Q,R,P (cấp cao) luôn đứng trước a-f (cấp lá) — dù GTWU của Q (153) còn thấp hơn cả a (205).</a:t>
            </a:r>
            <a:endParaRPr lang="en-US" sz="1200" dirty="0"/>
          </a:p>
        </p:txBody>
      </p:sp>
      <p:sp>
        <p:nvSpPr>
          <p:cNvPr id="11" name="Text 8"/>
          <p:cNvSpPr/>
          <p:nvPr/>
        </p:nvSpPr>
        <p:spPr>
          <a:xfrm>
            <a:off x="812800" y="6238239"/>
            <a:ext cx="45545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199"/>
                </a:solidFill>
                <a:latin typeface="IBM Plex Sans" pitchFamily="34" charset="0"/>
                <a:ea typeface="IBM Plex Sans" pitchFamily="34" charset="-122"/>
                <a:cs typeface="IBM Plex Sans" pitchFamily="34" charset="-120"/>
              </a:rPr>
              <a:t>6 / 34</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863B"/>
                </a:solidFill>
                <a:latin typeface="IBM Plex Sans" pitchFamily="34" charset="0"/>
                <a:ea typeface="IBM Plex Sans" pitchFamily="34" charset="-122"/>
                <a:cs typeface="IBM Plex Sans" pitchFamily="34" charset="-120"/>
              </a:rPr>
              <a:t>CHIẾN LƯỢC 2 / 4</a:t>
            </a:r>
            <a:endParaRPr lang="en-US" sz="1200" dirty="0"/>
          </a:p>
        </p:txBody>
      </p:sp>
      <p:sp>
        <p:nvSpPr>
          <p:cNvPr id="3" name="Text 1"/>
          <p:cNvSpPr/>
          <p:nvPr/>
        </p:nvSpPr>
        <p:spPr>
          <a:xfrm>
            <a:off x="812800" y="1076961"/>
            <a:ext cx="10883392" cy="34671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C2733"/>
                </a:solidFill>
                <a:latin typeface="EB Garamond" pitchFamily="34" charset="0"/>
                <a:ea typeface="EB Garamond" pitchFamily="34" charset="-122"/>
                <a:cs typeface="EB Garamond" pitchFamily="34" charset="-120"/>
              </a:rPr>
              <a:t>2 cận trên: Local &amp; Sub-tree Utility</a:t>
            </a:r>
            <a:endParaRPr lang="en-US" sz="2200" dirty="0"/>
          </a:p>
        </p:txBody>
      </p:sp>
      <p:sp>
        <p:nvSpPr>
          <p:cNvPr id="4" name="Text 2"/>
          <p:cNvSpPr/>
          <p:nvPr/>
        </p:nvSpPr>
        <p:spPr>
          <a:xfrm>
            <a:off x="812800" y="1576071"/>
            <a:ext cx="10883392"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4A5568"/>
                </a:solidFill>
                <a:latin typeface="IBM Plex Sans" pitchFamily="34" charset="0"/>
                <a:ea typeface="IBM Plex Sans" pitchFamily="34" charset="-122"/>
                <a:cs typeface="IBM Plex Sans" pitchFamily="34" charset="-120"/>
              </a:rPr>
              <a:t>Cùng dữ liệu mẫu, xét itemset {d,c} mở rộng thêm item a:</a:t>
            </a:r>
            <a:endParaRPr lang="en-US" sz="1250" dirty="0"/>
          </a:p>
        </p:txBody>
      </p:sp>
      <p:sp>
        <p:nvSpPr>
          <p:cNvPr id="5" name="Shape 3"/>
          <p:cNvSpPr/>
          <p:nvPr/>
        </p:nvSpPr>
        <p:spPr>
          <a:xfrm>
            <a:off x="815975" y="1979296"/>
            <a:ext cx="5170170" cy="2914650"/>
          </a:xfrm>
          <a:prstGeom prst="roundRect">
            <a:avLst>
              <a:gd name="adj" fmla="val 3377"/>
            </a:avLst>
          </a:prstGeom>
          <a:solidFill>
            <a:srgbClr val="FFFFFF"/>
          </a:solidFill>
          <a:ln w="6350">
            <a:solidFill>
              <a:srgbClr val="E3DDD0"/>
            </a:solidFill>
            <a:prstDash val="solid"/>
          </a:ln>
        </p:spPr>
      </p:sp>
      <p:sp>
        <p:nvSpPr>
          <p:cNvPr id="6" name="Text 4"/>
          <p:cNvSpPr/>
          <p:nvPr/>
        </p:nvSpPr>
        <p:spPr>
          <a:xfrm>
            <a:off x="1046480" y="2894964"/>
            <a:ext cx="4850435" cy="229870"/>
          </a:xfrm>
          <a:prstGeom prst="rect">
            <a:avLst/>
          </a:prstGeom>
          <a:noFill/>
          <a:ln/>
        </p:spPr>
        <p:txBody>
          <a:bodyPr wrap="square" lIns="0" tIns="0" rIns="0" bIns="0" rtlCol="0" anchor="t">
            <a:normAutofit/>
          </a:bodyPr>
          <a:lstStyle/>
          <a:p>
            <a:pPr algn="l" indent="0" marL="0">
              <a:lnSpc>
                <a:spcPts val="1610"/>
              </a:lnSpc>
              <a:buNone/>
            </a:pPr>
            <a:r>
              <a:rPr lang="en-US" sz="1150" b="1" spc="50" kern="0" dirty="0">
                <a:solidFill>
                  <a:srgbClr val="8A9199"/>
                </a:solidFill>
                <a:latin typeface="IBM Plex Sans" pitchFamily="34" charset="0"/>
                <a:ea typeface="IBM Plex Sans" pitchFamily="34" charset="-122"/>
                <a:cs typeface="IBM Plex Sans" pitchFamily="34" charset="-120"/>
              </a:rPr>
              <a:t>LOCAL UTILITY</a:t>
            </a:r>
            <a:endParaRPr lang="en-US" sz="1150" dirty="0"/>
          </a:p>
        </p:txBody>
      </p:sp>
      <p:sp>
        <p:nvSpPr>
          <p:cNvPr id="7" name="Text 5"/>
          <p:cNvSpPr/>
          <p:nvPr/>
        </p:nvSpPr>
        <p:spPr>
          <a:xfrm>
            <a:off x="1046480" y="3201036"/>
            <a:ext cx="485043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C2733"/>
                </a:solidFill>
                <a:latin typeface="EB Garamond" pitchFamily="34" charset="0"/>
                <a:ea typeface="EB Garamond" pitchFamily="34" charset="-122"/>
                <a:cs typeface="EB Garamond" pitchFamily="34" charset="-120"/>
              </a:rPr>
              <a:t>lu({d,c}, a) = 52</a:t>
            </a:r>
            <a:endParaRPr lang="en-US" sz="1500" dirty="0"/>
          </a:p>
        </p:txBody>
      </p:sp>
      <p:sp>
        <p:nvSpPr>
          <p:cNvPr id="8" name="Text 6"/>
          <p:cNvSpPr/>
          <p:nvPr/>
        </p:nvSpPr>
        <p:spPr>
          <a:xfrm>
            <a:off x="1046480" y="3569336"/>
            <a:ext cx="4850435" cy="43434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4A5568"/>
                </a:solidFill>
                <a:latin typeface="IBM Plex Sans" pitchFamily="34" charset="0"/>
                <a:ea typeface="IBM Plex Sans" pitchFamily="34" charset="-122"/>
                <a:cs typeface="IBM Plex Sans" pitchFamily="34" charset="-120"/>
              </a:rPr>
              <a:t>Cộng cả phần "còn có thể mở rộng thêm" (remaining utility) — cận lỏng hơn, dùng cho </a:t>
            </a:r>
            <a:r>
              <a:rPr lang="en-US" sz="1150" b="1" dirty="0">
                <a:solidFill>
                  <a:srgbClr val="4A5568"/>
                </a:solidFill>
                <a:latin typeface="IBM Plex Sans" pitchFamily="34" charset="0"/>
                <a:ea typeface="IBM Plex Sans" pitchFamily="34" charset="-122"/>
                <a:cs typeface="IBM Plex Sans" pitchFamily="34" charset="-120"/>
              </a:rPr>
              <a:t>Secondary(X)</a:t>
            </a:r>
            <a:r>
              <a:rPr lang="en-US" sz="1150" dirty="0">
                <a:solidFill>
                  <a:srgbClr val="4A5568"/>
                </a:solidFill>
                <a:latin typeface="IBM Plex Sans" pitchFamily="34" charset="0"/>
                <a:ea typeface="IBM Plex Sans" pitchFamily="34" charset="-122"/>
                <a:cs typeface="IBM Plex Sans" pitchFamily="34" charset="-120"/>
              </a:rPr>
              <a:t>: item còn tiềm năng để đệ quy tiếp.</a:t>
            </a:r>
            <a:endParaRPr lang="en-US" sz="1150" dirty="0"/>
          </a:p>
        </p:txBody>
      </p:sp>
      <p:sp>
        <p:nvSpPr>
          <p:cNvPr id="9" name="Shape 7"/>
          <p:cNvSpPr/>
          <p:nvPr/>
        </p:nvSpPr>
        <p:spPr>
          <a:xfrm>
            <a:off x="6198870" y="1982471"/>
            <a:ext cx="5173980" cy="2908300"/>
          </a:xfrm>
          <a:prstGeom prst="roundRect">
            <a:avLst>
              <a:gd name="adj" fmla="val 3275"/>
            </a:avLst>
          </a:prstGeom>
          <a:solidFill>
            <a:srgbClr val="FBF1E0"/>
          </a:solidFill>
          <a:ln w="12700">
            <a:solidFill>
              <a:srgbClr val="B8863B"/>
            </a:solidFill>
            <a:prstDash val="solid"/>
          </a:ln>
        </p:spPr>
      </p:sp>
      <p:sp>
        <p:nvSpPr>
          <p:cNvPr id="10" name="Text 8"/>
          <p:cNvSpPr/>
          <p:nvPr/>
        </p:nvSpPr>
        <p:spPr>
          <a:xfrm>
            <a:off x="6431280" y="2894964"/>
            <a:ext cx="4850435" cy="229870"/>
          </a:xfrm>
          <a:prstGeom prst="rect">
            <a:avLst/>
          </a:prstGeom>
          <a:noFill/>
          <a:ln/>
        </p:spPr>
        <p:txBody>
          <a:bodyPr wrap="square" lIns="0" tIns="0" rIns="0" bIns="0" rtlCol="0" anchor="t">
            <a:normAutofit/>
          </a:bodyPr>
          <a:lstStyle/>
          <a:p>
            <a:pPr algn="l" indent="0" marL="0">
              <a:lnSpc>
                <a:spcPts val="1610"/>
              </a:lnSpc>
              <a:buNone/>
            </a:pPr>
            <a:r>
              <a:rPr lang="en-US" sz="1150" b="1" spc="50" kern="0" dirty="0">
                <a:solidFill>
                  <a:srgbClr val="8A6A3A"/>
                </a:solidFill>
                <a:latin typeface="IBM Plex Sans" pitchFamily="34" charset="0"/>
                <a:ea typeface="IBM Plex Sans" pitchFamily="34" charset="-122"/>
                <a:cs typeface="IBM Plex Sans" pitchFamily="34" charset="-120"/>
              </a:rPr>
              <a:t>SUB-TREE UTILITY</a:t>
            </a:r>
            <a:endParaRPr lang="en-US" sz="1150" dirty="0"/>
          </a:p>
        </p:txBody>
      </p:sp>
      <p:sp>
        <p:nvSpPr>
          <p:cNvPr id="11" name="Text 9"/>
          <p:cNvSpPr/>
          <p:nvPr/>
        </p:nvSpPr>
        <p:spPr>
          <a:xfrm>
            <a:off x="6431280" y="3201036"/>
            <a:ext cx="485043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C2733"/>
                </a:solidFill>
                <a:latin typeface="EB Garamond" pitchFamily="34" charset="0"/>
                <a:ea typeface="EB Garamond" pitchFamily="34" charset="-122"/>
                <a:cs typeface="EB Garamond" pitchFamily="34" charset="-120"/>
              </a:rPr>
              <a:t>su({d,c}, a) = 44</a:t>
            </a:r>
            <a:endParaRPr lang="en-US" sz="1500" dirty="0"/>
          </a:p>
        </p:txBody>
      </p:sp>
      <p:sp>
        <p:nvSpPr>
          <p:cNvPr id="12" name="Text 10"/>
          <p:cNvSpPr/>
          <p:nvPr/>
        </p:nvSpPr>
        <p:spPr>
          <a:xfrm>
            <a:off x="6431280" y="3569336"/>
            <a:ext cx="4850435" cy="43434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4A5568"/>
                </a:solidFill>
                <a:latin typeface="IBM Plex Sans" pitchFamily="34" charset="0"/>
                <a:ea typeface="IBM Plex Sans" pitchFamily="34" charset="-122"/>
                <a:cs typeface="IBM Plex Sans" pitchFamily="34" charset="-120"/>
              </a:rPr>
              <a:t>Chỉ cộng đúng phần của item a — cận </a:t>
            </a:r>
            <a:r>
              <a:rPr lang="en-US" sz="1150" b="1" dirty="0">
                <a:solidFill>
                  <a:srgbClr val="4A5568"/>
                </a:solidFill>
                <a:latin typeface="IBM Plex Sans" pitchFamily="34" charset="0"/>
                <a:ea typeface="IBM Plex Sans" pitchFamily="34" charset="-122"/>
                <a:cs typeface="IBM Plex Sans" pitchFamily="34" charset="-120"/>
              </a:rPr>
              <a:t>chặt hơn</a:t>
            </a:r>
            <a:r>
              <a:rPr lang="en-US" sz="1150" dirty="0">
                <a:solidFill>
                  <a:srgbClr val="4A5568"/>
                </a:solidFill>
                <a:latin typeface="IBM Plex Sans" pitchFamily="34" charset="0"/>
                <a:ea typeface="IBM Plex Sans" pitchFamily="34" charset="-122"/>
                <a:cs typeface="IBM Plex Sans" pitchFamily="34" charset="-120"/>
              </a:rPr>
              <a:t>, dùng cho </a:t>
            </a:r>
            <a:r>
              <a:rPr lang="en-US" sz="1150" b="1" dirty="0">
                <a:solidFill>
                  <a:srgbClr val="4A5568"/>
                </a:solidFill>
                <a:latin typeface="IBM Plex Sans" pitchFamily="34" charset="0"/>
                <a:ea typeface="IBM Plex Sans" pitchFamily="34" charset="-122"/>
                <a:cs typeface="IBM Plex Sans" pitchFamily="34" charset="-120"/>
              </a:rPr>
              <a:t>Primary(X)</a:t>
            </a:r>
            <a:r>
              <a:rPr lang="en-US" sz="1150" dirty="0">
                <a:solidFill>
                  <a:srgbClr val="4A5568"/>
                </a:solidFill>
                <a:latin typeface="IBM Plex Sans" pitchFamily="34" charset="0"/>
                <a:ea typeface="IBM Plex Sans" pitchFamily="34" charset="-122"/>
                <a:cs typeface="IBM Plex Sans" pitchFamily="34" charset="-120"/>
              </a:rPr>
              <a:t>: item được nối trực tiếp vào X ngay.</a:t>
            </a:r>
            <a:endParaRPr lang="en-US" sz="1150" dirty="0"/>
          </a:p>
        </p:txBody>
      </p:sp>
      <p:sp>
        <p:nvSpPr>
          <p:cNvPr id="13" name="Shape 11"/>
          <p:cNvSpPr/>
          <p:nvPr/>
        </p:nvSpPr>
        <p:spPr>
          <a:xfrm>
            <a:off x="812800" y="5074921"/>
            <a:ext cx="10566400" cy="767080"/>
          </a:xfrm>
          <a:prstGeom prst="roundRect">
            <a:avLst>
              <a:gd name="adj" fmla="val 13245"/>
            </a:avLst>
          </a:prstGeom>
          <a:solidFill>
            <a:srgbClr val="1C2733"/>
          </a:solidFill>
          <a:ln/>
        </p:spPr>
      </p:sp>
      <p:sp>
        <p:nvSpPr>
          <p:cNvPr id="14" name="Text 12"/>
          <p:cNvSpPr/>
          <p:nvPr/>
        </p:nvSpPr>
        <p:spPr>
          <a:xfrm>
            <a:off x="1016000" y="5227321"/>
            <a:ext cx="1046480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AF9F5"/>
                </a:solidFill>
                <a:latin typeface="IBM Plex Sans" pitchFamily="34" charset="0"/>
                <a:ea typeface="IBM Plex Sans" pitchFamily="34" charset="-122"/>
                <a:cs typeface="IBM Plex Sans" pitchFamily="34" charset="-120"/>
              </a:rPr>
              <a:t>Su(X,w) ≤ Lu(X,w) </a:t>
            </a:r>
            <a:r>
              <a:rPr lang="en-US" sz="1300" b="1" dirty="0">
                <a:solidFill>
                  <a:srgbClr val="FAF9F5"/>
                </a:solidFill>
                <a:latin typeface="IBM Plex Sans" pitchFamily="34" charset="0"/>
                <a:ea typeface="IBM Plex Sans" pitchFamily="34" charset="-122"/>
                <a:cs typeface="IBM Plex Sans" pitchFamily="34" charset="-120"/>
              </a:rPr>
              <a:t>luôn đúng</a:t>
            </a:r>
            <a:r>
              <a:rPr lang="en-US" sz="1300" dirty="0">
                <a:solidFill>
                  <a:srgbClr val="FAF9F5"/>
                </a:solidFill>
                <a:latin typeface="IBM Plex Sans" pitchFamily="34" charset="0"/>
                <a:ea typeface="IBM Plex Sans" pitchFamily="34" charset="-122"/>
                <a:cs typeface="IBM Plex Sans" pitchFamily="34" charset="-120"/>
              </a:rPr>
              <a:t> (Property 8) → 44 ≤ 52 khớp thực tế. Vì Su chặt hơn, nó lọc quyết liệt hơn — chỉ item nào vượt qua CẢ HAI mới thật sự được nối trực tiếp.</a:t>
            </a:r>
            <a:endParaRPr lang="en-US" sz="1300" dirty="0"/>
          </a:p>
        </p:txBody>
      </p:sp>
      <p:sp>
        <p:nvSpPr>
          <p:cNvPr id="15" name="Text 13"/>
          <p:cNvSpPr/>
          <p:nvPr/>
        </p:nvSpPr>
        <p:spPr>
          <a:xfrm>
            <a:off x="812800" y="6238239"/>
            <a:ext cx="45545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199"/>
                </a:solidFill>
                <a:latin typeface="IBM Plex Sans" pitchFamily="34" charset="0"/>
                <a:ea typeface="IBM Plex Sans" pitchFamily="34" charset="-122"/>
                <a:cs typeface="IBM Plex Sans" pitchFamily="34" charset="-120"/>
              </a:rPr>
              <a:t>7 / 34</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863B"/>
                </a:solidFill>
                <a:latin typeface="IBM Plex Sans" pitchFamily="34" charset="0"/>
                <a:ea typeface="IBM Plex Sans" pitchFamily="34" charset="-122"/>
                <a:cs typeface="IBM Plex Sans" pitchFamily="34" charset="-120"/>
              </a:rPr>
              <a:t>CHIẾN LƯỢC 3 / 4</a:t>
            </a:r>
            <a:endParaRPr lang="en-US" sz="1200" dirty="0"/>
          </a:p>
        </p:txBody>
      </p:sp>
      <p:sp>
        <p:nvSpPr>
          <p:cNvPr id="3" name="Text 1"/>
          <p:cNvSpPr/>
          <p:nvPr/>
        </p:nvSpPr>
        <p:spPr>
          <a:xfrm>
            <a:off x="812800" y="1076961"/>
            <a:ext cx="10883392" cy="34671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C2733"/>
                </a:solidFill>
                <a:latin typeface="EB Garamond" pitchFamily="34" charset="0"/>
                <a:ea typeface="EB Garamond" pitchFamily="34" charset="-122"/>
                <a:cs typeface="EB Garamond" pitchFamily="34" charset="-120"/>
              </a:rPr>
              <a:t>Gộp danh sách giao dịch (merge item lists)</a:t>
            </a:r>
            <a:endParaRPr lang="en-US" sz="2200" dirty="0"/>
          </a:p>
        </p:txBody>
      </p:sp>
      <p:sp>
        <p:nvSpPr>
          <p:cNvPr id="4" name="Text 2"/>
          <p:cNvSpPr/>
          <p:nvPr/>
        </p:nvSpPr>
        <p:spPr>
          <a:xfrm>
            <a:off x="812800" y="1550671"/>
            <a:ext cx="10883392"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4A5568"/>
                </a:solidFill>
                <a:latin typeface="IBM Plex Sans" pitchFamily="34" charset="0"/>
                <a:ea typeface="IBM Plex Sans" pitchFamily="34" charset="-122"/>
                <a:cs typeface="IBM Plex Sans" pitchFamily="34" charset="-120"/>
              </a:rPr>
              <a:t>Cùng tầng, các danh sách khoản mục </a:t>
            </a:r>
            <a:r>
              <a:rPr lang="en-US" sz="1250" b="1" dirty="0">
                <a:solidFill>
                  <a:srgbClr val="4A5568"/>
                </a:solidFill>
                <a:latin typeface="IBM Plex Sans" pitchFamily="34" charset="0"/>
                <a:ea typeface="IBM Plex Sans" pitchFamily="34" charset="-122"/>
                <a:cs typeface="IBM Plex Sans" pitchFamily="34" charset="-120"/>
              </a:rPr>
              <a:t>giống hệt nhau</a:t>
            </a:r>
            <a:r>
              <a:rPr lang="en-US" sz="1250" dirty="0">
                <a:solidFill>
                  <a:srgbClr val="4A5568"/>
                </a:solidFill>
                <a:latin typeface="IBM Plex Sans" pitchFamily="34" charset="0"/>
                <a:ea typeface="IBM Plex Sans" pitchFamily="34" charset="-122"/>
                <a:cs typeface="IBM Plex Sans" pitchFamily="34" charset="-120"/>
              </a:rPr>
              <a:t> được gộp làm một, cộng dồn utility:</a:t>
            </a:r>
            <a:endParaRPr lang="en-US" sz="1250" dirty="0"/>
          </a:p>
        </p:txBody>
      </p:sp>
      <p:sp>
        <p:nvSpPr>
          <p:cNvPr id="5" name="Text 3"/>
          <p:cNvSpPr/>
          <p:nvPr/>
        </p:nvSpPr>
        <p:spPr>
          <a:xfrm>
            <a:off x="812800" y="2747646"/>
            <a:ext cx="5023104" cy="229870"/>
          </a:xfrm>
          <a:prstGeom prst="rect">
            <a:avLst/>
          </a:prstGeom>
          <a:noFill/>
          <a:ln/>
        </p:spPr>
        <p:txBody>
          <a:bodyPr wrap="square" lIns="0" tIns="0" rIns="0" bIns="0" rtlCol="0" anchor="t">
            <a:normAutofit/>
          </a:bodyPr>
          <a:lstStyle/>
          <a:p>
            <a:pPr algn="l" indent="0" marL="0">
              <a:lnSpc>
                <a:spcPts val="1610"/>
              </a:lnSpc>
              <a:buNone/>
            </a:pPr>
            <a:r>
              <a:rPr lang="en-US" sz="1150" b="1" spc="50" kern="0" dirty="0">
                <a:solidFill>
                  <a:srgbClr val="8A9199"/>
                </a:solidFill>
                <a:latin typeface="IBM Plex Sans" pitchFamily="34" charset="0"/>
                <a:ea typeface="IBM Plex Sans" pitchFamily="34" charset="-122"/>
                <a:cs typeface="IBM Plex Sans" pitchFamily="34" charset="-120"/>
              </a:rPr>
              <a:t>TRƯỚC — 2 dòng riêng biệt</a:t>
            </a:r>
            <a:endParaRPr lang="en-US" sz="11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3063874"/>
          <a:ext cx="4866640" cy="1104900"/>
        </p:xfrm>
        <a:graphic>
          <a:graphicData uri="http://schemas.openxmlformats.org/drawingml/2006/table">
            <a:tbl>
              <a:tblPr/>
              <a:tblGrid>
                <a:gridCol w="1622213"/>
                <a:gridCol w="1622213"/>
                <a:gridCol w="1622213"/>
              </a:tblGrid>
              <a:tr h="368300">
                <a:tc>
                  <a:txBody>
                    <a:bodyPr/>
                    <a:lstStyle/>
                    <a:p>
                      <a:pPr indent="0" marL="0">
                        <a:lnSpc>
                          <a:spcPts val="1820"/>
                        </a:lnSpc>
                        <a:buNone/>
                      </a:pPr>
                      <a:r>
                        <a:rPr lang="en-US" sz="1300" b="1" dirty="0">
                          <a:solidFill>
                            <a:srgbClr val="FAF9F5"/>
                          </a:solidFill>
                          <a:latin typeface="IBM Plex Sans" pitchFamily="34" charset="0"/>
                          <a:ea typeface="IBM Plex Sans" pitchFamily="34" charset="-122"/>
                          <a:cs typeface="IBM Plex Sans" pitchFamily="34" charset="-120"/>
                        </a:rPr>
                        <a:t>TID</a:t>
                      </a:r>
                      <a:endParaRPr lang="en-US" sz="1300" dirty="0">
                        <a:latin typeface="IBM Plex Sans" charset="0"/>
                        <a:ea typeface="IBM Plex Sans" charset="0"/>
                        <a:cs typeface="IBM Plex Sans" charset="0"/>
                      </a:endParaRPr>
                    </a:p>
                  </a:txBody>
                  <a:tcPr marL="101600" marR="101600" marT="63500" marB="63500" anchor="t">
                    <a:lnL w="12700" cap="flat" cmpd="sng" algn="ctr">
                      <a:solidFill>
                        <a:srgbClr val="C7C7C3"/>
                      </a:solidFill>
                      <a:prstDash val="solid"/>
                      <a:round/>
                      <a:headEnd type="none" w="med" len="med"/>
                      <a:tailEnd type="none" w="med" len="med"/>
                    </a:lnL>
                    <a:lnR w="12700" cap="flat" cmpd="sng" algn="ctr">
                      <a:solidFill>
                        <a:srgbClr val="1A232C"/>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1A232C"/>
                      </a:solidFill>
                      <a:prstDash val="solid"/>
                      <a:round/>
                      <a:headEnd type="none" w="med" len="med"/>
                      <a:tailEnd type="none" w="med" len="med"/>
                    </a:lnB>
                    <a:solidFill>
                      <a:srgbClr val="1C2733"/>
                    </a:solidFill>
                  </a:tcPr>
                </a:tc>
                <a:tc>
                  <a:txBody>
                    <a:bodyPr/>
                    <a:lstStyle/>
                    <a:p>
                      <a:pPr indent="0" marL="0">
                        <a:lnSpc>
                          <a:spcPts val="1820"/>
                        </a:lnSpc>
                        <a:buNone/>
                      </a:pPr>
                      <a:r>
                        <a:rPr lang="en-US" sz="1300" b="1" dirty="0">
                          <a:solidFill>
                            <a:srgbClr val="FAF9F5"/>
                          </a:solidFill>
                          <a:latin typeface="IBM Plex Sans" pitchFamily="34" charset="0"/>
                          <a:ea typeface="IBM Plex Sans" pitchFamily="34" charset="-122"/>
                          <a:cs typeface="IBM Plex Sans" pitchFamily="34" charset="-120"/>
                        </a:rPr>
                        <a:t>Items</a:t>
                      </a:r>
                      <a:endParaRPr lang="en-US" sz="1300" dirty="0">
                        <a:latin typeface="IBM Plex Sans" charset="0"/>
                        <a:ea typeface="IBM Plex Sans" charset="0"/>
                        <a:cs typeface="IBM Plex Sans" charset="0"/>
                      </a:endParaRPr>
                    </a:p>
                  </a:txBody>
                  <a:tcPr marL="101600" marR="101600" marT="63500" marB="63500" anchor="t">
                    <a:lnL w="12700" cap="flat" cmpd="sng" algn="ctr">
                      <a:solidFill>
                        <a:srgbClr val="1A232C"/>
                      </a:solidFill>
                      <a:prstDash val="solid"/>
                      <a:round/>
                      <a:headEnd type="none" w="med" len="med"/>
                      <a:tailEnd type="none" w="med" len="med"/>
                    </a:lnL>
                    <a:lnR w="12700" cap="flat" cmpd="sng" algn="ctr">
                      <a:solidFill>
                        <a:srgbClr val="1A232C"/>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1A232C"/>
                      </a:solidFill>
                      <a:prstDash val="solid"/>
                      <a:round/>
                      <a:headEnd type="none" w="med" len="med"/>
                      <a:tailEnd type="none" w="med" len="med"/>
                    </a:lnB>
                    <a:solidFill>
                      <a:srgbClr val="1C2733"/>
                    </a:solidFill>
                  </a:tcPr>
                </a:tc>
                <a:tc>
                  <a:txBody>
                    <a:bodyPr/>
                    <a:lstStyle/>
                    <a:p>
                      <a:pPr indent="0" marL="0">
                        <a:lnSpc>
                          <a:spcPts val="1820"/>
                        </a:lnSpc>
                        <a:buNone/>
                      </a:pPr>
                      <a:r>
                        <a:rPr lang="en-US" sz="1300" b="1" dirty="0">
                          <a:solidFill>
                            <a:srgbClr val="FAF9F5"/>
                          </a:solidFill>
                          <a:latin typeface="IBM Plex Sans" pitchFamily="34" charset="0"/>
                          <a:ea typeface="IBM Plex Sans" pitchFamily="34" charset="-122"/>
                          <a:cs typeface="IBM Plex Sans" pitchFamily="34" charset="-120"/>
                        </a:rPr>
                        <a:t>Utilities</a:t>
                      </a:r>
                      <a:endParaRPr lang="en-US" sz="1300" dirty="0">
                        <a:latin typeface="IBM Plex Sans" charset="0"/>
                        <a:ea typeface="IBM Plex Sans" charset="0"/>
                        <a:cs typeface="IBM Plex Sans" charset="0"/>
                      </a:endParaRPr>
                    </a:p>
                  </a:txBody>
                  <a:tcPr marL="101600" marR="101600" marT="63500" marB="63500" anchor="t">
                    <a:lnL w="12700" cap="flat" cmpd="sng" algn="ctr">
                      <a:solidFill>
                        <a:srgbClr val="1A232C"/>
                      </a:solidFill>
                      <a:prstDash val="solid"/>
                      <a:round/>
                      <a:headEnd type="none" w="med" len="med"/>
                      <a:tailEnd type="none" w="med" len="med"/>
                    </a:lnL>
                    <a:lnR w="12700" cap="flat" cmpd="sng" algn="ctr">
                      <a:solidFill>
                        <a:srgbClr val="1A232C"/>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1A232C"/>
                      </a:solidFill>
                      <a:prstDash val="solid"/>
                      <a:round/>
                      <a:headEnd type="none" w="med" len="med"/>
                      <a:tailEnd type="none" w="med" len="med"/>
                    </a:lnB>
                    <a:solidFill>
                      <a:srgbClr val="1C2733"/>
                    </a:solidFill>
                  </a:tcPr>
                </a:tc>
              </a:tr>
              <a:tr h="368300">
                <a:tc>
                  <a:txBody>
                    <a:bodyPr/>
                    <a:lstStyle/>
                    <a:p>
                      <a:pPr indent="0" marL="0">
                        <a:lnSpc>
                          <a:spcPts val="1820"/>
                        </a:lnSpc>
                        <a:buNone/>
                      </a:pPr>
                      <a:r>
                        <a:rPr lang="en-US" sz="1300" dirty="0">
                          <a:solidFill>
                            <a:srgbClr val="1C2733"/>
                          </a:solidFill>
                          <a:latin typeface="IBM Plex Sans" pitchFamily="34" charset="0"/>
                          <a:ea typeface="IBM Plex Sans" pitchFamily="34" charset="-122"/>
                          <a:cs typeface="IBM Plex Sans" pitchFamily="34" charset="-120"/>
                        </a:rPr>
                        <a:t>L(T1,1)</a:t>
                      </a:r>
                      <a:endParaRPr lang="en-US" sz="1300" dirty="0">
                        <a:latin typeface="IBM Plex Sans" charset="0"/>
                        <a:ea typeface="IBM Plex Sans" charset="0"/>
                        <a:cs typeface="IBM Plex Sans" charset="0"/>
                      </a:endParaRPr>
                    </a:p>
                  </a:txBody>
                  <a:tcPr marL="101600" marR="101600" marT="63500" marB="63500" anchor="t">
                    <a:lnL w="12700" cap="flat" cmpd="sng" algn="ctr">
                      <a:solidFill>
                        <a:srgbClr val="C7C7C3"/>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A232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C2733"/>
                          </a:solidFill>
                          <a:latin typeface="IBM Plex Sans" pitchFamily="34" charset="0"/>
                          <a:ea typeface="IBM Plex Sans" pitchFamily="34" charset="-122"/>
                          <a:cs typeface="IBM Plex Sans" pitchFamily="34" charset="-120"/>
                        </a:rPr>
                        <a:t>Q, P</a:t>
                      </a:r>
                      <a:endParaRPr lang="en-US" sz="1300" dirty="0">
                        <a:latin typeface="IBM Plex Sans" charset="0"/>
                        <a:ea typeface="IBM Plex Sans" charset="0"/>
                        <a:cs typeface="IBM Plex Sans" charset="0"/>
                      </a:endParaRPr>
                    </a:p>
                  </a:txBody>
                  <a:tcPr marL="101600" marR="1016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A232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C2733"/>
                          </a:solidFill>
                          <a:latin typeface="IBM Plex Sans" pitchFamily="34" charset="0"/>
                          <a:ea typeface="IBM Plex Sans" pitchFamily="34" charset="-122"/>
                          <a:cs typeface="IBM Plex Sans" pitchFamily="34" charset="-120"/>
                        </a:rPr>
                        <a:t>6, 19</a:t>
                      </a:r>
                      <a:endParaRPr lang="en-US" sz="1300" dirty="0">
                        <a:latin typeface="IBM Plex Sans" charset="0"/>
                        <a:ea typeface="IBM Plex Sans" charset="0"/>
                        <a:cs typeface="IBM Plex Sans" charset="0"/>
                      </a:endParaRPr>
                    </a:p>
                  </a:txBody>
                  <a:tcPr marL="101600" marR="1016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A232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68300">
                <a:tc>
                  <a:txBody>
                    <a:bodyPr/>
                    <a:lstStyle/>
                    <a:p>
                      <a:pPr indent="0" marL="0">
                        <a:lnSpc>
                          <a:spcPts val="1820"/>
                        </a:lnSpc>
                        <a:buNone/>
                      </a:pPr>
                      <a:r>
                        <a:rPr lang="en-US" sz="1300" dirty="0">
                          <a:solidFill>
                            <a:srgbClr val="1C2733"/>
                          </a:solidFill>
                          <a:latin typeface="IBM Plex Sans" pitchFamily="34" charset="0"/>
                          <a:ea typeface="IBM Plex Sans" pitchFamily="34" charset="-122"/>
                          <a:cs typeface="IBM Plex Sans" pitchFamily="34" charset="-120"/>
                        </a:rPr>
                        <a:t>L(T2,1)</a:t>
                      </a:r>
                      <a:endParaRPr lang="en-US" sz="1300" dirty="0">
                        <a:latin typeface="IBM Plex Sans" charset="0"/>
                        <a:ea typeface="IBM Plex Sans" charset="0"/>
                        <a:cs typeface="IBM Plex Sans" charset="0"/>
                      </a:endParaRPr>
                    </a:p>
                  </a:txBody>
                  <a:tcPr marL="101600" marR="101600" marT="63500" marB="63500" anchor="t">
                    <a:lnL w="12700" cap="flat" cmpd="sng" algn="ctr">
                      <a:solidFill>
                        <a:srgbClr val="C7C7C3"/>
                      </a:solidFill>
                      <a:prstDash val="solid"/>
                      <a:round/>
                      <a:headEnd type="none" w="med" len="med"/>
                      <a:tailEnd type="none" w="med" len="med"/>
                    </a:lnL>
                    <a:lnR w="12700" cap="flat" cmpd="sng" algn="ctr">
                      <a:solidFill>
                        <a:srgbClr val="C0BDB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c>
                  <a:txBody>
                    <a:bodyPr/>
                    <a:lstStyle/>
                    <a:p>
                      <a:pPr indent="0" marL="0">
                        <a:lnSpc>
                          <a:spcPts val="1820"/>
                        </a:lnSpc>
                        <a:buNone/>
                      </a:pPr>
                      <a:r>
                        <a:rPr lang="en-US" sz="1300" dirty="0">
                          <a:solidFill>
                            <a:srgbClr val="1C2733"/>
                          </a:solidFill>
                          <a:latin typeface="IBM Plex Sans" pitchFamily="34" charset="0"/>
                          <a:ea typeface="IBM Plex Sans" pitchFamily="34" charset="-122"/>
                          <a:cs typeface="IBM Plex Sans" pitchFamily="34" charset="-120"/>
                        </a:rPr>
                        <a:t>Q, P</a:t>
                      </a:r>
                      <a:endParaRPr lang="en-US" sz="1300" dirty="0">
                        <a:latin typeface="IBM Plex Sans" charset="0"/>
                        <a:ea typeface="IBM Plex Sans" charset="0"/>
                        <a:cs typeface="IBM Plex Sans" charset="0"/>
                      </a:endParaRPr>
                    </a:p>
                  </a:txBody>
                  <a:tcPr marL="101600" marR="101600" marT="63500" marB="63500" anchor="t">
                    <a:lnL w="12700" cap="flat" cmpd="sng" algn="ctr">
                      <a:solidFill>
                        <a:srgbClr val="C0BDB7"/>
                      </a:solidFill>
                      <a:prstDash val="solid"/>
                      <a:round/>
                      <a:headEnd type="none" w="med" len="med"/>
                      <a:tailEnd type="none" w="med" len="med"/>
                    </a:lnL>
                    <a:lnR w="12700" cap="flat" cmpd="sng" algn="ctr">
                      <a:solidFill>
                        <a:srgbClr val="C0BDB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c>
                  <a:txBody>
                    <a:bodyPr/>
                    <a:lstStyle/>
                    <a:p>
                      <a:pPr indent="0" marL="0">
                        <a:lnSpc>
                          <a:spcPts val="1820"/>
                        </a:lnSpc>
                        <a:buNone/>
                      </a:pPr>
                      <a:r>
                        <a:rPr lang="en-US" sz="1300" dirty="0">
                          <a:solidFill>
                            <a:srgbClr val="1C2733"/>
                          </a:solidFill>
                          <a:latin typeface="IBM Plex Sans" pitchFamily="34" charset="0"/>
                          <a:ea typeface="IBM Plex Sans" pitchFamily="34" charset="-122"/>
                          <a:cs typeface="IBM Plex Sans" pitchFamily="34" charset="-120"/>
                        </a:rPr>
                        <a:t>1, 6</a:t>
                      </a:r>
                      <a:endParaRPr lang="en-US" sz="1300" dirty="0">
                        <a:latin typeface="IBM Plex Sans" charset="0"/>
                        <a:ea typeface="IBM Plex Sans" charset="0"/>
                        <a:cs typeface="IBM Plex Sans" charset="0"/>
                      </a:endParaRPr>
                    </a:p>
                  </a:txBody>
                  <a:tcPr marL="101600" marR="101600" marT="63500" marB="63500" anchor="t">
                    <a:lnL w="12700" cap="flat" cmpd="sng" algn="ctr">
                      <a:solidFill>
                        <a:srgbClr val="C0BDB7"/>
                      </a:solidFill>
                      <a:prstDash val="solid"/>
                      <a:round/>
                      <a:headEnd type="none" w="med" len="med"/>
                      <a:tailEnd type="none" w="med" len="med"/>
                    </a:lnL>
                    <a:lnR w="12700" cap="flat" cmpd="sng" algn="ctr">
                      <a:solidFill>
                        <a:srgbClr val="C0BDB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r>
            </a:tbl>
          </a:graphicData>
        </a:graphic>
      </p:graphicFrame>
      <p:pic>
        <p:nvPicPr>
          <p:cNvPr id="7" name="Image 0" descr="arrow-right">    </p:cNvPr>
          <p:cNvPicPr>
            <a:picLocks noChangeAspect="1"/>
          </p:cNvPicPr>
          <p:nvPr/>
        </p:nvPicPr>
        <p:blipFill>
          <a:blip r:embed="rId1"/>
          <a:srcRect l="0" r="0" t="0" b="0"/>
          <a:stretch/>
        </p:blipFill>
        <p:spPr>
          <a:xfrm>
            <a:off x="5943600" y="3382011"/>
            <a:ext cx="304800" cy="152400"/>
          </a:xfrm>
          <a:prstGeom prst="rect">
            <a:avLst/>
          </a:prstGeom>
        </p:spPr>
      </p:pic>
      <p:sp>
        <p:nvSpPr>
          <p:cNvPr id="8" name="Text 4"/>
          <p:cNvSpPr/>
          <p:nvPr/>
        </p:nvSpPr>
        <p:spPr>
          <a:xfrm>
            <a:off x="6502400" y="2783207"/>
            <a:ext cx="5023104" cy="229870"/>
          </a:xfrm>
          <a:prstGeom prst="rect">
            <a:avLst/>
          </a:prstGeom>
          <a:noFill/>
          <a:ln/>
        </p:spPr>
        <p:txBody>
          <a:bodyPr wrap="square" lIns="0" tIns="0" rIns="0" bIns="0" rtlCol="0" anchor="t">
            <a:normAutofit/>
          </a:bodyPr>
          <a:lstStyle/>
          <a:p>
            <a:pPr algn="l" indent="0" marL="0">
              <a:lnSpc>
                <a:spcPts val="1610"/>
              </a:lnSpc>
              <a:buNone/>
            </a:pPr>
            <a:r>
              <a:rPr lang="en-US" sz="1150" b="1" spc="50" kern="0" dirty="0">
                <a:solidFill>
                  <a:srgbClr val="B8863B"/>
                </a:solidFill>
                <a:latin typeface="IBM Plex Sans" pitchFamily="34" charset="0"/>
                <a:ea typeface="IBM Plex Sans" pitchFamily="34" charset="-122"/>
                <a:cs typeface="IBM Plex Sans" pitchFamily="34" charset="-120"/>
              </a:rPr>
              <a:t>SAU — gộp còn 1 dòng</a:t>
            </a:r>
            <a:endParaRPr lang="en-US" sz="1150" dirty="0"/>
          </a:p>
        </p:txBody>
      </p:sp>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6512560" y="3099435"/>
          <a:ext cx="4866640" cy="736600"/>
        </p:xfrm>
        <a:graphic>
          <a:graphicData uri="http://schemas.openxmlformats.org/drawingml/2006/table">
            <a:tbl>
              <a:tblPr/>
              <a:tblGrid>
                <a:gridCol w="1622213"/>
                <a:gridCol w="1622213"/>
                <a:gridCol w="1622213"/>
              </a:tblGrid>
              <a:tr h="368300">
                <a:tc>
                  <a:txBody>
                    <a:bodyPr/>
                    <a:lstStyle/>
                    <a:p>
                      <a:pPr indent="0" marL="0">
                        <a:lnSpc>
                          <a:spcPts val="1820"/>
                        </a:lnSpc>
                        <a:buNone/>
                      </a:pPr>
                      <a:r>
                        <a:rPr lang="en-US" sz="1300" b="1" dirty="0">
                          <a:solidFill>
                            <a:srgbClr val="FAF9F5"/>
                          </a:solidFill>
                          <a:latin typeface="IBM Plex Sans" pitchFamily="34" charset="0"/>
                          <a:ea typeface="IBM Plex Sans" pitchFamily="34" charset="-122"/>
                          <a:cs typeface="IBM Plex Sans" pitchFamily="34" charset="-120"/>
                        </a:rPr>
                        <a:t>TID</a:t>
                      </a:r>
                      <a:endParaRPr lang="en-US" sz="1300" dirty="0">
                        <a:latin typeface="IBM Plex Sans" charset="0"/>
                        <a:ea typeface="IBM Plex Sans" charset="0"/>
                        <a:cs typeface="IBM Plex Sans" charset="0"/>
                      </a:endParaRPr>
                    </a:p>
                  </a:txBody>
                  <a:tcPr marL="101600" marR="101600" marT="63500" marB="63500" anchor="t">
                    <a:lnL w="12700" cap="flat" cmpd="sng" algn="ctr">
                      <a:solidFill>
                        <a:srgbClr val="C7C7C3"/>
                      </a:solidFill>
                      <a:prstDash val="solid"/>
                      <a:round/>
                      <a:headEnd type="none" w="med" len="med"/>
                      <a:tailEnd type="none" w="med" len="med"/>
                    </a:lnL>
                    <a:lnR w="12700" cap="flat" cmpd="sng" algn="ctr">
                      <a:solidFill>
                        <a:srgbClr val="1A232C"/>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1A232C"/>
                      </a:solidFill>
                      <a:prstDash val="solid"/>
                      <a:round/>
                      <a:headEnd type="none" w="med" len="med"/>
                      <a:tailEnd type="none" w="med" len="med"/>
                    </a:lnB>
                    <a:solidFill>
                      <a:srgbClr val="1C2733"/>
                    </a:solidFill>
                  </a:tcPr>
                </a:tc>
                <a:tc>
                  <a:txBody>
                    <a:bodyPr/>
                    <a:lstStyle/>
                    <a:p>
                      <a:pPr indent="0" marL="0">
                        <a:lnSpc>
                          <a:spcPts val="1820"/>
                        </a:lnSpc>
                        <a:buNone/>
                      </a:pPr>
                      <a:r>
                        <a:rPr lang="en-US" sz="1300" b="1" dirty="0">
                          <a:solidFill>
                            <a:srgbClr val="FAF9F5"/>
                          </a:solidFill>
                          <a:latin typeface="IBM Plex Sans" pitchFamily="34" charset="0"/>
                          <a:ea typeface="IBM Plex Sans" pitchFamily="34" charset="-122"/>
                          <a:cs typeface="IBM Plex Sans" pitchFamily="34" charset="-120"/>
                        </a:rPr>
                        <a:t>Items</a:t>
                      </a:r>
                      <a:endParaRPr lang="en-US" sz="1300" dirty="0">
                        <a:latin typeface="IBM Plex Sans" charset="0"/>
                        <a:ea typeface="IBM Plex Sans" charset="0"/>
                        <a:cs typeface="IBM Plex Sans" charset="0"/>
                      </a:endParaRPr>
                    </a:p>
                  </a:txBody>
                  <a:tcPr marL="101600" marR="101600" marT="63500" marB="63500" anchor="t">
                    <a:lnL w="12700" cap="flat" cmpd="sng" algn="ctr">
                      <a:solidFill>
                        <a:srgbClr val="1A232C"/>
                      </a:solidFill>
                      <a:prstDash val="solid"/>
                      <a:round/>
                      <a:headEnd type="none" w="med" len="med"/>
                      <a:tailEnd type="none" w="med" len="med"/>
                    </a:lnL>
                    <a:lnR w="12700" cap="flat" cmpd="sng" algn="ctr">
                      <a:solidFill>
                        <a:srgbClr val="1A232C"/>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1A232C"/>
                      </a:solidFill>
                      <a:prstDash val="solid"/>
                      <a:round/>
                      <a:headEnd type="none" w="med" len="med"/>
                      <a:tailEnd type="none" w="med" len="med"/>
                    </a:lnB>
                    <a:solidFill>
                      <a:srgbClr val="1C2733"/>
                    </a:solidFill>
                  </a:tcPr>
                </a:tc>
                <a:tc>
                  <a:txBody>
                    <a:bodyPr/>
                    <a:lstStyle/>
                    <a:p>
                      <a:pPr indent="0" marL="0">
                        <a:lnSpc>
                          <a:spcPts val="1820"/>
                        </a:lnSpc>
                        <a:buNone/>
                      </a:pPr>
                      <a:r>
                        <a:rPr lang="en-US" sz="1300" b="1" dirty="0">
                          <a:solidFill>
                            <a:srgbClr val="FAF9F5"/>
                          </a:solidFill>
                          <a:latin typeface="IBM Plex Sans" pitchFamily="34" charset="0"/>
                          <a:ea typeface="IBM Plex Sans" pitchFamily="34" charset="-122"/>
                          <a:cs typeface="IBM Plex Sans" pitchFamily="34" charset="-120"/>
                        </a:rPr>
                        <a:t>Utilities</a:t>
                      </a:r>
                      <a:endParaRPr lang="en-US" sz="1300" dirty="0">
                        <a:latin typeface="IBM Plex Sans" charset="0"/>
                        <a:ea typeface="IBM Plex Sans" charset="0"/>
                        <a:cs typeface="IBM Plex Sans" charset="0"/>
                      </a:endParaRPr>
                    </a:p>
                  </a:txBody>
                  <a:tcPr marL="101600" marR="101600" marT="63500" marB="63500" anchor="t">
                    <a:lnL w="12700" cap="flat" cmpd="sng" algn="ctr">
                      <a:solidFill>
                        <a:srgbClr val="1A232C"/>
                      </a:solidFill>
                      <a:prstDash val="solid"/>
                      <a:round/>
                      <a:headEnd type="none" w="med" len="med"/>
                      <a:tailEnd type="none" w="med" len="med"/>
                    </a:lnL>
                    <a:lnR w="12700" cap="flat" cmpd="sng" algn="ctr">
                      <a:solidFill>
                        <a:srgbClr val="1A232C"/>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1A232C"/>
                      </a:solidFill>
                      <a:prstDash val="solid"/>
                      <a:round/>
                      <a:headEnd type="none" w="med" len="med"/>
                      <a:tailEnd type="none" w="med" len="med"/>
                    </a:lnB>
                    <a:solidFill>
                      <a:srgbClr val="1C2733"/>
                    </a:solidFill>
                  </a:tcPr>
                </a:tc>
              </a:tr>
              <a:tr h="368300">
                <a:tc>
                  <a:txBody>
                    <a:bodyPr/>
                    <a:lstStyle/>
                    <a:p>
                      <a:pPr indent="0" marL="0">
                        <a:lnSpc>
                          <a:spcPts val="1820"/>
                        </a:lnSpc>
                        <a:buNone/>
                      </a:pPr>
                      <a:r>
                        <a:rPr lang="en-US" sz="1300" dirty="0">
                          <a:solidFill>
                            <a:srgbClr val="1C2733"/>
                          </a:solidFill>
                          <a:latin typeface="IBM Plex Sans" pitchFamily="34" charset="0"/>
                          <a:ea typeface="IBM Plex Sans" pitchFamily="34" charset="-122"/>
                          <a:cs typeface="IBM Plex Sans" pitchFamily="34" charset="-120"/>
                        </a:rPr>
                        <a:t>L(T1′,1)</a:t>
                      </a:r>
                      <a:endParaRPr lang="en-US" sz="1300" dirty="0">
                        <a:latin typeface="IBM Plex Sans" charset="0"/>
                        <a:ea typeface="IBM Plex Sans" charset="0"/>
                        <a:cs typeface="IBM Plex Sans" charset="0"/>
                      </a:endParaRPr>
                    </a:p>
                  </a:txBody>
                  <a:tcPr marL="101600" marR="101600" marT="63500" marB="63500" anchor="t">
                    <a:lnL w="12700" cap="flat" cmpd="sng" algn="ctr">
                      <a:solidFill>
                        <a:srgbClr val="C7C7C3"/>
                      </a:solidFill>
                      <a:prstDash val="solid"/>
                      <a:round/>
                      <a:headEnd type="none" w="med" len="med"/>
                      <a:tailEnd type="none" w="med" len="med"/>
                    </a:lnL>
                    <a:lnR w="12700" cap="flat" cmpd="sng" algn="ctr">
                      <a:solidFill>
                        <a:srgbClr val="C8C0B3"/>
                      </a:solidFill>
                      <a:prstDash val="solid"/>
                      <a:round/>
                      <a:headEnd type="none" w="med" len="med"/>
                      <a:tailEnd type="none" w="med" len="med"/>
                    </a:lnR>
                    <a:lnT w="12700" cap="flat" cmpd="sng" algn="ctr">
                      <a:solidFill>
                        <a:srgbClr val="1A232C"/>
                      </a:solidFill>
                      <a:prstDash val="solid"/>
                      <a:round/>
                      <a:headEnd type="none" w="med" len="med"/>
                      <a:tailEnd type="none" w="med" len="med"/>
                    </a:lnT>
                    <a:lnB w="12700" cap="flat" cmpd="sng" algn="ctr">
                      <a:solidFill>
                        <a:srgbClr val="C8C0B3"/>
                      </a:solidFill>
                      <a:prstDash val="solid"/>
                      <a:round/>
                      <a:headEnd type="none" w="med" len="med"/>
                      <a:tailEnd type="none" w="med" len="med"/>
                    </a:lnB>
                    <a:solidFill>
                      <a:srgbClr val="FBF1E0"/>
                    </a:solidFill>
                  </a:tcPr>
                </a:tc>
                <a:tc>
                  <a:txBody>
                    <a:bodyPr/>
                    <a:lstStyle/>
                    <a:p>
                      <a:pPr indent="0" marL="0">
                        <a:lnSpc>
                          <a:spcPts val="1820"/>
                        </a:lnSpc>
                        <a:buNone/>
                      </a:pPr>
                      <a:r>
                        <a:rPr lang="en-US" sz="1300" dirty="0">
                          <a:solidFill>
                            <a:srgbClr val="1C2733"/>
                          </a:solidFill>
                          <a:latin typeface="IBM Plex Sans" pitchFamily="34" charset="0"/>
                          <a:ea typeface="IBM Plex Sans" pitchFamily="34" charset="-122"/>
                          <a:cs typeface="IBM Plex Sans" pitchFamily="34" charset="-120"/>
                        </a:rPr>
                        <a:t>Q, P</a:t>
                      </a:r>
                      <a:endParaRPr lang="en-US" sz="1300" dirty="0">
                        <a:latin typeface="IBM Plex Sans" charset="0"/>
                        <a:ea typeface="IBM Plex Sans" charset="0"/>
                        <a:cs typeface="IBM Plex Sans" charset="0"/>
                      </a:endParaRPr>
                    </a:p>
                  </a:txBody>
                  <a:tcPr marL="101600" marR="101600" marT="63500" marB="63500" anchor="t">
                    <a:lnL w="12700" cap="flat" cmpd="sng" algn="ctr">
                      <a:solidFill>
                        <a:srgbClr val="C8C0B3"/>
                      </a:solidFill>
                      <a:prstDash val="solid"/>
                      <a:round/>
                      <a:headEnd type="none" w="med" len="med"/>
                      <a:tailEnd type="none" w="med" len="med"/>
                    </a:lnL>
                    <a:lnR w="12700" cap="flat" cmpd="sng" algn="ctr">
                      <a:solidFill>
                        <a:srgbClr val="C8C0B3"/>
                      </a:solidFill>
                      <a:prstDash val="solid"/>
                      <a:round/>
                      <a:headEnd type="none" w="med" len="med"/>
                      <a:tailEnd type="none" w="med" len="med"/>
                    </a:lnR>
                    <a:lnT w="12700" cap="flat" cmpd="sng" algn="ctr">
                      <a:solidFill>
                        <a:srgbClr val="1A232C"/>
                      </a:solidFill>
                      <a:prstDash val="solid"/>
                      <a:round/>
                      <a:headEnd type="none" w="med" len="med"/>
                      <a:tailEnd type="none" w="med" len="med"/>
                    </a:lnT>
                    <a:lnB w="12700" cap="flat" cmpd="sng" algn="ctr">
                      <a:solidFill>
                        <a:srgbClr val="C8C0B3"/>
                      </a:solidFill>
                      <a:prstDash val="solid"/>
                      <a:round/>
                      <a:headEnd type="none" w="med" len="med"/>
                      <a:tailEnd type="none" w="med" len="med"/>
                    </a:lnB>
                    <a:solidFill>
                      <a:srgbClr val="FBF1E0"/>
                    </a:solidFill>
                  </a:tcPr>
                </a:tc>
                <a:tc>
                  <a:txBody>
                    <a:bodyPr/>
                    <a:lstStyle/>
                    <a:p>
                      <a:pPr indent="0" marL="0">
                        <a:lnSpc>
                          <a:spcPts val="1820"/>
                        </a:lnSpc>
                        <a:buNone/>
                      </a:pPr>
                      <a:r>
                        <a:rPr lang="en-US" sz="1300" dirty="0">
                          <a:solidFill>
                            <a:srgbClr val="1C2733"/>
                          </a:solidFill>
                          <a:latin typeface="IBM Plex Sans" pitchFamily="34" charset="0"/>
                          <a:ea typeface="IBM Plex Sans" pitchFamily="34" charset="-122"/>
                          <a:cs typeface="IBM Plex Sans" pitchFamily="34" charset="-120"/>
                        </a:rPr>
                        <a:t>7, 25</a:t>
                      </a:r>
                      <a:endParaRPr lang="en-US" sz="1300" dirty="0">
                        <a:latin typeface="IBM Plex Sans" charset="0"/>
                        <a:ea typeface="IBM Plex Sans" charset="0"/>
                        <a:cs typeface="IBM Plex Sans" charset="0"/>
                      </a:endParaRPr>
                    </a:p>
                  </a:txBody>
                  <a:tcPr marL="101600" marR="101600" marT="63500" marB="63500" anchor="t">
                    <a:lnL w="12700" cap="flat" cmpd="sng" algn="ctr">
                      <a:solidFill>
                        <a:srgbClr val="C8C0B3"/>
                      </a:solidFill>
                      <a:prstDash val="solid"/>
                      <a:round/>
                      <a:headEnd type="none" w="med" len="med"/>
                      <a:tailEnd type="none" w="med" len="med"/>
                    </a:lnL>
                    <a:lnR w="12700" cap="flat" cmpd="sng" algn="ctr">
                      <a:solidFill>
                        <a:srgbClr val="C8C0B3"/>
                      </a:solidFill>
                      <a:prstDash val="solid"/>
                      <a:round/>
                      <a:headEnd type="none" w="med" len="med"/>
                      <a:tailEnd type="none" w="med" len="med"/>
                    </a:lnR>
                    <a:lnT w="12700" cap="flat" cmpd="sng" algn="ctr">
                      <a:solidFill>
                        <a:srgbClr val="1A232C"/>
                      </a:solidFill>
                      <a:prstDash val="solid"/>
                      <a:round/>
                      <a:headEnd type="none" w="med" len="med"/>
                      <a:tailEnd type="none" w="med" len="med"/>
                    </a:lnT>
                    <a:lnB w="12700" cap="flat" cmpd="sng" algn="ctr">
                      <a:solidFill>
                        <a:srgbClr val="C8C0B3"/>
                      </a:solidFill>
                      <a:prstDash val="solid"/>
                      <a:round/>
                      <a:headEnd type="none" w="med" len="med"/>
                      <a:tailEnd type="none" w="med" len="med"/>
                    </a:lnB>
                    <a:solidFill>
                      <a:srgbClr val="FBF1E0"/>
                    </a:solidFill>
                  </a:tcPr>
                </a:tc>
              </a:tr>
            </a:tbl>
          </a:graphicData>
        </a:graphic>
      </p:graphicFrame>
      <p:sp>
        <p:nvSpPr>
          <p:cNvPr id="10" name="Text 5"/>
          <p:cNvSpPr/>
          <p:nvPr/>
        </p:nvSpPr>
        <p:spPr>
          <a:xfrm>
            <a:off x="6502400" y="3937636"/>
            <a:ext cx="5023104"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8A9199"/>
                </a:solidFill>
                <a:latin typeface="IBM Plex Sans" pitchFamily="34" charset="0"/>
                <a:ea typeface="IBM Plex Sans" pitchFamily="34" charset="-122"/>
                <a:cs typeface="IBM Plex Sans" pitchFamily="34" charset="-120"/>
              </a:rPr>
              <a:t>u(Q)=6+1=7  ·  u(P)=19+6=25</a:t>
            </a:r>
            <a:endParaRPr lang="en-US" sz="1100" dirty="0"/>
          </a:p>
        </p:txBody>
      </p:sp>
      <p:sp>
        <p:nvSpPr>
          <p:cNvPr id="11" name="Shape 6"/>
          <p:cNvSpPr/>
          <p:nvPr/>
        </p:nvSpPr>
        <p:spPr>
          <a:xfrm>
            <a:off x="812800" y="5143500"/>
            <a:ext cx="10566400" cy="698500"/>
          </a:xfrm>
          <a:prstGeom prst="roundRect">
            <a:avLst>
              <a:gd name="adj" fmla="val 14545"/>
            </a:avLst>
          </a:prstGeom>
          <a:solidFill>
            <a:srgbClr val="1C2733"/>
          </a:solidFill>
          <a:ln/>
        </p:spPr>
      </p:sp>
      <p:sp>
        <p:nvSpPr>
          <p:cNvPr id="12" name="Text 7"/>
          <p:cNvSpPr/>
          <p:nvPr/>
        </p:nvSpPr>
        <p:spPr>
          <a:xfrm>
            <a:off x="990600" y="5270500"/>
            <a:ext cx="10517124"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FAF9F5"/>
                </a:solidFill>
                <a:latin typeface="IBM Plex Sans" pitchFamily="34" charset="0"/>
                <a:ea typeface="IBM Plex Sans" pitchFamily="34" charset="-122"/>
                <a:cs typeface="IBM Plex Sans" pitchFamily="34" charset="-120"/>
              </a:rPr>
              <a:t>2 dòng cần quét lại → còn </a:t>
            </a:r>
            <a:r>
              <a:rPr lang="en-US" sz="1250" b="1" dirty="0">
                <a:solidFill>
                  <a:srgbClr val="FAF9F5"/>
                </a:solidFill>
                <a:latin typeface="IBM Plex Sans" pitchFamily="34" charset="0"/>
                <a:ea typeface="IBM Plex Sans" pitchFamily="34" charset="-122"/>
                <a:cs typeface="IBM Plex Sans" pitchFamily="34" charset="-120"/>
              </a:rPr>
              <a:t>1 dòng</a:t>
            </a:r>
            <a:r>
              <a:rPr lang="en-US" sz="1250" dirty="0">
                <a:solidFill>
                  <a:srgbClr val="FAF9F5"/>
                </a:solidFill>
                <a:latin typeface="IBM Plex Sans" pitchFamily="34" charset="0"/>
                <a:ea typeface="IBM Plex Sans" pitchFamily="34" charset="-122"/>
                <a:cs typeface="IBM Plex Sans" pitchFamily="34" charset="-120"/>
              </a:rPr>
              <a:t>. Với hàng triệu giao dịch, số dòng giống hệt nhau rất lớn — gộp trước giúp giảm mạnh chi phí quét ở các bước đệ quy sau.</a:t>
            </a:r>
            <a:endParaRPr lang="en-US" sz="1250" dirty="0"/>
          </a:p>
        </p:txBody>
      </p:sp>
      <p:sp>
        <p:nvSpPr>
          <p:cNvPr id="13" name="Text 8"/>
          <p:cNvSpPr/>
          <p:nvPr/>
        </p:nvSpPr>
        <p:spPr>
          <a:xfrm>
            <a:off x="812800" y="6238242"/>
            <a:ext cx="45545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199"/>
                </a:solidFill>
                <a:latin typeface="IBM Plex Sans" pitchFamily="34" charset="0"/>
                <a:ea typeface="IBM Plex Sans" pitchFamily="34" charset="-122"/>
                <a:cs typeface="IBM Plex Sans" pitchFamily="34" charset="-120"/>
              </a:rPr>
              <a:t>8 / 34</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863B"/>
                </a:solidFill>
                <a:latin typeface="IBM Plex Sans" pitchFamily="34" charset="0"/>
                <a:ea typeface="IBM Plex Sans" pitchFamily="34" charset="-122"/>
                <a:cs typeface="IBM Plex Sans" pitchFamily="34" charset="-120"/>
              </a:rPr>
              <a:t>CHIẾN LƯỢC 4 / 4</a:t>
            </a:r>
            <a:endParaRPr lang="en-US" sz="1200" dirty="0"/>
          </a:p>
        </p:txBody>
      </p:sp>
      <p:sp>
        <p:nvSpPr>
          <p:cNvPr id="3" name="Text 1"/>
          <p:cNvSpPr/>
          <p:nvPr/>
        </p:nvSpPr>
        <p:spPr>
          <a:xfrm>
            <a:off x="812800" y="1076964"/>
            <a:ext cx="10883392" cy="34671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C2733"/>
                </a:solidFill>
                <a:latin typeface="EB Garamond" pitchFamily="34" charset="0"/>
                <a:ea typeface="EB Garamond" pitchFamily="34" charset="-122"/>
                <a:cs typeface="EB Garamond" pitchFamily="34" charset="-120"/>
              </a:rPr>
              <a:t>Nâng ngưỡng từ ích lợi danh sách khoản mục</a:t>
            </a:r>
            <a:endParaRPr lang="en-US" sz="2200" dirty="0"/>
          </a:p>
        </p:txBody>
      </p:sp>
      <p:sp>
        <p:nvSpPr>
          <p:cNvPr id="4" name="Text 2"/>
          <p:cNvSpPr/>
          <p:nvPr/>
        </p:nvSpPr>
        <p:spPr>
          <a:xfrm>
            <a:off x="812800" y="1537971"/>
            <a:ext cx="10883392"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4A5568"/>
                </a:solidFill>
                <a:latin typeface="IBM Plex Sans" pitchFamily="34" charset="0"/>
                <a:ea typeface="IBM Plex Sans" pitchFamily="34" charset="-122"/>
                <a:cs typeface="IBM Plex Sans" pitchFamily="34" charset="-120"/>
              </a:rPr>
              <a:t>Không chỉ dùng utility của </a:t>
            </a:r>
            <a:r>
              <a:rPr lang="en-US" sz="1250" b="1" dirty="0">
                <a:solidFill>
                  <a:srgbClr val="4A5568"/>
                </a:solidFill>
                <a:latin typeface="IBM Plex Sans" pitchFamily="34" charset="0"/>
                <a:ea typeface="IBM Plex Sans" pitchFamily="34" charset="-122"/>
                <a:cs typeface="IBM Plex Sans" pitchFamily="34" charset="-120"/>
              </a:rPr>
              <a:t>từng khoản mục đơn lẻ</a:t>
            </a:r>
            <a:r>
              <a:rPr lang="en-US" sz="1250" dirty="0">
                <a:solidFill>
                  <a:srgbClr val="4A5568"/>
                </a:solidFill>
                <a:latin typeface="IBM Plex Sans" pitchFamily="34" charset="0"/>
                <a:ea typeface="IBM Plex Sans" pitchFamily="34" charset="-122"/>
                <a:cs typeface="IBM Plex Sans" pitchFamily="34" charset="-120"/>
              </a:rPr>
              <a:t> — kết hợp thêm utility của </a:t>
            </a:r>
            <a:r>
              <a:rPr lang="en-US" sz="1250" b="1" dirty="0">
                <a:solidFill>
                  <a:srgbClr val="4A5568"/>
                </a:solidFill>
                <a:latin typeface="IBM Plex Sans" pitchFamily="34" charset="0"/>
                <a:ea typeface="IBM Plex Sans" pitchFamily="34" charset="-122"/>
                <a:cs typeface="IBM Plex Sans" pitchFamily="34" charset="-120"/>
              </a:rPr>
              <a:t>cả danh sách khoản mục</a:t>
            </a:r>
            <a:r>
              <a:rPr lang="en-US" sz="1250" dirty="0">
                <a:solidFill>
                  <a:srgbClr val="4A5568"/>
                </a:solidFill>
                <a:latin typeface="IBM Plex Sans" pitchFamily="34" charset="0"/>
                <a:ea typeface="IBM Plex Sans" pitchFamily="34" charset="-122"/>
                <a:cs typeface="IBM Plex Sans" pitchFamily="34" charset="-120"/>
              </a:rPr>
              <a:t> (coi cả 1 giao dịch/tầng như 1 "siêu khoản mục"):</a:t>
            </a:r>
            <a:endParaRPr lang="en-US" sz="1250" dirty="0"/>
          </a:p>
        </p:txBody>
      </p:sp>
      <p:sp>
        <p:nvSpPr>
          <p:cNvPr id="5" name="Shape 3"/>
          <p:cNvSpPr/>
          <p:nvPr/>
        </p:nvSpPr>
        <p:spPr>
          <a:xfrm>
            <a:off x="815975" y="2125346"/>
            <a:ext cx="5175250" cy="681990"/>
          </a:xfrm>
          <a:prstGeom prst="roundRect">
            <a:avLst>
              <a:gd name="adj" fmla="val 12570"/>
            </a:avLst>
          </a:prstGeom>
          <a:solidFill>
            <a:srgbClr val="FFFFFF"/>
          </a:solidFill>
          <a:ln w="6350">
            <a:solidFill>
              <a:srgbClr val="E3DDD0"/>
            </a:solidFill>
            <a:prstDash val="solid"/>
          </a:ln>
        </p:spPr>
      </p:sp>
      <p:sp>
        <p:nvSpPr>
          <p:cNvPr id="6" name="Text 4"/>
          <p:cNvSpPr/>
          <p:nvPr/>
        </p:nvSpPr>
        <p:spPr>
          <a:xfrm>
            <a:off x="982980" y="2254250"/>
            <a:ext cx="4986477" cy="220980"/>
          </a:xfrm>
          <a:prstGeom prst="rect">
            <a:avLst/>
          </a:prstGeom>
          <a:noFill/>
          <a:ln/>
        </p:spPr>
        <p:txBody>
          <a:bodyPr wrap="square" lIns="0" tIns="0" rIns="0" bIns="0" rtlCol="0" anchor="t">
            <a:normAutofit/>
          </a:bodyPr>
          <a:lstStyle/>
          <a:p>
            <a:pPr algn="l" indent="0" marL="0">
              <a:lnSpc>
                <a:spcPts val="1540"/>
              </a:lnSpc>
              <a:buNone/>
            </a:pPr>
            <a:r>
              <a:rPr lang="en-US" sz="1100" b="1" dirty="0">
                <a:solidFill>
                  <a:srgbClr val="8A9199"/>
                </a:solidFill>
                <a:latin typeface="IBM Plex Sans" pitchFamily="34" charset="0"/>
                <a:ea typeface="IBM Plex Sans" pitchFamily="34" charset="-122"/>
                <a:cs typeface="IBM Plex Sans" pitchFamily="34" charset="-120"/>
              </a:rPr>
              <a:t>Utility khoản mục đơn</a:t>
            </a:r>
            <a:endParaRPr lang="en-US" sz="1100" dirty="0"/>
          </a:p>
        </p:txBody>
      </p:sp>
      <p:sp>
        <p:nvSpPr>
          <p:cNvPr id="7" name="Text 5"/>
          <p:cNvSpPr/>
          <p:nvPr/>
        </p:nvSpPr>
        <p:spPr>
          <a:xfrm>
            <a:off x="982980" y="2449829"/>
            <a:ext cx="498647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C2733"/>
                </a:solidFill>
                <a:latin typeface="IBM Plex Sans" pitchFamily="34" charset="0"/>
                <a:ea typeface="IBM Plex Sans" pitchFamily="34" charset="-122"/>
                <a:cs typeface="IBM Plex Sans" pitchFamily="34" charset="-120"/>
              </a:rPr>
              <a:t>218, 99, 24, 95, 63, 36, 12, 12, 15, 80</a:t>
            </a:r>
            <a:endParaRPr lang="en-US" sz="1200" dirty="0"/>
          </a:p>
        </p:txBody>
      </p:sp>
      <p:sp>
        <p:nvSpPr>
          <p:cNvPr id="8" name="Shape 6"/>
          <p:cNvSpPr/>
          <p:nvPr/>
        </p:nvSpPr>
        <p:spPr>
          <a:xfrm>
            <a:off x="6200775" y="2125346"/>
            <a:ext cx="5175250" cy="681990"/>
          </a:xfrm>
          <a:prstGeom prst="roundRect">
            <a:avLst>
              <a:gd name="adj" fmla="val 12570"/>
            </a:avLst>
          </a:prstGeom>
          <a:solidFill>
            <a:srgbClr val="FBF1E0"/>
          </a:solidFill>
          <a:ln w="6350">
            <a:solidFill>
              <a:srgbClr val="D9B577"/>
            </a:solidFill>
            <a:prstDash val="solid"/>
          </a:ln>
        </p:spPr>
      </p:sp>
      <p:sp>
        <p:nvSpPr>
          <p:cNvPr id="9" name="Text 7"/>
          <p:cNvSpPr/>
          <p:nvPr/>
        </p:nvSpPr>
        <p:spPr>
          <a:xfrm>
            <a:off x="6367780" y="2254250"/>
            <a:ext cx="4986477" cy="220980"/>
          </a:xfrm>
          <a:prstGeom prst="rect">
            <a:avLst/>
          </a:prstGeom>
          <a:noFill/>
          <a:ln/>
        </p:spPr>
        <p:txBody>
          <a:bodyPr wrap="square" lIns="0" tIns="0" rIns="0" bIns="0" rtlCol="0" anchor="t">
            <a:normAutofit/>
          </a:bodyPr>
          <a:lstStyle/>
          <a:p>
            <a:pPr algn="l" indent="0" marL="0">
              <a:lnSpc>
                <a:spcPts val="1540"/>
              </a:lnSpc>
              <a:buNone/>
            </a:pPr>
            <a:r>
              <a:rPr lang="en-US" sz="1100" b="1" dirty="0">
                <a:solidFill>
                  <a:srgbClr val="8A6A3A"/>
                </a:solidFill>
                <a:latin typeface="IBM Plex Sans" pitchFamily="34" charset="0"/>
                <a:ea typeface="IBM Plex Sans" pitchFamily="34" charset="-122"/>
                <a:cs typeface="IBM Plex Sans" pitchFamily="34" charset="-120"/>
              </a:rPr>
              <a:t>Utility danh sách khoản mục</a:t>
            </a:r>
            <a:endParaRPr lang="en-US" sz="1100" dirty="0"/>
          </a:p>
        </p:txBody>
      </p:sp>
      <p:sp>
        <p:nvSpPr>
          <p:cNvPr id="10" name="Text 8"/>
          <p:cNvSpPr/>
          <p:nvPr/>
        </p:nvSpPr>
        <p:spPr>
          <a:xfrm>
            <a:off x="6367780" y="2449829"/>
            <a:ext cx="498647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C2733"/>
                </a:solidFill>
                <a:latin typeface="IBM Plex Sans" pitchFamily="34" charset="0"/>
                <a:ea typeface="IBM Plex Sans" pitchFamily="34" charset="-122"/>
                <a:cs typeface="IBM Plex Sans" pitchFamily="34" charset="-120"/>
              </a:rPr>
              <a:t>218, 32, 13, 108, 65, 25, 7, 13, 43, 34, 32, 33, 31</a:t>
            </a:r>
            <a:endParaRPr lang="en-US" sz="1200" dirty="0"/>
          </a:p>
        </p:txBody>
      </p:sp>
      <p:sp>
        <p:nvSpPr>
          <p:cNvPr id="11" name="Shape 9"/>
          <p:cNvSpPr/>
          <p:nvPr/>
        </p:nvSpPr>
        <p:spPr>
          <a:xfrm>
            <a:off x="812800" y="2950214"/>
            <a:ext cx="10566400" cy="1136650"/>
          </a:xfrm>
          <a:prstGeom prst="roundRect">
            <a:avLst>
              <a:gd name="adj" fmla="val 8939"/>
            </a:avLst>
          </a:prstGeom>
          <a:solidFill>
            <a:srgbClr val="1C2733"/>
          </a:solidFill>
          <a:ln/>
        </p:spPr>
      </p:sp>
      <p:sp>
        <p:nvSpPr>
          <p:cNvPr id="12" name="Text 10"/>
          <p:cNvSpPr/>
          <p:nvPr/>
        </p:nvSpPr>
        <p:spPr>
          <a:xfrm>
            <a:off x="1016000" y="3115314"/>
            <a:ext cx="10464800" cy="229870"/>
          </a:xfrm>
          <a:prstGeom prst="rect">
            <a:avLst/>
          </a:prstGeom>
          <a:noFill/>
          <a:ln/>
        </p:spPr>
        <p:txBody>
          <a:bodyPr wrap="square" lIns="0" tIns="0" rIns="0" bIns="0" rtlCol="0" anchor="t">
            <a:normAutofit/>
          </a:bodyPr>
          <a:lstStyle/>
          <a:p>
            <a:pPr algn="l" indent="0" marL="0">
              <a:lnSpc>
                <a:spcPts val="1610"/>
              </a:lnSpc>
              <a:buNone/>
            </a:pPr>
            <a:r>
              <a:rPr lang="en-US" sz="1150" b="1" spc="50" kern="0" dirty="0">
                <a:solidFill>
                  <a:srgbClr val="B8863B"/>
                </a:solidFill>
                <a:latin typeface="IBM Plex Sans" pitchFamily="34" charset="0"/>
                <a:ea typeface="IBM Plex Sans" pitchFamily="34" charset="-122"/>
                <a:cs typeface="IBM Plex Sans" pitchFamily="34" charset="-120"/>
              </a:rPr>
              <a:t>GỘP CẢ 2 → SẮP GIẢM DẦN → LẤY GIÁ TRỊ THỨ k=6</a:t>
            </a:r>
            <a:endParaRPr lang="en-US" sz="1150" dirty="0"/>
          </a:p>
        </p:txBody>
      </p:sp>
      <p:sp>
        <p:nvSpPr>
          <p:cNvPr id="13" name="Text 11"/>
          <p:cNvSpPr/>
          <p:nvPr/>
        </p:nvSpPr>
        <p:spPr>
          <a:xfrm>
            <a:off x="1016000" y="3383279"/>
            <a:ext cx="10464800" cy="26924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FAF9F5"/>
                </a:solidFill>
                <a:latin typeface="IBM Plex Sans" pitchFamily="34" charset="0"/>
                <a:ea typeface="IBM Plex Sans" pitchFamily="34" charset="-122"/>
                <a:cs typeface="IBM Plex Sans" pitchFamily="34" charset="-120"/>
              </a:rPr>
              <a:t>218, 218, 108, 99, 95, </a:t>
            </a:r>
            <a:r>
              <a:rPr lang="en-US" sz="1200" b="1" dirty="0">
                <a:solidFill>
                  <a:srgbClr val="FAF9F5"/>
                </a:solidFill>
                <a:latin typeface="IBM Plex Sans" pitchFamily="34" charset="0"/>
                <a:ea typeface="IBM Plex Sans" pitchFamily="34" charset="-122"/>
                <a:cs typeface="IBM Plex Sans" pitchFamily="34" charset="-120"/>
              </a:rPr>
              <a:t>80</a:t>
            </a:r>
            <a:r>
              <a:rPr lang="en-US" sz="1200" dirty="0">
                <a:solidFill>
                  <a:srgbClr val="FAF9F5"/>
                </a:solidFill>
                <a:latin typeface="IBM Plex Sans" pitchFamily="34" charset="0"/>
                <a:ea typeface="IBM Plex Sans" pitchFamily="34" charset="-122"/>
                <a:cs typeface="IBM Plex Sans" pitchFamily="34" charset="-120"/>
              </a:rPr>
              <a:t>, 65, 63, 43, 36, 34, 33, 32, 32, 31, 25, 24, 15, 13, 13, 12, 12, 7</a:t>
            </a:r>
            <a:endParaRPr lang="en-US" sz="1200" dirty="0"/>
          </a:p>
        </p:txBody>
      </p:sp>
      <p:sp>
        <p:nvSpPr>
          <p:cNvPr id="14" name="Text 12"/>
          <p:cNvSpPr/>
          <p:nvPr/>
        </p:nvSpPr>
        <p:spPr>
          <a:xfrm>
            <a:off x="1016000" y="3690621"/>
            <a:ext cx="10464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AF9F5"/>
                </a:solidFill>
                <a:latin typeface="IBM Plex Sans" pitchFamily="34" charset="0"/>
                <a:ea typeface="IBM Plex Sans" pitchFamily="34" charset="-122"/>
                <a:cs typeface="IBM Plex Sans" pitchFamily="34" charset="-120"/>
              </a:rPr>
              <a:t>minU = 80  </a:t>
            </a:r>
            <a:r>
              <a:rPr lang="en-US" sz="1300" b="1" dirty="0">
                <a:solidFill>
                  <a:srgbClr val="8A9199"/>
                </a:solidFill>
                <a:latin typeface="IBM Plex Sans" pitchFamily="34" charset="0"/>
                <a:ea typeface="IBM Plex Sans" pitchFamily="34" charset="-122"/>
                <a:cs typeface="IBM Plex Sans" pitchFamily="34" charset="-120"/>
              </a:rPr>
              <a:t>(so với 36 nếu chỉ dùng khoản mục đơn — slide 5)</a:t>
            </a:r>
            <a:endParaRPr lang="en-US" sz="1300" dirty="0"/>
          </a:p>
        </p:txBody>
      </p:sp>
      <p:sp>
        <p:nvSpPr>
          <p:cNvPr id="15" name="Text 13"/>
          <p:cNvSpPr/>
          <p:nvPr/>
        </p:nvSpPr>
        <p:spPr>
          <a:xfrm>
            <a:off x="812800" y="6238242"/>
            <a:ext cx="45545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199"/>
                </a:solidFill>
                <a:latin typeface="IBM Plex Sans" pitchFamily="34" charset="0"/>
                <a:ea typeface="IBM Plex Sans" pitchFamily="34" charset="-122"/>
                <a:cs typeface="IBM Plex Sans" pitchFamily="34" charset="-120"/>
              </a:rPr>
              <a:t>9 / 34</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863B"/>
                </a:solidFill>
                <a:latin typeface="IBM Plex Sans" pitchFamily="34" charset="0"/>
                <a:ea typeface="IBM Plex Sans" pitchFamily="34" charset="-122"/>
                <a:cs typeface="IBM Plex Sans" pitchFamily="34" charset="-120"/>
              </a:rPr>
              <a:t>NỀN TẢNG KẾ THỪA</a:t>
            </a:r>
            <a:endParaRPr lang="en-US" sz="1200" dirty="0"/>
          </a:p>
        </p:txBody>
      </p:sp>
      <p:sp>
        <p:nvSpPr>
          <p:cNvPr id="3" name="Text 1"/>
          <p:cNvSpPr/>
          <p:nvPr/>
        </p:nvSpPr>
        <p:spPr>
          <a:xfrm>
            <a:off x="812800" y="1102364"/>
            <a:ext cx="10883392" cy="34671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C2733"/>
                </a:solidFill>
                <a:latin typeface="EB Garamond" pitchFamily="34" charset="0"/>
                <a:ea typeface="EB Garamond" pitchFamily="34" charset="-122"/>
                <a:cs typeface="EB Garamond" pitchFamily="34" charset="-120"/>
              </a:rPr>
              <a:t>Ví dụ cụ thể: TK-MLHUI (dữ liệu chắc chắn)</a:t>
            </a:r>
            <a:endParaRPr lang="en-US" sz="2200" dirty="0"/>
          </a:p>
        </p:txBody>
      </p:sp>
      <p:sp>
        <p:nvSpPr>
          <p:cNvPr id="4" name="Shape 2"/>
          <p:cNvSpPr/>
          <p:nvPr/>
        </p:nvSpPr>
        <p:spPr>
          <a:xfrm>
            <a:off x="815975" y="1604646"/>
            <a:ext cx="5149850" cy="1172210"/>
          </a:xfrm>
          <a:prstGeom prst="roundRect">
            <a:avLst>
              <a:gd name="adj" fmla="val 8397"/>
            </a:avLst>
          </a:prstGeom>
          <a:solidFill>
            <a:srgbClr val="FFFFFF"/>
          </a:solidFill>
          <a:ln w="6350">
            <a:solidFill>
              <a:srgbClr val="E3DDD0"/>
            </a:solidFill>
            <a:prstDash val="solid"/>
          </a:ln>
        </p:spPr>
      </p:sp>
      <p:sp>
        <p:nvSpPr>
          <p:cNvPr id="5" name="Shape 3"/>
          <p:cNvSpPr/>
          <p:nvPr/>
        </p:nvSpPr>
        <p:spPr>
          <a:xfrm>
            <a:off x="2406412" y="1733550"/>
            <a:ext cx="993219" cy="358140"/>
          </a:xfrm>
          <a:prstGeom prst="roundRect">
            <a:avLst>
              <a:gd name="adj" fmla="val 17730"/>
            </a:avLst>
          </a:prstGeom>
          <a:solidFill>
            <a:srgbClr val="1C2733"/>
          </a:solidFill>
          <a:ln/>
        </p:spPr>
      </p:sp>
      <p:sp>
        <p:nvSpPr>
          <p:cNvPr id="6" name="Text 4"/>
          <p:cNvSpPr/>
          <p:nvPr/>
        </p:nvSpPr>
        <p:spPr>
          <a:xfrm>
            <a:off x="2546112" y="1797050"/>
            <a:ext cx="764619"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AF9F5"/>
                </a:solidFill>
                <a:latin typeface="IBM Plex Sans" pitchFamily="34" charset="0"/>
                <a:ea typeface="IBM Plex Sans" pitchFamily="34" charset="-122"/>
                <a:cs typeface="IBM Plex Sans" pitchFamily="34" charset="-120"/>
              </a:rPr>
              <a:t>Beverage</a:t>
            </a:r>
            <a:endParaRPr lang="en-US" sz="1300" dirty="0"/>
          </a:p>
        </p:txBody>
      </p:sp>
      <p:pic>
        <p:nvPicPr>
          <p:cNvPr id="7" name="Image 0" descr="arrow-up">    </p:cNvPr>
          <p:cNvPicPr>
            <a:picLocks noChangeAspect="1"/>
          </p:cNvPicPr>
          <p:nvPr/>
        </p:nvPicPr>
        <p:blipFill>
          <a:blip r:embed="rId1"/>
          <a:srcRect l="0" r="0" t="0" b="0"/>
          <a:stretch/>
        </p:blipFill>
        <p:spPr>
          <a:xfrm>
            <a:off x="2839482" y="2129792"/>
            <a:ext cx="127000" cy="165100"/>
          </a:xfrm>
          <a:prstGeom prst="rect">
            <a:avLst/>
          </a:prstGeom>
        </p:spPr>
      </p:pic>
      <p:sp>
        <p:nvSpPr>
          <p:cNvPr id="8" name="Shape 5"/>
          <p:cNvSpPr/>
          <p:nvPr/>
        </p:nvSpPr>
        <p:spPr>
          <a:xfrm>
            <a:off x="2303939" y="2332992"/>
            <a:ext cx="531495" cy="314960"/>
          </a:xfrm>
          <a:prstGeom prst="roundRect">
            <a:avLst>
              <a:gd name="adj" fmla="val 20161"/>
            </a:avLst>
          </a:prstGeom>
          <a:solidFill>
            <a:srgbClr val="F0EDE5"/>
          </a:solidFill>
          <a:ln/>
        </p:spPr>
      </p:sp>
      <p:sp>
        <p:nvSpPr>
          <p:cNvPr id="9" name="Text 6"/>
          <p:cNvSpPr/>
          <p:nvPr/>
        </p:nvSpPr>
        <p:spPr>
          <a:xfrm>
            <a:off x="2418239" y="2383792"/>
            <a:ext cx="35369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2733"/>
                </a:solidFill>
                <a:latin typeface="IBM Plex Sans" pitchFamily="34" charset="0"/>
                <a:ea typeface="IBM Plex Sans" pitchFamily="34" charset="-122"/>
                <a:cs typeface="IBM Plex Sans" pitchFamily="34" charset="-120"/>
              </a:rPr>
              <a:t>Cola</a:t>
            </a:r>
            <a:endParaRPr lang="en-US" sz="1200" dirty="0"/>
          </a:p>
        </p:txBody>
      </p:sp>
      <p:sp>
        <p:nvSpPr>
          <p:cNvPr id="10" name="Shape 7"/>
          <p:cNvSpPr/>
          <p:nvPr/>
        </p:nvSpPr>
        <p:spPr>
          <a:xfrm>
            <a:off x="2911634" y="2332992"/>
            <a:ext cx="590471" cy="314960"/>
          </a:xfrm>
          <a:prstGeom prst="roundRect">
            <a:avLst>
              <a:gd name="adj" fmla="val 20161"/>
            </a:avLst>
          </a:prstGeom>
          <a:solidFill>
            <a:srgbClr val="F0EDE5"/>
          </a:solidFill>
          <a:ln/>
        </p:spPr>
      </p:sp>
      <p:sp>
        <p:nvSpPr>
          <p:cNvPr id="11" name="Text 8"/>
          <p:cNvSpPr/>
          <p:nvPr/>
        </p:nvSpPr>
        <p:spPr>
          <a:xfrm>
            <a:off x="3025934" y="2383792"/>
            <a:ext cx="41267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2733"/>
                </a:solidFill>
                <a:latin typeface="IBM Plex Sans" pitchFamily="34" charset="0"/>
                <a:ea typeface="IBM Plex Sans" pitchFamily="34" charset="-122"/>
                <a:cs typeface="IBM Plex Sans" pitchFamily="34" charset="-120"/>
              </a:rPr>
              <a:t>Juice</a:t>
            </a:r>
            <a:endParaRPr lang="en-US" sz="1200" dirty="0"/>
          </a:p>
        </p:txBody>
      </p:sp>
      <p:sp>
        <p:nvSpPr>
          <p:cNvPr id="12" name="Shape 9"/>
          <p:cNvSpPr/>
          <p:nvPr/>
        </p:nvSpPr>
        <p:spPr>
          <a:xfrm>
            <a:off x="3730704" y="1733550"/>
            <a:ext cx="747157" cy="358140"/>
          </a:xfrm>
          <a:prstGeom prst="roundRect">
            <a:avLst>
              <a:gd name="adj" fmla="val 17730"/>
            </a:avLst>
          </a:prstGeom>
          <a:solidFill>
            <a:srgbClr val="1C2733"/>
          </a:solidFill>
          <a:ln/>
        </p:spPr>
      </p:sp>
      <p:sp>
        <p:nvSpPr>
          <p:cNvPr id="13" name="Text 10"/>
          <p:cNvSpPr/>
          <p:nvPr/>
        </p:nvSpPr>
        <p:spPr>
          <a:xfrm>
            <a:off x="3870404" y="1797050"/>
            <a:ext cx="518557"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AF9F5"/>
                </a:solidFill>
                <a:latin typeface="IBM Plex Sans" pitchFamily="34" charset="0"/>
                <a:ea typeface="IBM Plex Sans" pitchFamily="34" charset="-122"/>
                <a:cs typeface="IBM Plex Sans" pitchFamily="34" charset="-120"/>
              </a:rPr>
              <a:t>Snack</a:t>
            </a:r>
            <a:endParaRPr lang="en-US" sz="1300" dirty="0"/>
          </a:p>
        </p:txBody>
      </p:sp>
      <p:pic>
        <p:nvPicPr>
          <p:cNvPr id="14" name="Image 1" descr="arrow-up">    </p:cNvPr>
          <p:cNvPicPr>
            <a:picLocks noChangeAspect="1"/>
          </p:cNvPicPr>
          <p:nvPr/>
        </p:nvPicPr>
        <p:blipFill>
          <a:blip r:embed="rId2"/>
          <a:srcRect l="0" r="0" t="0" b="0"/>
          <a:stretch/>
        </p:blipFill>
        <p:spPr>
          <a:xfrm>
            <a:off x="4040743" y="2129792"/>
            <a:ext cx="127000" cy="165100"/>
          </a:xfrm>
          <a:prstGeom prst="rect">
            <a:avLst/>
          </a:prstGeom>
        </p:spPr>
      </p:pic>
      <p:sp>
        <p:nvSpPr>
          <p:cNvPr id="15" name="Shape 11"/>
          <p:cNvSpPr/>
          <p:nvPr/>
        </p:nvSpPr>
        <p:spPr>
          <a:xfrm>
            <a:off x="3798967" y="2332992"/>
            <a:ext cx="610553" cy="314960"/>
          </a:xfrm>
          <a:prstGeom prst="roundRect">
            <a:avLst>
              <a:gd name="adj" fmla="val 20161"/>
            </a:avLst>
          </a:prstGeom>
          <a:solidFill>
            <a:srgbClr val="F0EDE5"/>
          </a:solidFill>
          <a:ln/>
        </p:spPr>
      </p:sp>
      <p:sp>
        <p:nvSpPr>
          <p:cNvPr id="16" name="Text 12"/>
          <p:cNvSpPr/>
          <p:nvPr/>
        </p:nvSpPr>
        <p:spPr>
          <a:xfrm>
            <a:off x="3913267" y="2383792"/>
            <a:ext cx="43275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2733"/>
                </a:solidFill>
                <a:latin typeface="IBM Plex Sans" pitchFamily="34" charset="0"/>
                <a:ea typeface="IBM Plex Sans" pitchFamily="34" charset="-122"/>
                <a:cs typeface="IBM Plex Sans" pitchFamily="34" charset="-120"/>
              </a:rPr>
              <a:t>Chips</a:t>
            </a:r>
            <a:endParaRPr lang="en-US" sz="1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822960" y="2942589"/>
          <a:ext cx="5146040" cy="1473200"/>
        </p:xfrm>
        <a:graphic>
          <a:graphicData uri="http://schemas.openxmlformats.org/drawingml/2006/table">
            <a:tbl>
              <a:tblPr/>
              <a:tblGrid>
                <a:gridCol w="2573020"/>
                <a:gridCol w="2573020"/>
              </a:tblGrid>
              <a:tr h="368300">
                <a:tc>
                  <a:txBody>
                    <a:bodyPr/>
                    <a:lstStyle/>
                    <a:p>
                      <a:pPr indent="0" marL="0">
                        <a:lnSpc>
                          <a:spcPts val="1820"/>
                        </a:lnSpc>
                        <a:buNone/>
                      </a:pPr>
                      <a:r>
                        <a:rPr lang="en-US" sz="1300" b="1" dirty="0">
                          <a:solidFill>
                            <a:srgbClr val="FAF9F5"/>
                          </a:solidFill>
                          <a:latin typeface="IBM Plex Sans" pitchFamily="34" charset="0"/>
                          <a:ea typeface="IBM Plex Sans" pitchFamily="34" charset="-122"/>
                          <a:cs typeface="IBM Plex Sans" pitchFamily="34" charset="-120"/>
                        </a:rPr>
                        <a:t>GD</a:t>
                      </a:r>
                      <a:endParaRPr lang="en-US" sz="1300" dirty="0">
                        <a:latin typeface="IBM Plex Sans" charset="0"/>
                        <a:ea typeface="IBM Plex Sans" charset="0"/>
                        <a:cs typeface="IBM Plex Sans" charset="0"/>
                      </a:endParaRPr>
                    </a:p>
                  </a:txBody>
                  <a:tcPr marL="101600" marR="101600" marT="63500" marB="63500" anchor="t">
                    <a:lnL w="12700" cap="flat" cmpd="sng" algn="ctr">
                      <a:solidFill>
                        <a:srgbClr val="C7C7C3"/>
                      </a:solidFill>
                      <a:prstDash val="solid"/>
                      <a:round/>
                      <a:headEnd type="none" w="med" len="med"/>
                      <a:tailEnd type="none" w="med" len="med"/>
                    </a:lnL>
                    <a:lnR w="12700" cap="flat" cmpd="sng" algn="ctr">
                      <a:solidFill>
                        <a:srgbClr val="1A232C"/>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1A232C"/>
                      </a:solidFill>
                      <a:prstDash val="solid"/>
                      <a:round/>
                      <a:headEnd type="none" w="med" len="med"/>
                      <a:tailEnd type="none" w="med" len="med"/>
                    </a:lnB>
                    <a:solidFill>
                      <a:srgbClr val="1C2733"/>
                    </a:solidFill>
                  </a:tcPr>
                </a:tc>
                <a:tc>
                  <a:txBody>
                    <a:bodyPr/>
                    <a:lstStyle/>
                    <a:p>
                      <a:pPr indent="0" marL="0">
                        <a:lnSpc>
                          <a:spcPts val="1820"/>
                        </a:lnSpc>
                        <a:buNone/>
                      </a:pPr>
                      <a:r>
                        <a:rPr lang="en-US" sz="1300" b="1" dirty="0">
                          <a:solidFill>
                            <a:srgbClr val="FAF9F5"/>
                          </a:solidFill>
                          <a:latin typeface="IBM Plex Sans" pitchFamily="34" charset="0"/>
                          <a:ea typeface="IBM Plex Sans" pitchFamily="34" charset="-122"/>
                          <a:cs typeface="IBM Plex Sans" pitchFamily="34" charset="-120"/>
                        </a:rPr>
                        <a:t>Khoản mục (utility)</a:t>
                      </a:r>
                      <a:endParaRPr lang="en-US" sz="1300" dirty="0">
                        <a:latin typeface="IBM Plex Sans" charset="0"/>
                        <a:ea typeface="IBM Plex Sans" charset="0"/>
                        <a:cs typeface="IBM Plex Sans" charset="0"/>
                      </a:endParaRPr>
                    </a:p>
                  </a:txBody>
                  <a:tcPr marL="101600" marR="101600" marT="63500" marB="63500" anchor="t">
                    <a:lnL w="12700" cap="flat" cmpd="sng" algn="ctr">
                      <a:solidFill>
                        <a:srgbClr val="1A232C"/>
                      </a:solidFill>
                      <a:prstDash val="solid"/>
                      <a:round/>
                      <a:headEnd type="none" w="med" len="med"/>
                      <a:tailEnd type="none" w="med" len="med"/>
                    </a:lnL>
                    <a:lnR w="12700" cap="flat" cmpd="sng" algn="ctr">
                      <a:solidFill>
                        <a:srgbClr val="1A232C"/>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1A232C"/>
                      </a:solidFill>
                      <a:prstDash val="solid"/>
                      <a:round/>
                      <a:headEnd type="none" w="med" len="med"/>
                      <a:tailEnd type="none" w="med" len="med"/>
                    </a:lnB>
                    <a:solidFill>
                      <a:srgbClr val="1C2733"/>
                    </a:solidFill>
                  </a:tcPr>
                </a:tc>
              </a:tr>
              <a:tr h="368300">
                <a:tc>
                  <a:txBody>
                    <a:bodyPr/>
                    <a:lstStyle/>
                    <a:p>
                      <a:pPr indent="0" marL="0">
                        <a:lnSpc>
                          <a:spcPts val="1820"/>
                        </a:lnSpc>
                        <a:buNone/>
                      </a:pPr>
                      <a:r>
                        <a:rPr lang="en-US" sz="1300" dirty="0">
                          <a:solidFill>
                            <a:srgbClr val="1C2733"/>
                          </a:solidFill>
                          <a:latin typeface="IBM Plex Sans" pitchFamily="34" charset="0"/>
                          <a:ea typeface="IBM Plex Sans" pitchFamily="34" charset="-122"/>
                          <a:cs typeface="IBM Plex Sans" pitchFamily="34" charset="-120"/>
                        </a:rPr>
                        <a:t>T1</a:t>
                      </a:r>
                      <a:endParaRPr lang="en-US" sz="1300" dirty="0">
                        <a:latin typeface="IBM Plex Sans" charset="0"/>
                        <a:ea typeface="IBM Plex Sans" charset="0"/>
                        <a:cs typeface="IBM Plex Sans" charset="0"/>
                      </a:endParaRPr>
                    </a:p>
                  </a:txBody>
                  <a:tcPr marL="101600" marR="101600" marT="63500" marB="63500" anchor="t">
                    <a:lnL w="12700" cap="flat" cmpd="sng" algn="ctr">
                      <a:solidFill>
                        <a:srgbClr val="C7C7C3"/>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A232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C2733"/>
                          </a:solidFill>
                          <a:latin typeface="IBM Plex Sans" pitchFamily="34" charset="0"/>
                          <a:ea typeface="IBM Plex Sans" pitchFamily="34" charset="-122"/>
                          <a:cs typeface="IBM Plex Sans" pitchFamily="34" charset="-120"/>
                        </a:rPr>
                        <a:t>Cola(6), Chips(4)</a:t>
                      </a:r>
                      <a:endParaRPr lang="en-US" sz="1300" dirty="0">
                        <a:latin typeface="IBM Plex Sans" charset="0"/>
                        <a:ea typeface="IBM Plex Sans" charset="0"/>
                        <a:cs typeface="IBM Plex Sans" charset="0"/>
                      </a:endParaRPr>
                    </a:p>
                  </a:txBody>
                  <a:tcPr marL="101600" marR="1016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A232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68300">
                <a:tc>
                  <a:txBody>
                    <a:bodyPr/>
                    <a:lstStyle/>
                    <a:p>
                      <a:pPr indent="0" marL="0">
                        <a:lnSpc>
                          <a:spcPts val="1820"/>
                        </a:lnSpc>
                        <a:buNone/>
                      </a:pPr>
                      <a:r>
                        <a:rPr lang="en-US" sz="1300" dirty="0">
                          <a:solidFill>
                            <a:srgbClr val="1C2733"/>
                          </a:solidFill>
                          <a:latin typeface="IBM Plex Sans" pitchFamily="34" charset="0"/>
                          <a:ea typeface="IBM Plex Sans" pitchFamily="34" charset="-122"/>
                          <a:cs typeface="IBM Plex Sans" pitchFamily="34" charset="-120"/>
                        </a:rPr>
                        <a:t>T2</a:t>
                      </a:r>
                      <a:endParaRPr lang="en-US" sz="1300" dirty="0">
                        <a:latin typeface="IBM Plex Sans" charset="0"/>
                        <a:ea typeface="IBM Plex Sans" charset="0"/>
                        <a:cs typeface="IBM Plex Sans" charset="0"/>
                      </a:endParaRPr>
                    </a:p>
                  </a:txBody>
                  <a:tcPr marL="101600" marR="101600" marT="63500" marB="63500" anchor="t">
                    <a:lnL w="12700" cap="flat" cmpd="sng" algn="ctr">
                      <a:solidFill>
                        <a:srgbClr val="C7C7C3"/>
                      </a:solidFill>
                      <a:prstDash val="solid"/>
                      <a:round/>
                      <a:headEnd type="none" w="med" len="med"/>
                      <a:tailEnd type="none" w="med" len="med"/>
                    </a:lnL>
                    <a:lnR w="12700" cap="flat" cmpd="sng" algn="ctr">
                      <a:solidFill>
                        <a:srgbClr val="C0BDB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c>
                  <a:txBody>
                    <a:bodyPr/>
                    <a:lstStyle/>
                    <a:p>
                      <a:pPr indent="0" marL="0">
                        <a:lnSpc>
                          <a:spcPts val="1820"/>
                        </a:lnSpc>
                        <a:buNone/>
                      </a:pPr>
                      <a:r>
                        <a:rPr lang="en-US" sz="1300" dirty="0">
                          <a:solidFill>
                            <a:srgbClr val="1C2733"/>
                          </a:solidFill>
                          <a:latin typeface="IBM Plex Sans" pitchFamily="34" charset="0"/>
                          <a:ea typeface="IBM Plex Sans" pitchFamily="34" charset="-122"/>
                          <a:cs typeface="IBM Plex Sans" pitchFamily="34" charset="-120"/>
                        </a:rPr>
                        <a:t>Juice(5), Chips(3)</a:t>
                      </a:r>
                      <a:endParaRPr lang="en-US" sz="1300" dirty="0">
                        <a:latin typeface="IBM Plex Sans" charset="0"/>
                        <a:ea typeface="IBM Plex Sans" charset="0"/>
                        <a:cs typeface="IBM Plex Sans" charset="0"/>
                      </a:endParaRPr>
                    </a:p>
                  </a:txBody>
                  <a:tcPr marL="101600" marR="101600" marT="63500" marB="63500" anchor="t">
                    <a:lnL w="12700" cap="flat" cmpd="sng" algn="ctr">
                      <a:solidFill>
                        <a:srgbClr val="C0BDB7"/>
                      </a:solidFill>
                      <a:prstDash val="solid"/>
                      <a:round/>
                      <a:headEnd type="none" w="med" len="med"/>
                      <a:tailEnd type="none" w="med" len="med"/>
                    </a:lnL>
                    <a:lnR w="12700" cap="flat" cmpd="sng" algn="ctr">
                      <a:solidFill>
                        <a:srgbClr val="C0BDB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r>
              <a:tr h="368300">
                <a:tc>
                  <a:txBody>
                    <a:bodyPr/>
                    <a:lstStyle/>
                    <a:p>
                      <a:pPr indent="0" marL="0">
                        <a:lnSpc>
                          <a:spcPts val="1820"/>
                        </a:lnSpc>
                        <a:buNone/>
                      </a:pPr>
                      <a:r>
                        <a:rPr lang="en-US" sz="1300" dirty="0">
                          <a:solidFill>
                            <a:srgbClr val="1C2733"/>
                          </a:solidFill>
                          <a:latin typeface="IBM Plex Sans" pitchFamily="34" charset="0"/>
                          <a:ea typeface="IBM Plex Sans" pitchFamily="34" charset="-122"/>
                          <a:cs typeface="IBM Plex Sans" pitchFamily="34" charset="-120"/>
                        </a:rPr>
                        <a:t>T3</a:t>
                      </a:r>
                      <a:endParaRPr lang="en-US" sz="1300" dirty="0">
                        <a:latin typeface="IBM Plex Sans" charset="0"/>
                        <a:ea typeface="IBM Plex Sans" charset="0"/>
                        <a:cs typeface="IBM Plex Sans" charset="0"/>
                      </a:endParaRPr>
                    </a:p>
                  </a:txBody>
                  <a:tcPr marL="101600" marR="101600" marT="63500" marB="63500" anchor="t">
                    <a:lnL w="12700" cap="flat" cmpd="sng" algn="ctr">
                      <a:solidFill>
                        <a:srgbClr val="C7C7C3"/>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BDB7"/>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C2733"/>
                          </a:solidFill>
                          <a:latin typeface="IBM Plex Sans" pitchFamily="34" charset="0"/>
                          <a:ea typeface="IBM Plex Sans" pitchFamily="34" charset="-122"/>
                          <a:cs typeface="IBM Plex Sans" pitchFamily="34" charset="-120"/>
                        </a:rPr>
                        <a:t>Cola(7), Juice(4)</a:t>
                      </a:r>
                      <a:endParaRPr lang="en-US" sz="1300" dirty="0">
                        <a:latin typeface="IBM Plex Sans" charset="0"/>
                        <a:ea typeface="IBM Plex Sans" charset="0"/>
                        <a:cs typeface="IBM Plex Sans" charset="0"/>
                      </a:endParaRPr>
                    </a:p>
                  </a:txBody>
                  <a:tcPr marL="101600" marR="1016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BDB7"/>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graphicFrame>
        <p:nvGraphicFramePr>
          <p:cNvPr id="18" name="Table 1"/>
          <p:cNvGraphicFramePr>
            <a:graphicFrameLocks noGrp="1"/>
          </p:cNvGraphicFramePr>
          <p:nvPr>
            <p:extLst>
              <p:ext uri="{D42A27DB-BD31-4B8C-83A1-F6EECF244321}">
                <p14:modId xmlns:p14="http://schemas.microsoft.com/office/powerpoint/2010/main" val="1579011935"/>
              </p:ext>
            </p:extLst>
          </p:nvPr>
        </p:nvGraphicFramePr>
        <p:xfrm>
          <a:off x="6233160" y="1611631"/>
          <a:ext cx="5146040" cy="1841500"/>
        </p:xfrm>
        <a:graphic>
          <a:graphicData uri="http://schemas.openxmlformats.org/drawingml/2006/table">
            <a:tbl>
              <a:tblPr/>
              <a:tblGrid>
                <a:gridCol w="2573020"/>
                <a:gridCol w="2573020"/>
              </a:tblGrid>
              <a:tr h="368300">
                <a:tc>
                  <a:txBody>
                    <a:bodyPr/>
                    <a:lstStyle/>
                    <a:p>
                      <a:pPr indent="0" marL="0">
                        <a:lnSpc>
                          <a:spcPts val="1820"/>
                        </a:lnSpc>
                        <a:buNone/>
                      </a:pPr>
                      <a:r>
                        <a:rPr lang="en-US" sz="1300" b="1" dirty="0">
                          <a:solidFill>
                            <a:srgbClr val="FAF9F5"/>
                          </a:solidFill>
                          <a:latin typeface="IBM Plex Sans" pitchFamily="34" charset="0"/>
                          <a:ea typeface="IBM Plex Sans" pitchFamily="34" charset="-122"/>
                          <a:cs typeface="IBM Plex Sans" pitchFamily="34" charset="-120"/>
                        </a:rPr>
                        <a:t>Tập mục</a:t>
                      </a:r>
                      <a:endParaRPr lang="en-US" sz="1300" dirty="0">
                        <a:latin typeface="IBM Plex Sans" charset="0"/>
                        <a:ea typeface="IBM Plex Sans" charset="0"/>
                        <a:cs typeface="IBM Plex Sans" charset="0"/>
                      </a:endParaRPr>
                    </a:p>
                  </a:txBody>
                  <a:tcPr marL="101600" marR="101600" marT="63500" marB="63500" anchor="t">
                    <a:lnL w="12700" cap="flat" cmpd="sng" algn="ctr">
                      <a:solidFill>
                        <a:srgbClr val="C7C7C3"/>
                      </a:solidFill>
                      <a:prstDash val="solid"/>
                      <a:round/>
                      <a:headEnd type="none" w="med" len="med"/>
                      <a:tailEnd type="none" w="med" len="med"/>
                    </a:lnL>
                    <a:lnR w="12700" cap="flat" cmpd="sng" algn="ctr">
                      <a:solidFill>
                        <a:srgbClr val="1A232C"/>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1A232C"/>
                      </a:solidFill>
                      <a:prstDash val="solid"/>
                      <a:round/>
                      <a:headEnd type="none" w="med" len="med"/>
                      <a:tailEnd type="none" w="med" len="med"/>
                    </a:lnB>
                    <a:solidFill>
                      <a:srgbClr val="1C2733"/>
                    </a:solidFill>
                  </a:tcPr>
                </a:tc>
                <a:tc>
                  <a:txBody>
                    <a:bodyPr/>
                    <a:lstStyle/>
                    <a:p>
                      <a:pPr algn="r" indent="0" marL="0">
                        <a:lnSpc>
                          <a:spcPts val="1820"/>
                        </a:lnSpc>
                        <a:buNone/>
                      </a:pPr>
                      <a:r>
                        <a:rPr lang="en-US" sz="1300" b="1" dirty="0">
                          <a:solidFill>
                            <a:srgbClr val="FAF9F5"/>
                          </a:solidFill>
                          <a:latin typeface="IBM Plex Sans" pitchFamily="34" charset="0"/>
                          <a:ea typeface="IBM Plex Sans" pitchFamily="34" charset="-122"/>
                          <a:cs typeface="IBM Plex Sans" pitchFamily="34" charset="-120"/>
                        </a:rPr>
                        <a:t>Utility</a:t>
                      </a:r>
                      <a:endParaRPr lang="en-US" sz="1300" dirty="0">
                        <a:latin typeface="IBM Plex Sans" charset="0"/>
                        <a:ea typeface="IBM Plex Sans" charset="0"/>
                        <a:cs typeface="IBM Plex Sans" charset="0"/>
                      </a:endParaRPr>
                    </a:p>
                  </a:txBody>
                  <a:tcPr marL="101600" marR="101600" marT="63500" marB="63500" anchor="t">
                    <a:lnL w="12700" cap="flat" cmpd="sng" algn="ctr">
                      <a:solidFill>
                        <a:srgbClr val="1A232C"/>
                      </a:solidFill>
                      <a:prstDash val="solid"/>
                      <a:round/>
                      <a:headEnd type="none" w="med" len="med"/>
                      <a:tailEnd type="none" w="med" len="med"/>
                    </a:lnL>
                    <a:lnR w="12700" cap="flat" cmpd="sng" algn="ctr">
                      <a:solidFill>
                        <a:srgbClr val="1A232C"/>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1A232C"/>
                      </a:solidFill>
                      <a:prstDash val="solid"/>
                      <a:round/>
                      <a:headEnd type="none" w="med" len="med"/>
                      <a:tailEnd type="none" w="med" len="med"/>
                    </a:lnB>
                    <a:solidFill>
                      <a:srgbClr val="1C2733"/>
                    </a:solidFill>
                  </a:tcPr>
                </a:tc>
              </a:tr>
              <a:tr h="368300">
                <a:tc>
                  <a:txBody>
                    <a:bodyPr/>
                    <a:lstStyle/>
                    <a:p>
                      <a:pPr indent="0" marL="0">
                        <a:lnSpc>
                          <a:spcPts val="1820"/>
                        </a:lnSpc>
                        <a:buNone/>
                      </a:pPr>
                      <a:r>
                        <a:rPr lang="en-US" sz="1300" dirty="0">
                          <a:solidFill>
                            <a:srgbClr val="1C2733"/>
                          </a:solidFill>
                          <a:latin typeface="IBM Plex Sans" pitchFamily="34" charset="0"/>
                          <a:ea typeface="IBM Plex Sans" pitchFamily="34" charset="-122"/>
                          <a:cs typeface="IBM Plex Sans" pitchFamily="34" charset="-120"/>
                        </a:rPr>
                        <a:t>Beverage</a:t>
                      </a:r>
                      <a:endParaRPr lang="en-US" sz="1300" dirty="0">
                        <a:latin typeface="IBM Plex Sans" charset="0"/>
                        <a:ea typeface="IBM Plex Sans" charset="0"/>
                        <a:cs typeface="IBM Plex Sans" charset="0"/>
                      </a:endParaRPr>
                    </a:p>
                  </a:txBody>
                  <a:tcPr marL="101600" marR="101600" marT="63500" marB="63500" anchor="t">
                    <a:lnL w="12700" cap="flat" cmpd="sng" algn="ctr">
                      <a:solidFill>
                        <a:srgbClr val="C7C7C3"/>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A232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r" indent="0" marL="0">
                        <a:lnSpc>
                          <a:spcPts val="1820"/>
                        </a:lnSpc>
                        <a:buNone/>
                      </a:pPr>
                      <a:r>
                        <a:rPr lang="en-US" sz="1300" dirty="0">
                          <a:solidFill>
                            <a:srgbClr val="1C2733"/>
                          </a:solidFill>
                          <a:latin typeface="IBM Plex Sans" pitchFamily="34" charset="0"/>
                          <a:ea typeface="IBM Plex Sans" pitchFamily="34" charset="-122"/>
                          <a:cs typeface="IBM Plex Sans" pitchFamily="34" charset="-120"/>
                        </a:rPr>
                        <a:t>22</a:t>
                      </a:r>
                      <a:endParaRPr lang="en-US" sz="1300" dirty="0">
                        <a:latin typeface="IBM Plex Sans" charset="0"/>
                        <a:ea typeface="IBM Plex Sans" charset="0"/>
                        <a:cs typeface="IBM Plex Sans" charset="0"/>
                      </a:endParaRPr>
                    </a:p>
                  </a:txBody>
                  <a:tcPr marL="101600" marR="1016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A232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68300">
                <a:tc>
                  <a:txBody>
                    <a:bodyPr/>
                    <a:lstStyle/>
                    <a:p>
                      <a:pPr indent="0" marL="0">
                        <a:lnSpc>
                          <a:spcPts val="1820"/>
                        </a:lnSpc>
                        <a:buNone/>
                      </a:pPr>
                      <a:r>
                        <a:rPr lang="en-US" sz="1300" dirty="0">
                          <a:solidFill>
                            <a:srgbClr val="1C2733"/>
                          </a:solidFill>
                          <a:latin typeface="IBM Plex Sans" pitchFamily="34" charset="0"/>
                          <a:ea typeface="IBM Plex Sans" pitchFamily="34" charset="-122"/>
                          <a:cs typeface="IBM Plex Sans" pitchFamily="34" charset="-120"/>
                        </a:rPr>
                        <a:t>Snack</a:t>
                      </a:r>
                      <a:endParaRPr lang="en-US" sz="1300" dirty="0">
                        <a:latin typeface="IBM Plex Sans" charset="0"/>
                        <a:ea typeface="IBM Plex Sans" charset="0"/>
                        <a:cs typeface="IBM Plex Sans" charset="0"/>
                      </a:endParaRPr>
                    </a:p>
                  </a:txBody>
                  <a:tcPr marL="101600" marR="101600" marT="63500" marB="63500" anchor="t">
                    <a:lnL w="12700" cap="flat" cmpd="sng" algn="ctr">
                      <a:solidFill>
                        <a:srgbClr val="C7C7C3"/>
                      </a:solidFill>
                      <a:prstDash val="solid"/>
                      <a:round/>
                      <a:headEnd type="none" w="med" len="med"/>
                      <a:tailEnd type="none" w="med" len="med"/>
                    </a:lnL>
                    <a:lnR w="12700" cap="flat" cmpd="sng" algn="ctr">
                      <a:solidFill>
                        <a:srgbClr val="C0BDB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c>
                  <a:txBody>
                    <a:bodyPr/>
                    <a:lstStyle/>
                    <a:p>
                      <a:pPr algn="r" indent="0" marL="0">
                        <a:lnSpc>
                          <a:spcPts val="1820"/>
                        </a:lnSpc>
                        <a:buNone/>
                      </a:pPr>
                      <a:r>
                        <a:rPr lang="en-US" sz="1300" dirty="0">
                          <a:solidFill>
                            <a:srgbClr val="1C2733"/>
                          </a:solidFill>
                          <a:latin typeface="IBM Plex Sans" pitchFamily="34" charset="0"/>
                          <a:ea typeface="IBM Plex Sans" pitchFamily="34" charset="-122"/>
                          <a:cs typeface="IBM Plex Sans" pitchFamily="34" charset="-120"/>
                        </a:rPr>
                        <a:t>7</a:t>
                      </a:r>
                      <a:endParaRPr lang="en-US" sz="1300" dirty="0">
                        <a:latin typeface="IBM Plex Sans" charset="0"/>
                        <a:ea typeface="IBM Plex Sans" charset="0"/>
                        <a:cs typeface="IBM Plex Sans" charset="0"/>
                      </a:endParaRPr>
                    </a:p>
                  </a:txBody>
                  <a:tcPr marL="101600" marR="101600" marT="63500" marB="63500" anchor="t">
                    <a:lnL w="12700" cap="flat" cmpd="sng" algn="ctr">
                      <a:solidFill>
                        <a:srgbClr val="C0BDB7"/>
                      </a:solidFill>
                      <a:prstDash val="solid"/>
                      <a:round/>
                      <a:headEnd type="none" w="med" len="med"/>
                      <a:tailEnd type="none" w="med" len="med"/>
                    </a:lnL>
                    <a:lnR w="12700" cap="flat" cmpd="sng" algn="ctr">
                      <a:solidFill>
                        <a:srgbClr val="C0BDB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r>
              <a:tr h="368300">
                <a:tc>
                  <a:txBody>
                    <a:bodyPr/>
                    <a:lstStyle/>
                    <a:p>
                      <a:pPr indent="0" marL="0">
                        <a:lnSpc>
                          <a:spcPts val="1820"/>
                        </a:lnSpc>
                        <a:buNone/>
                      </a:pPr>
                      <a:r>
                        <a:rPr lang="en-US" sz="1300" dirty="0">
                          <a:solidFill>
                            <a:srgbClr val="1C2733"/>
                          </a:solidFill>
                          <a:latin typeface="IBM Plex Sans" pitchFamily="34" charset="0"/>
                          <a:ea typeface="IBM Plex Sans" pitchFamily="34" charset="-122"/>
                          <a:cs typeface="IBM Plex Sans" pitchFamily="34" charset="-120"/>
                        </a:rPr>
                        <a:t>Cola, Juice</a:t>
                      </a:r>
                      <a:endParaRPr lang="en-US" sz="1300" dirty="0">
                        <a:latin typeface="IBM Plex Sans" charset="0"/>
                        <a:ea typeface="IBM Plex Sans" charset="0"/>
                        <a:cs typeface="IBM Plex Sans" charset="0"/>
                      </a:endParaRPr>
                    </a:p>
                  </a:txBody>
                  <a:tcPr marL="101600" marR="101600" marT="63500" marB="63500" anchor="t">
                    <a:lnL w="12700" cap="flat" cmpd="sng" algn="ctr">
                      <a:solidFill>
                        <a:srgbClr val="C7C7C3"/>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BDB7"/>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r" indent="0" marL="0">
                        <a:lnSpc>
                          <a:spcPts val="1820"/>
                        </a:lnSpc>
                        <a:buNone/>
                      </a:pPr>
                      <a:r>
                        <a:rPr lang="en-US" sz="1300" dirty="0">
                          <a:solidFill>
                            <a:srgbClr val="1C2733"/>
                          </a:solidFill>
                          <a:latin typeface="IBM Plex Sans" pitchFamily="34" charset="0"/>
                          <a:ea typeface="IBM Plex Sans" pitchFamily="34" charset="-122"/>
                          <a:cs typeface="IBM Plex Sans" pitchFamily="34" charset="-120"/>
                        </a:rPr>
                        <a:t>11</a:t>
                      </a:r>
                      <a:endParaRPr lang="en-US" sz="1300" dirty="0">
                        <a:latin typeface="IBM Plex Sans" charset="0"/>
                        <a:ea typeface="IBM Plex Sans" charset="0"/>
                        <a:cs typeface="IBM Plex Sans" charset="0"/>
                      </a:endParaRPr>
                    </a:p>
                  </a:txBody>
                  <a:tcPr marL="101600" marR="101600" marT="63500" marB="635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BDB7"/>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68300">
                <a:tc>
                  <a:txBody>
                    <a:bodyPr/>
                    <a:lstStyle/>
                    <a:p>
                      <a:pPr indent="0" marL="0">
                        <a:lnSpc>
                          <a:spcPts val="1820"/>
                        </a:lnSpc>
                        <a:buNone/>
                      </a:pPr>
                      <a:r>
                        <a:rPr lang="en-US" sz="1300" dirty="0">
                          <a:solidFill>
                            <a:srgbClr val="1C2733"/>
                          </a:solidFill>
                          <a:latin typeface="IBM Plex Sans" pitchFamily="34" charset="0"/>
                          <a:ea typeface="IBM Plex Sans" pitchFamily="34" charset="-122"/>
                          <a:cs typeface="IBM Plex Sans" pitchFamily="34" charset="-120"/>
                        </a:rPr>
                        <a:t>Beverage, Snack</a:t>
                      </a:r>
                      <a:endParaRPr lang="en-US" sz="1300" dirty="0">
                        <a:latin typeface="IBM Plex Sans" charset="0"/>
                        <a:ea typeface="IBM Plex Sans" charset="0"/>
                        <a:cs typeface="IBM Plex Sans" charset="0"/>
                      </a:endParaRPr>
                    </a:p>
                  </a:txBody>
                  <a:tcPr marL="101600" marR="101600" marT="63500" marB="63500" anchor="t">
                    <a:lnL w="12700" cap="flat" cmpd="sng" algn="ctr">
                      <a:solidFill>
                        <a:srgbClr val="C7C7C3"/>
                      </a:solidFill>
                      <a:prstDash val="solid"/>
                      <a:round/>
                      <a:headEnd type="none" w="med" len="med"/>
                      <a:tailEnd type="none" w="med" len="med"/>
                    </a:lnL>
                    <a:lnR w="12700" cap="flat" cmpd="sng" algn="ctr">
                      <a:solidFill>
                        <a:srgbClr val="C0BDB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c>
                  <a:txBody>
                    <a:bodyPr/>
                    <a:lstStyle/>
                    <a:p>
                      <a:pPr algn="r" indent="0" marL="0">
                        <a:lnSpc>
                          <a:spcPts val="1820"/>
                        </a:lnSpc>
                        <a:buNone/>
                      </a:pPr>
                      <a:r>
                        <a:rPr lang="en-US" sz="1300" dirty="0">
                          <a:solidFill>
                            <a:srgbClr val="1C2733"/>
                          </a:solidFill>
                          <a:latin typeface="IBM Plex Sans" pitchFamily="34" charset="0"/>
                          <a:ea typeface="IBM Plex Sans" pitchFamily="34" charset="-122"/>
                          <a:cs typeface="IBM Plex Sans" pitchFamily="34" charset="-120"/>
                        </a:rPr>
                        <a:t>18</a:t>
                      </a:r>
                      <a:endParaRPr lang="en-US" sz="1300" dirty="0">
                        <a:latin typeface="IBM Plex Sans" charset="0"/>
                        <a:ea typeface="IBM Plex Sans" charset="0"/>
                        <a:cs typeface="IBM Plex Sans" charset="0"/>
                      </a:endParaRPr>
                    </a:p>
                  </a:txBody>
                  <a:tcPr marL="101600" marR="101600" marT="63500" marB="63500" anchor="t">
                    <a:lnL w="12700" cap="flat" cmpd="sng" algn="ctr">
                      <a:solidFill>
                        <a:srgbClr val="C0BDB7"/>
                      </a:solidFill>
                      <a:prstDash val="solid"/>
                      <a:round/>
                      <a:headEnd type="none" w="med" len="med"/>
                      <a:tailEnd type="none" w="med" len="med"/>
                    </a:lnL>
                    <a:lnR w="12700" cap="flat" cmpd="sng" algn="ctr">
                      <a:solidFill>
                        <a:srgbClr val="C0BDB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r>
            </a:tbl>
          </a:graphicData>
        </a:graphic>
      </p:graphicFrame>
      <p:sp>
        <p:nvSpPr>
          <p:cNvPr id="19" name="Shape 13"/>
          <p:cNvSpPr/>
          <p:nvPr/>
        </p:nvSpPr>
        <p:spPr>
          <a:xfrm>
            <a:off x="6223000" y="3605529"/>
            <a:ext cx="5156200" cy="2236470"/>
          </a:xfrm>
          <a:prstGeom prst="roundRect">
            <a:avLst>
              <a:gd name="adj" fmla="val 4543"/>
            </a:avLst>
          </a:prstGeom>
          <a:solidFill>
            <a:srgbClr val="1C2733"/>
          </a:solidFill>
          <a:ln/>
        </p:spPr>
      </p:sp>
      <p:sp>
        <p:nvSpPr>
          <p:cNvPr id="20" name="Text 14"/>
          <p:cNvSpPr/>
          <p:nvPr/>
        </p:nvSpPr>
        <p:spPr>
          <a:xfrm>
            <a:off x="6426200" y="4265929"/>
            <a:ext cx="4892294" cy="229870"/>
          </a:xfrm>
          <a:prstGeom prst="rect">
            <a:avLst/>
          </a:prstGeom>
          <a:noFill/>
          <a:ln/>
        </p:spPr>
        <p:txBody>
          <a:bodyPr wrap="square" lIns="0" tIns="0" rIns="0" bIns="0" rtlCol="0" anchor="t">
            <a:normAutofit/>
          </a:bodyPr>
          <a:lstStyle/>
          <a:p>
            <a:pPr algn="l" indent="0" marL="0">
              <a:lnSpc>
                <a:spcPts val="1610"/>
              </a:lnSpc>
              <a:buNone/>
            </a:pPr>
            <a:r>
              <a:rPr lang="en-US" sz="1150" b="1" spc="50" kern="0" dirty="0">
                <a:solidFill>
                  <a:srgbClr val="B8863B"/>
                </a:solidFill>
                <a:latin typeface="IBM Plex Sans" pitchFamily="34" charset="0"/>
                <a:ea typeface="IBM Plex Sans" pitchFamily="34" charset="-122"/>
                <a:cs typeface="IBM Plex Sans" pitchFamily="34" charset="-120"/>
              </a:rPr>
              <a:t>TOP-2 (k=2, minPatternSize=2)</a:t>
            </a:r>
            <a:endParaRPr lang="en-US" sz="1150" dirty="0"/>
          </a:p>
        </p:txBody>
      </p:sp>
      <p:sp>
        <p:nvSpPr>
          <p:cNvPr id="21" name="Text 15"/>
          <p:cNvSpPr/>
          <p:nvPr/>
        </p:nvSpPr>
        <p:spPr>
          <a:xfrm>
            <a:off x="6426200" y="4559300"/>
            <a:ext cx="4892294"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FAF9F5"/>
                </a:solidFill>
                <a:latin typeface="IBM Plex Sans" pitchFamily="34" charset="0"/>
                <a:ea typeface="IBM Plex Sans" pitchFamily="34" charset="-122"/>
                <a:cs typeface="IBM Plex Sans" pitchFamily="34" charset="-120"/>
              </a:rPr>
              <a:t>(1) </a:t>
            </a:r>
            <a:r>
              <a:rPr lang="en-US" sz="1400" b="1" dirty="0">
                <a:solidFill>
                  <a:srgbClr val="FAF9F5"/>
                </a:solidFill>
                <a:latin typeface="IBM Plex Sans" pitchFamily="34" charset="0"/>
                <a:ea typeface="IBM Plex Sans" pitchFamily="34" charset="-122"/>
                <a:cs typeface="IBM Plex Sans" pitchFamily="34" charset="-120"/>
              </a:rPr>
              <a:t>{Beverage, Snack}</a:t>
            </a:r>
            <a:r>
              <a:rPr lang="en-US" sz="1400" dirty="0">
                <a:solidFill>
                  <a:srgbClr val="FAF9F5"/>
                </a:solidFill>
                <a:latin typeface="IBM Plex Sans" pitchFamily="34" charset="0"/>
                <a:ea typeface="IBM Plex Sans" pitchFamily="34" charset="-122"/>
                <a:cs typeface="IBM Plex Sans" pitchFamily="34" charset="-120"/>
              </a:rPr>
              <a:t> = 18 — </a:t>
            </a:r>
            <a:r>
              <a:rPr lang="en-US" sz="1400" b="1" dirty="0">
                <a:solidFill>
                  <a:srgbClr val="FAF9F5"/>
                </a:solidFill>
                <a:latin typeface="IBM Plex Sans" pitchFamily="34" charset="0"/>
                <a:ea typeface="IBM Plex Sans" pitchFamily="34" charset="-122"/>
                <a:cs typeface="IBM Plex Sans" pitchFamily="34" charset="-120"/>
              </a:rPr>
              <a:t>hai node cha ghép với nhau</a:t>
            </a:r>
            <a:endParaRPr lang="en-US" sz="1400" dirty="0"/>
          </a:p>
        </p:txBody>
      </p:sp>
      <p:sp>
        <p:nvSpPr>
          <p:cNvPr id="22" name="Text 16"/>
          <p:cNvSpPr/>
          <p:nvPr/>
        </p:nvSpPr>
        <p:spPr>
          <a:xfrm>
            <a:off x="6426200" y="4914900"/>
            <a:ext cx="4892294"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C7CDD4"/>
                </a:solidFill>
                <a:latin typeface="IBM Plex Sans" pitchFamily="34" charset="0"/>
                <a:ea typeface="IBM Plex Sans" pitchFamily="34" charset="-122"/>
                <a:cs typeface="IBM Plex Sans" pitchFamily="34" charset="-120"/>
              </a:rPr>
              <a:t>(2) {Cola, Juice} = 11</a:t>
            </a:r>
            <a:endParaRPr lang="en-US" sz="1400" dirty="0"/>
          </a:p>
        </p:txBody>
      </p:sp>
      <p:sp>
        <p:nvSpPr>
          <p:cNvPr id="23" name="Text 17"/>
          <p:cNvSpPr/>
          <p:nvPr/>
        </p:nvSpPr>
        <p:spPr>
          <a:xfrm>
            <a:off x="812800" y="6238242"/>
            <a:ext cx="54689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199"/>
                </a:solidFill>
                <a:latin typeface="IBM Plex Sans" pitchFamily="34" charset="0"/>
                <a:ea typeface="IBM Plex Sans" pitchFamily="34" charset="-122"/>
                <a:cs typeface="IBM Plex Sans" pitchFamily="34" charset="-120"/>
              </a:rPr>
              <a:t>10 / 34</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863B"/>
                </a:solidFill>
                <a:latin typeface="IBM Plex Sans" pitchFamily="34" charset="0"/>
                <a:ea typeface="IBM Plex Sans" pitchFamily="34" charset="-122"/>
                <a:cs typeface="IBM Plex Sans" pitchFamily="34" charset="-120"/>
              </a:rPr>
              <a:t>MỞ RỘNG TỪ TK-MLHUI</a:t>
            </a:r>
            <a:endParaRPr lang="en-US" sz="1200" dirty="0"/>
          </a:p>
        </p:txBody>
      </p:sp>
      <p:sp>
        <p:nvSpPr>
          <p:cNvPr id="3" name="Text 1"/>
          <p:cNvSpPr/>
          <p:nvPr/>
        </p:nvSpPr>
        <p:spPr>
          <a:xfrm>
            <a:off x="812800" y="1102364"/>
            <a:ext cx="10883392" cy="34671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C2733"/>
                </a:solidFill>
                <a:latin typeface="EB Garamond" pitchFamily="34" charset="0"/>
                <a:ea typeface="EB Garamond" pitchFamily="34" charset="-122"/>
                <a:cs typeface="EB Garamond" pitchFamily="34" charset="-120"/>
              </a:rPr>
              <a:t>Bài toán mở rộng: U-TK-MLHUI</a:t>
            </a:r>
            <a:endParaRPr lang="en-US" sz="2200" dirty="0"/>
          </a:p>
        </p:txBody>
      </p:sp>
      <p:sp>
        <p:nvSpPr>
          <p:cNvPr id="4" name="Shape 2"/>
          <p:cNvSpPr/>
          <p:nvPr/>
        </p:nvSpPr>
        <p:spPr>
          <a:xfrm>
            <a:off x="815975" y="1680846"/>
            <a:ext cx="5170170" cy="1370330"/>
          </a:xfrm>
          <a:prstGeom prst="roundRect">
            <a:avLst>
              <a:gd name="adj" fmla="val 7183"/>
            </a:avLst>
          </a:prstGeom>
          <a:solidFill>
            <a:srgbClr val="FFFFFF"/>
          </a:solidFill>
          <a:ln w="6350">
            <a:solidFill>
              <a:srgbClr val="E3DDD0"/>
            </a:solidFill>
            <a:prstDash val="solid"/>
          </a:ln>
        </p:spPr>
      </p:sp>
      <p:sp>
        <p:nvSpPr>
          <p:cNvPr id="5" name="Text 3"/>
          <p:cNvSpPr/>
          <p:nvPr/>
        </p:nvSpPr>
        <p:spPr>
          <a:xfrm>
            <a:off x="1071880" y="1936750"/>
            <a:ext cx="4798111"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8A9199"/>
                </a:solidFill>
                <a:latin typeface="IBM Plex Sans" pitchFamily="34" charset="0"/>
                <a:ea typeface="IBM Plex Sans" pitchFamily="34" charset="-122"/>
                <a:cs typeface="IBM Plex Sans" pitchFamily="34" charset="-120"/>
              </a:rPr>
              <a:t>DỮ LIỆU CHẮC CHẮN (cổ điển)</a:t>
            </a:r>
            <a:endParaRPr lang="en-US" sz="1200" dirty="0"/>
          </a:p>
        </p:txBody>
      </p:sp>
      <p:sp>
        <p:nvSpPr>
          <p:cNvPr id="6" name="Text 4"/>
          <p:cNvSpPr/>
          <p:nvPr/>
        </p:nvSpPr>
        <p:spPr>
          <a:xfrm>
            <a:off x="1071880" y="2251714"/>
            <a:ext cx="4798111"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C2733"/>
                </a:solidFill>
                <a:latin typeface="IBM Plex Sans" pitchFamily="34" charset="0"/>
                <a:ea typeface="IBM Plex Sans" pitchFamily="34" charset="-122"/>
                <a:cs typeface="IBM Plex Sans" pitchFamily="34" charset="-120"/>
              </a:rPr>
              <a:t>Mỗi khoản mục hoặc </a:t>
            </a:r>
            <a:r>
              <a:rPr lang="en-US" sz="1400" b="1" dirty="0">
                <a:solidFill>
                  <a:srgbClr val="1C2733"/>
                </a:solidFill>
                <a:latin typeface="IBM Plex Sans" pitchFamily="34" charset="0"/>
                <a:ea typeface="IBM Plex Sans" pitchFamily="34" charset="-122"/>
                <a:cs typeface="IBM Plex Sans" pitchFamily="34" charset="-120"/>
              </a:rPr>
              <a:t>chắc chắn có mặt</a:t>
            </a:r>
            <a:r>
              <a:rPr lang="en-US" sz="1400" dirty="0">
                <a:solidFill>
                  <a:srgbClr val="1C2733"/>
                </a:solidFill>
                <a:latin typeface="IBM Plex Sans" pitchFamily="34" charset="0"/>
                <a:ea typeface="IBM Plex Sans" pitchFamily="34" charset="-122"/>
                <a:cs typeface="IBM Plex Sans" pitchFamily="34" charset="-120"/>
              </a:rPr>
              <a:t>, hoặc </a:t>
            </a:r>
            <a:r>
              <a:rPr lang="en-US" sz="1400" b="1" dirty="0">
                <a:solidFill>
                  <a:srgbClr val="1C2733"/>
                </a:solidFill>
                <a:latin typeface="IBM Plex Sans" pitchFamily="34" charset="0"/>
                <a:ea typeface="IBM Plex Sans" pitchFamily="34" charset="-122"/>
                <a:cs typeface="IBM Plex Sans" pitchFamily="34" charset="-120"/>
              </a:rPr>
              <a:t>chắc chắn không có mặt</a:t>
            </a:r>
            <a:r>
              <a:rPr lang="en-US" sz="1400" dirty="0">
                <a:solidFill>
                  <a:srgbClr val="1C2733"/>
                </a:solidFill>
                <a:latin typeface="IBM Plex Sans" pitchFamily="34" charset="0"/>
                <a:ea typeface="IBM Plex Sans" pitchFamily="34" charset="-122"/>
                <a:cs typeface="IBM Plex Sans" pitchFamily="34" charset="-120"/>
              </a:rPr>
              <a:t> trong một giao dịch.</a:t>
            </a:r>
            <a:endParaRPr lang="en-US" sz="1400" dirty="0"/>
          </a:p>
        </p:txBody>
      </p:sp>
      <p:sp>
        <p:nvSpPr>
          <p:cNvPr id="7" name="Shape 5"/>
          <p:cNvSpPr/>
          <p:nvPr/>
        </p:nvSpPr>
        <p:spPr>
          <a:xfrm>
            <a:off x="6198870" y="1684021"/>
            <a:ext cx="5173980" cy="1363980"/>
          </a:xfrm>
          <a:prstGeom prst="roundRect">
            <a:avLst>
              <a:gd name="adj" fmla="val 6983"/>
            </a:avLst>
          </a:prstGeom>
          <a:solidFill>
            <a:srgbClr val="FFFFFF"/>
          </a:solidFill>
          <a:ln w="12700">
            <a:solidFill>
              <a:srgbClr val="B8863B"/>
            </a:solidFill>
            <a:prstDash val="solid"/>
          </a:ln>
        </p:spPr>
      </p:sp>
      <p:sp>
        <p:nvSpPr>
          <p:cNvPr id="8" name="Text 6"/>
          <p:cNvSpPr/>
          <p:nvPr/>
        </p:nvSpPr>
        <p:spPr>
          <a:xfrm>
            <a:off x="6456680" y="1941829"/>
            <a:ext cx="4798111"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B8863B"/>
                </a:solidFill>
                <a:latin typeface="IBM Plex Sans" pitchFamily="34" charset="0"/>
                <a:ea typeface="IBM Plex Sans" pitchFamily="34" charset="-122"/>
                <a:cs typeface="IBM Plex Sans" pitchFamily="34" charset="-120"/>
              </a:rPr>
              <a:t>DỮ LIỆU KHÔNG CHẮC CHẮN (đề tài)</a:t>
            </a:r>
            <a:endParaRPr lang="en-US" sz="1200" dirty="0"/>
          </a:p>
        </p:txBody>
      </p:sp>
      <p:sp>
        <p:nvSpPr>
          <p:cNvPr id="9" name="Text 7"/>
          <p:cNvSpPr/>
          <p:nvPr/>
        </p:nvSpPr>
        <p:spPr>
          <a:xfrm>
            <a:off x="6456680" y="2256792"/>
            <a:ext cx="4798111"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C2733"/>
                </a:solidFill>
                <a:latin typeface="IBM Plex Sans" pitchFamily="34" charset="0"/>
                <a:ea typeface="IBM Plex Sans" pitchFamily="34" charset="-122"/>
                <a:cs typeface="IBM Plex Sans" pitchFamily="34" charset="-120"/>
              </a:rPr>
              <a:t>Mỗi khoản mục i có một </a:t>
            </a:r>
            <a:r>
              <a:rPr lang="en-US" sz="1400" b="1" dirty="0">
                <a:solidFill>
                  <a:srgbClr val="1C2733"/>
                </a:solidFill>
                <a:latin typeface="IBM Plex Sans" pitchFamily="34" charset="0"/>
                <a:ea typeface="IBM Plex Sans" pitchFamily="34" charset="-122"/>
                <a:cs typeface="IBM Plex Sans" pitchFamily="34" charset="-120"/>
              </a:rPr>
              <a:t>xác suất tồn tại</a:t>
            </a:r>
            <a:r>
              <a:rPr lang="en-US" sz="1400" dirty="0">
                <a:solidFill>
                  <a:srgbClr val="1C2733"/>
                </a:solidFill>
                <a:latin typeface="IBM Plex Sans" pitchFamily="34" charset="0"/>
                <a:ea typeface="IBM Plex Sans" pitchFamily="34" charset="-122"/>
                <a:cs typeface="IBM Plex Sans" pitchFamily="34" charset="-120"/>
              </a:rPr>
              <a:t> p(i,T) ∈ (0,1] trong giao dịch T.</a:t>
            </a:r>
            <a:endParaRPr lang="en-US" sz="1400" dirty="0"/>
          </a:p>
        </p:txBody>
      </p:sp>
      <p:sp>
        <p:nvSpPr>
          <p:cNvPr id="10" name="Shape 8"/>
          <p:cNvSpPr/>
          <p:nvPr/>
        </p:nvSpPr>
        <p:spPr>
          <a:xfrm>
            <a:off x="812800" y="3308350"/>
            <a:ext cx="10566400" cy="2533650"/>
          </a:xfrm>
          <a:prstGeom prst="roundRect">
            <a:avLst>
              <a:gd name="adj" fmla="val 4010"/>
            </a:avLst>
          </a:prstGeom>
          <a:solidFill>
            <a:srgbClr val="1C2733"/>
          </a:solidFill>
          <a:ln/>
        </p:spPr>
      </p:sp>
      <p:sp>
        <p:nvSpPr>
          <p:cNvPr id="11" name="Text 9"/>
          <p:cNvSpPr/>
          <p:nvPr/>
        </p:nvSpPr>
        <p:spPr>
          <a:xfrm>
            <a:off x="1117600" y="4187825"/>
            <a:ext cx="10255504"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AF9F5"/>
                </a:solidFill>
                <a:latin typeface="EB Garamond" pitchFamily="34" charset="0"/>
                <a:ea typeface="EB Garamond" pitchFamily="34" charset="-122"/>
                <a:cs typeface="EB Garamond" pitchFamily="34" charset="-120"/>
              </a:rPr>
              <a:t>EU(X, T)  =  Σi∈X  u(i,T) · p(i,T)</a:t>
            </a:r>
            <a:endParaRPr lang="en-US" sz="2000" dirty="0"/>
          </a:p>
        </p:txBody>
      </p:sp>
      <p:sp>
        <p:nvSpPr>
          <p:cNvPr id="12" name="Text 10"/>
          <p:cNvSpPr/>
          <p:nvPr/>
        </p:nvSpPr>
        <p:spPr>
          <a:xfrm>
            <a:off x="1117600" y="4695825"/>
            <a:ext cx="10255504"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C7CDD4"/>
                </a:solidFill>
                <a:latin typeface="IBM Plex Sans" pitchFamily="34" charset="0"/>
                <a:ea typeface="IBM Plex Sans" pitchFamily="34" charset="-122"/>
                <a:cs typeface="IBM Plex Sans" pitchFamily="34" charset="-120"/>
              </a:rPr>
              <a:t>Bài toán: tìm </a:t>
            </a:r>
            <a:r>
              <a:rPr lang="en-US" sz="1400" b="1" dirty="0">
                <a:solidFill>
                  <a:srgbClr val="C7CDD4"/>
                </a:solidFill>
                <a:latin typeface="IBM Plex Sans" pitchFamily="34" charset="0"/>
                <a:ea typeface="IBM Plex Sans" pitchFamily="34" charset="-122"/>
                <a:cs typeface="IBM Plex Sans" pitchFamily="34" charset="-120"/>
              </a:rPr>
              <a:t>k tập mục</a:t>
            </a:r>
            <a:r>
              <a:rPr lang="en-US" sz="1400" dirty="0">
                <a:solidFill>
                  <a:srgbClr val="C7CDD4"/>
                </a:solidFill>
                <a:latin typeface="IBM Plex Sans" pitchFamily="34" charset="0"/>
                <a:ea typeface="IBM Plex Sans" pitchFamily="34" charset="-122"/>
                <a:cs typeface="IBM Plex Sans" pitchFamily="34" charset="-120"/>
              </a:rPr>
              <a:t> có </a:t>
            </a:r>
            <a:r>
              <a:rPr lang="en-US" sz="1400" b="1" dirty="0">
                <a:solidFill>
                  <a:srgbClr val="C7CDD4"/>
                </a:solidFill>
                <a:latin typeface="IBM Plex Sans" pitchFamily="34" charset="0"/>
                <a:ea typeface="IBM Plex Sans" pitchFamily="34" charset="-122"/>
                <a:cs typeface="IBM Plex Sans" pitchFamily="34" charset="-120"/>
              </a:rPr>
              <a:t>Expected Utility</a:t>
            </a:r>
            <a:r>
              <a:rPr lang="en-US" sz="1400" dirty="0">
                <a:solidFill>
                  <a:srgbClr val="C7CDD4"/>
                </a:solidFill>
                <a:latin typeface="IBM Plex Sans" pitchFamily="34" charset="0"/>
                <a:ea typeface="IBM Plex Sans" pitchFamily="34" charset="-122"/>
                <a:cs typeface="IBM Plex Sans" pitchFamily="34" charset="-120"/>
              </a:rPr>
              <a:t> cao nhất, xét </a:t>
            </a:r>
            <a:r>
              <a:rPr lang="en-US" sz="1400" b="1" dirty="0">
                <a:solidFill>
                  <a:srgbClr val="C7CDD4"/>
                </a:solidFill>
                <a:latin typeface="IBM Plex Sans" pitchFamily="34" charset="0"/>
                <a:ea typeface="IBM Plex Sans" pitchFamily="34" charset="-122"/>
                <a:cs typeface="IBM Plex Sans" pitchFamily="34" charset="-120"/>
              </a:rPr>
              <a:t>đa tầng</a:t>
            </a:r>
            <a:r>
              <a:rPr lang="en-US" sz="1400" dirty="0">
                <a:solidFill>
                  <a:srgbClr val="C7CDD4"/>
                </a:solidFill>
                <a:latin typeface="IBM Plex Sans" pitchFamily="34" charset="0"/>
                <a:ea typeface="IBM Plex Sans" pitchFamily="34" charset="-122"/>
                <a:cs typeface="IBM Plex Sans" pitchFamily="34" charset="-120"/>
              </a:rPr>
              <a:t> trên taxonomy đa-cha.</a:t>
            </a:r>
            <a:endParaRPr lang="en-US" sz="1400" dirty="0"/>
          </a:p>
        </p:txBody>
      </p:sp>
      <p:sp>
        <p:nvSpPr>
          <p:cNvPr id="13" name="Text 11"/>
          <p:cNvSpPr/>
          <p:nvPr/>
        </p:nvSpPr>
        <p:spPr>
          <a:xfrm>
            <a:off x="812800" y="6238242"/>
            <a:ext cx="54689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199"/>
                </a:solidFill>
                <a:latin typeface="IBM Plex Sans" pitchFamily="34" charset="0"/>
                <a:ea typeface="IBM Plex Sans" pitchFamily="34" charset="-122"/>
                <a:cs typeface="IBM Plex Sans" pitchFamily="34" charset="-120"/>
              </a:rPr>
              <a:t>11 / 34</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863B"/>
                </a:solidFill>
                <a:latin typeface="IBM Plex Sans" pitchFamily="34" charset="0"/>
                <a:ea typeface="IBM Plex Sans" pitchFamily="34" charset="-122"/>
                <a:cs typeface="IBM Plex Sans" pitchFamily="34" charset="-120"/>
              </a:rPr>
              <a:t>ĐÓNG GÓP LÝ THUYẾT</a:t>
            </a:r>
            <a:endParaRPr lang="en-US" sz="1200" dirty="0"/>
          </a:p>
        </p:txBody>
      </p:sp>
      <p:sp>
        <p:nvSpPr>
          <p:cNvPr id="3" name="Text 1"/>
          <p:cNvSpPr/>
          <p:nvPr/>
        </p:nvSpPr>
        <p:spPr>
          <a:xfrm>
            <a:off x="812800" y="1102364"/>
            <a:ext cx="10883392" cy="34671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C2733"/>
                </a:solidFill>
                <a:latin typeface="EB Garamond" pitchFamily="34" charset="0"/>
                <a:ea typeface="EB Garamond" pitchFamily="34" charset="-122"/>
                <a:cs typeface="EB Garamond" pitchFamily="34" charset="-120"/>
              </a:rPr>
              <a:t>Taxonomy đa-cha &amp; Bổ đề A mở rộng</a:t>
            </a:r>
            <a:endParaRPr lang="en-US" sz="2200" dirty="0"/>
          </a:p>
        </p:txBody>
      </p:sp>
      <p:sp>
        <p:nvSpPr>
          <p:cNvPr id="4" name="Text 2"/>
          <p:cNvSpPr/>
          <p:nvPr/>
        </p:nvSpPr>
        <p:spPr>
          <a:xfrm>
            <a:off x="812800" y="2540639"/>
            <a:ext cx="6383528" cy="825500"/>
          </a:xfrm>
          <a:prstGeom prst="rect">
            <a:avLst/>
          </a:prstGeom>
          <a:noFill/>
          <a:ln/>
        </p:spPr>
        <p:txBody>
          <a:bodyPr wrap="square" lIns="0" tIns="0" rIns="0" bIns="0" rtlCol="0" anchor="t">
            <a:normAutofit/>
          </a:bodyPr>
          <a:lstStyle/>
          <a:p>
            <a:pPr algn="l" indent="0" marL="0">
              <a:lnSpc>
                <a:spcPts val="2100"/>
              </a:lnSpc>
              <a:buNone/>
            </a:pPr>
            <a:r>
              <a:rPr lang="en-US" sz="1400" b="1" dirty="0">
                <a:solidFill>
                  <a:srgbClr val="1C2733"/>
                </a:solidFill>
                <a:latin typeface="IBM Plex Sans" pitchFamily="34" charset="0"/>
                <a:ea typeface="IBM Plex Sans" pitchFamily="34" charset="-122"/>
                <a:cs typeface="IBM Plex Sans" pitchFamily="34" charset="-120"/>
              </a:rPr>
              <a:t>Định nghĩa 3.1:</a:t>
            </a:r>
            <a:r>
              <a:rPr lang="en-US" sz="1400" dirty="0">
                <a:solidFill>
                  <a:srgbClr val="1C2733"/>
                </a:solidFill>
                <a:latin typeface="IBM Plex Sans" pitchFamily="34" charset="0"/>
                <a:ea typeface="IBM Plex Sans" pitchFamily="34" charset="-122"/>
                <a:cs typeface="IBM Plex Sans" pitchFamily="34" charset="-120"/>
              </a:rPr>
              <a:t> taxonomy là một </a:t>
            </a:r>
            <a:r>
              <a:rPr lang="en-US" sz="1400" b="1" dirty="0">
                <a:solidFill>
                  <a:srgbClr val="1C2733"/>
                </a:solidFill>
                <a:latin typeface="IBM Plex Sans" pitchFamily="34" charset="0"/>
                <a:ea typeface="IBM Plex Sans" pitchFamily="34" charset="-122"/>
                <a:cs typeface="IBM Plex Sans" pitchFamily="34" charset="-120"/>
              </a:rPr>
              <a:t>DAG có trọng số, đa-cha</a:t>
            </a:r>
            <a:r>
              <a:rPr lang="en-US" sz="1400" dirty="0">
                <a:solidFill>
                  <a:srgbClr val="1C2733"/>
                </a:solidFill>
                <a:latin typeface="IBM Plex Sans" pitchFamily="34" charset="0"/>
                <a:ea typeface="IBM Plex Sans" pitchFamily="34" charset="-122"/>
                <a:cs typeface="IBM Plex Sans" pitchFamily="34" charset="-120"/>
              </a:rPr>
              <a:t> — một khoản mục con được phép có nhiều hơn một khoản mục cha, mỗi cạnh mang một trọng số riêng.</a:t>
            </a:r>
            <a:endParaRPr lang="en-US" sz="1400" dirty="0"/>
          </a:p>
        </p:txBody>
      </p:sp>
      <p:sp>
        <p:nvSpPr>
          <p:cNvPr id="5" name="Text 3"/>
          <p:cNvSpPr/>
          <p:nvPr/>
        </p:nvSpPr>
        <p:spPr>
          <a:xfrm>
            <a:off x="812800" y="3493139"/>
            <a:ext cx="6383528"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C2733"/>
                </a:solidFill>
                <a:latin typeface="IBM Plex Sans" pitchFamily="34" charset="0"/>
                <a:ea typeface="IBM Plex Sans" pitchFamily="34" charset="-122"/>
                <a:cs typeface="IBM Plex Sans" pitchFamily="34" charset="-120"/>
              </a:rPr>
              <a:t>Mô hình </a:t>
            </a:r>
            <a:r>
              <a:rPr lang="en-US" sz="1400" b="1" dirty="0">
                <a:solidFill>
                  <a:srgbClr val="1C2733"/>
                </a:solidFill>
                <a:latin typeface="IBM Plex Sans" pitchFamily="34" charset="0"/>
                <a:ea typeface="IBM Plex Sans" pitchFamily="34" charset="-122"/>
                <a:cs typeface="IBM Plex Sans" pitchFamily="34" charset="-120"/>
              </a:rPr>
              <a:t>cộng tính</a:t>
            </a:r>
            <a:r>
              <a:rPr lang="en-US" sz="1400" dirty="0">
                <a:solidFill>
                  <a:srgbClr val="1C2733"/>
                </a:solidFill>
                <a:latin typeface="IBM Plex Sans" pitchFamily="34" charset="0"/>
                <a:ea typeface="IBM Plex Sans" pitchFamily="34" charset="-122"/>
                <a:cs typeface="IBM Plex Sans" pitchFamily="34" charset="-120"/>
              </a:rPr>
              <a:t> và </a:t>
            </a:r>
            <a:r>
              <a:rPr lang="en-US" sz="1400" b="1" dirty="0">
                <a:solidFill>
                  <a:srgbClr val="1C2733"/>
                </a:solidFill>
                <a:latin typeface="IBM Plex Sans" pitchFamily="34" charset="0"/>
                <a:ea typeface="IBM Plex Sans" pitchFamily="34" charset="-122"/>
                <a:cs typeface="IBM Plex Sans" pitchFamily="34" charset="-120"/>
              </a:rPr>
              <a:t>tương thích ngược</a:t>
            </a:r>
            <a:r>
              <a:rPr lang="en-US" sz="1400" dirty="0">
                <a:solidFill>
                  <a:srgbClr val="1C2733"/>
                </a:solidFill>
                <a:latin typeface="IBM Plex Sans" pitchFamily="34" charset="0"/>
                <a:ea typeface="IBM Plex Sans" pitchFamily="34" charset="-122"/>
                <a:cs typeface="IBM Plex Sans" pitchFamily="34" charset="-120"/>
              </a:rPr>
              <a:t> với TK-MLHUI gốc khi mọi trọng số ≡ 1.</a:t>
            </a:r>
            <a:endParaRPr lang="en-US" sz="1400" dirty="0"/>
          </a:p>
        </p:txBody>
      </p:sp>
      <p:sp>
        <p:nvSpPr>
          <p:cNvPr id="6" name="Text 4"/>
          <p:cNvSpPr/>
          <p:nvPr/>
        </p:nvSpPr>
        <p:spPr>
          <a:xfrm>
            <a:off x="812800" y="4178939"/>
            <a:ext cx="6383528" cy="825500"/>
          </a:xfrm>
          <a:prstGeom prst="rect">
            <a:avLst/>
          </a:prstGeom>
          <a:noFill/>
          <a:ln/>
        </p:spPr>
        <p:txBody>
          <a:bodyPr wrap="square" lIns="0" tIns="0" rIns="0" bIns="0" rtlCol="0" anchor="t">
            <a:normAutofit/>
          </a:bodyPr>
          <a:lstStyle/>
          <a:p>
            <a:pPr algn="l" indent="0" marL="0">
              <a:lnSpc>
                <a:spcPts val="2100"/>
              </a:lnSpc>
              <a:buNone/>
            </a:pPr>
            <a:r>
              <a:rPr lang="en-US" sz="1400" b="1" dirty="0">
                <a:solidFill>
                  <a:srgbClr val="1C2733"/>
                </a:solidFill>
                <a:latin typeface="IBM Plex Sans" pitchFamily="34" charset="0"/>
                <a:ea typeface="IBM Plex Sans" pitchFamily="34" charset="-122"/>
                <a:cs typeface="IBM Plex Sans" pitchFamily="34" charset="-120"/>
              </a:rPr>
              <a:t>Bổ đề A</a:t>
            </a:r>
            <a:r>
              <a:rPr lang="en-US" sz="1400" dirty="0">
                <a:solidFill>
                  <a:srgbClr val="1C2733"/>
                </a:solidFill>
                <a:latin typeface="IBM Plex Sans" pitchFamily="34" charset="0"/>
                <a:ea typeface="IBM Plex Sans" pitchFamily="34" charset="-122"/>
                <a:cs typeface="IBM Plex Sans" pitchFamily="34" charset="-120"/>
              </a:rPr>
              <a:t> mở rộng bằng quy nạp theo tầng → tái dùng </a:t>
            </a:r>
            <a:r>
              <a:rPr lang="en-US" sz="1400" b="1" dirty="0">
                <a:solidFill>
                  <a:srgbClr val="1C2733"/>
                </a:solidFill>
                <a:latin typeface="IBM Plex Sans" pitchFamily="34" charset="0"/>
                <a:ea typeface="IBM Plex Sans" pitchFamily="34" charset="-122"/>
                <a:cs typeface="IBM Plex Sans" pitchFamily="34" charset="-120"/>
              </a:rPr>
              <a:t>nguyên vẹn</a:t>
            </a:r>
            <a:r>
              <a:rPr lang="en-US" sz="1400" dirty="0">
                <a:solidFill>
                  <a:srgbClr val="1C2733"/>
                </a:solidFill>
                <a:latin typeface="IBM Plex Sans" pitchFamily="34" charset="0"/>
                <a:ea typeface="IBM Plex Sans" pitchFamily="34" charset="-122"/>
                <a:cs typeface="IBM Plex Sans" pitchFamily="34" charset="-120"/>
              </a:rPr>
              <a:t> toàn bộ hệ chứng minh tính chất đóng xuống gốc (Property 4′–8′), không cần xây lại từ đầu.</a:t>
            </a:r>
            <a:endParaRPr lang="en-US" sz="1400" dirty="0"/>
          </a:p>
        </p:txBody>
      </p:sp>
      <p:pic>
        <p:nvPicPr>
          <p:cNvPr id="7" name="Image 0" descr="preencoded.png">    </p:cNvPr>
          <p:cNvPicPr>
            <a:picLocks noChangeAspect="1"/>
          </p:cNvPicPr>
          <p:nvPr/>
        </p:nvPicPr>
        <p:blipFill>
          <a:blip r:embed="rId1"/>
          <a:srcRect l="0" r="0" t="0" b="0"/>
          <a:stretch/>
        </p:blipFill>
        <p:spPr>
          <a:xfrm>
            <a:off x="7315200" y="1677671"/>
            <a:ext cx="4064000" cy="2159000"/>
          </a:xfrm>
          <a:prstGeom prst="rect">
            <a:avLst/>
          </a:prstGeom>
        </p:spPr>
      </p:pic>
      <p:sp>
        <p:nvSpPr>
          <p:cNvPr id="8" name="Shape 5"/>
          <p:cNvSpPr/>
          <p:nvPr/>
        </p:nvSpPr>
        <p:spPr>
          <a:xfrm>
            <a:off x="7445375" y="1934846"/>
            <a:ext cx="1390650" cy="501650"/>
          </a:xfrm>
          <a:prstGeom prst="roundRect">
            <a:avLst>
              <a:gd name="adj" fmla="val 14557"/>
            </a:avLst>
          </a:prstGeom>
          <a:solidFill>
            <a:srgbClr val="FFFFFF"/>
          </a:solidFill>
          <a:ln w="6350">
            <a:solidFill>
              <a:srgbClr val="E3DDD0"/>
            </a:solidFill>
            <a:prstDash val="solid"/>
          </a:ln>
        </p:spPr>
      </p:sp>
      <p:sp>
        <p:nvSpPr>
          <p:cNvPr id="9" name="Text 6"/>
          <p:cNvSpPr/>
          <p:nvPr/>
        </p:nvSpPr>
        <p:spPr>
          <a:xfrm>
            <a:off x="7756525" y="2078992"/>
            <a:ext cx="768271"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C2733"/>
                </a:solidFill>
                <a:latin typeface="IBM Plex Sans" pitchFamily="34" charset="0"/>
                <a:ea typeface="IBM Plex Sans" pitchFamily="34" charset="-122"/>
                <a:cs typeface="IBM Plex Sans" pitchFamily="34" charset="-120"/>
              </a:rPr>
              <a:t>Cha A · w₁</a:t>
            </a:r>
            <a:endParaRPr lang="en-US" sz="1200" dirty="0"/>
          </a:p>
        </p:txBody>
      </p:sp>
      <p:sp>
        <p:nvSpPr>
          <p:cNvPr id="10" name="Shape 7"/>
          <p:cNvSpPr/>
          <p:nvPr/>
        </p:nvSpPr>
        <p:spPr>
          <a:xfrm>
            <a:off x="9858375" y="1934846"/>
            <a:ext cx="1390650" cy="501650"/>
          </a:xfrm>
          <a:prstGeom prst="roundRect">
            <a:avLst>
              <a:gd name="adj" fmla="val 14557"/>
            </a:avLst>
          </a:prstGeom>
          <a:solidFill>
            <a:srgbClr val="FFFFFF"/>
          </a:solidFill>
          <a:ln w="6350">
            <a:solidFill>
              <a:srgbClr val="E3DDD0"/>
            </a:solidFill>
            <a:prstDash val="solid"/>
          </a:ln>
        </p:spPr>
      </p:sp>
      <p:sp>
        <p:nvSpPr>
          <p:cNvPr id="11" name="Text 8"/>
          <p:cNvSpPr/>
          <p:nvPr/>
        </p:nvSpPr>
        <p:spPr>
          <a:xfrm>
            <a:off x="10169287" y="2078992"/>
            <a:ext cx="768826"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C2733"/>
                </a:solidFill>
                <a:latin typeface="IBM Plex Sans" pitchFamily="34" charset="0"/>
                <a:ea typeface="IBM Plex Sans" pitchFamily="34" charset="-122"/>
                <a:cs typeface="IBM Plex Sans" pitchFamily="34" charset="-120"/>
              </a:rPr>
              <a:t>Cha B · w₂</a:t>
            </a:r>
            <a:endParaRPr lang="en-US" sz="1200" dirty="0"/>
          </a:p>
        </p:txBody>
      </p:sp>
      <p:sp>
        <p:nvSpPr>
          <p:cNvPr id="12" name="Shape 9"/>
          <p:cNvSpPr/>
          <p:nvPr/>
        </p:nvSpPr>
        <p:spPr>
          <a:xfrm>
            <a:off x="8648700" y="3201671"/>
            <a:ext cx="1397000" cy="508000"/>
          </a:xfrm>
          <a:prstGeom prst="roundRect">
            <a:avLst>
              <a:gd name="adj" fmla="val 15000"/>
            </a:avLst>
          </a:prstGeom>
          <a:solidFill>
            <a:srgbClr val="1C2733"/>
          </a:solidFill>
          <a:ln/>
        </p:spPr>
      </p:sp>
      <p:sp>
        <p:nvSpPr>
          <p:cNvPr id="13" name="Text 10"/>
          <p:cNvSpPr/>
          <p:nvPr/>
        </p:nvSpPr>
        <p:spPr>
          <a:xfrm>
            <a:off x="8781097" y="3348992"/>
            <a:ext cx="1132205"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AF9F5"/>
                </a:solidFill>
                <a:latin typeface="IBM Plex Sans" pitchFamily="34" charset="0"/>
                <a:ea typeface="IBM Plex Sans" pitchFamily="34" charset="-122"/>
                <a:cs typeface="IBM Plex Sans" pitchFamily="34" charset="-120"/>
              </a:rPr>
              <a:t>Khoản mục con</a:t>
            </a:r>
            <a:endParaRPr lang="en-US" sz="1200" dirty="0"/>
          </a:p>
        </p:txBody>
      </p:sp>
      <p:sp>
        <p:nvSpPr>
          <p:cNvPr id="14" name="Text 11"/>
          <p:cNvSpPr/>
          <p:nvPr/>
        </p:nvSpPr>
        <p:spPr>
          <a:xfrm>
            <a:off x="812800" y="6238242"/>
            <a:ext cx="54689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199"/>
                </a:solidFill>
                <a:latin typeface="IBM Plex Sans" pitchFamily="34" charset="0"/>
                <a:ea typeface="IBM Plex Sans" pitchFamily="34" charset="-122"/>
                <a:cs typeface="IBM Plex Sans" pitchFamily="34" charset="-120"/>
              </a:rPr>
              <a:t>12 / 34</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863B"/>
                </a:solidFill>
                <a:latin typeface="IBM Plex Sans" pitchFamily="34" charset="0"/>
                <a:ea typeface="IBM Plex Sans" pitchFamily="34" charset="-122"/>
                <a:cs typeface="IBM Plex Sans" pitchFamily="34" charset="-120"/>
              </a:rPr>
              <a:t>ĐÓNG GÓP MỞ RỘNG</a:t>
            </a:r>
            <a:endParaRPr lang="en-US" sz="1200" dirty="0"/>
          </a:p>
        </p:txBody>
      </p:sp>
      <p:sp>
        <p:nvSpPr>
          <p:cNvPr id="3" name="Text 1"/>
          <p:cNvSpPr/>
          <p:nvPr/>
        </p:nvSpPr>
        <p:spPr>
          <a:xfrm>
            <a:off x="812800" y="1064264"/>
            <a:ext cx="10883392" cy="34671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C2733"/>
                </a:solidFill>
                <a:latin typeface="EB Garamond" pitchFamily="34" charset="0"/>
                <a:ea typeface="EB Garamond" pitchFamily="34" charset="-122"/>
                <a:cs typeface="EB Garamond" pitchFamily="34" charset="-120"/>
              </a:rPr>
              <a:t>Nhìn toàn cảnh: U-TK-MLHUI trên câu thật</a:t>
            </a:r>
            <a:endParaRPr lang="en-US" sz="2200" dirty="0"/>
          </a:p>
        </p:txBody>
      </p:sp>
      <p:sp>
        <p:nvSpPr>
          <p:cNvPr id="4" name="Shape 2"/>
          <p:cNvSpPr/>
          <p:nvPr/>
        </p:nvSpPr>
        <p:spPr>
          <a:xfrm>
            <a:off x="812800" y="1474471"/>
            <a:ext cx="10566400" cy="629920"/>
          </a:xfrm>
          <a:prstGeom prst="roundRect">
            <a:avLst>
              <a:gd name="adj" fmla="val 12097"/>
            </a:avLst>
          </a:prstGeom>
          <a:solidFill>
            <a:srgbClr val="1C2733"/>
          </a:solidFill>
          <a:ln/>
        </p:spPr>
      </p:sp>
      <p:sp>
        <p:nvSpPr>
          <p:cNvPr id="5" name="Text 3"/>
          <p:cNvSpPr/>
          <p:nvPr/>
        </p:nvSpPr>
        <p:spPr>
          <a:xfrm>
            <a:off x="977900" y="1563371"/>
            <a:ext cx="10543286" cy="23876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FAF9F5"/>
                </a:solidFill>
                <a:latin typeface="IBM Plex Sans" pitchFamily="34" charset="0"/>
                <a:ea typeface="IBM Plex Sans" pitchFamily="34" charset="-122"/>
                <a:cs typeface="IBM Plex Sans" pitchFamily="34" charset="-120"/>
              </a:rPr>
              <a:t>VI: "Anh ấy đang </a:t>
            </a:r>
            <a:r>
              <a:rPr lang="en-US" sz="1200" b="1" i="1" dirty="0">
                <a:solidFill>
                  <a:srgbClr val="FAF9F5"/>
                </a:solidFill>
                <a:latin typeface="IBM Plex Sans" pitchFamily="34" charset="0"/>
                <a:ea typeface="IBM Plex Sans" pitchFamily="34" charset="-122"/>
                <a:cs typeface="IBM Plex Sans" pitchFamily="34" charset="-120"/>
              </a:rPr>
              <a:t>chạy</a:t>
            </a:r>
            <a:r>
              <a:rPr lang="en-US" sz="1200" i="1" dirty="0">
                <a:solidFill>
                  <a:srgbClr val="FAF9F5"/>
                </a:solidFill>
                <a:latin typeface="IBM Plex Sans" pitchFamily="34" charset="0"/>
                <a:ea typeface="IBM Plex Sans" pitchFamily="34" charset="-122"/>
                <a:cs typeface="IBM Plex Sans" pitchFamily="34" charset="-120"/>
              </a:rPr>
              <a:t> thì trời mưa, nên anh ấy </a:t>
            </a:r>
            <a:r>
              <a:rPr lang="en-US" sz="1200" b="1" i="1" dirty="0">
                <a:solidFill>
                  <a:srgbClr val="FAF9F5"/>
                </a:solidFill>
                <a:latin typeface="IBM Plex Sans" pitchFamily="34" charset="0"/>
                <a:ea typeface="IBM Plex Sans" pitchFamily="34" charset="-122"/>
                <a:cs typeface="IBM Plex Sans" pitchFamily="34" charset="-120"/>
              </a:rPr>
              <a:t>chạy</a:t>
            </a:r>
            <a:r>
              <a:rPr lang="en-US" sz="1200" i="1" dirty="0">
                <a:solidFill>
                  <a:srgbClr val="FAF9F5"/>
                </a:solidFill>
                <a:latin typeface="IBM Plex Sans" pitchFamily="34" charset="0"/>
                <a:ea typeface="IBM Plex Sans" pitchFamily="34" charset="-122"/>
                <a:cs typeface="IBM Plex Sans" pitchFamily="34" charset="-120"/>
              </a:rPr>
              <a:t> về nhà và </a:t>
            </a:r>
            <a:r>
              <a:rPr lang="en-US" sz="1200" b="1" i="1" dirty="0">
                <a:solidFill>
                  <a:srgbClr val="FAF9F5"/>
                </a:solidFill>
                <a:latin typeface="IBM Plex Sans" pitchFamily="34" charset="0"/>
                <a:ea typeface="IBM Plex Sans" pitchFamily="34" charset="-122"/>
                <a:cs typeface="IBM Plex Sans" pitchFamily="34" charset="-120"/>
              </a:rPr>
              <a:t>rời</a:t>
            </a:r>
            <a:r>
              <a:rPr lang="en-US" sz="1200" i="1" dirty="0">
                <a:solidFill>
                  <a:srgbClr val="FAF9F5"/>
                </a:solidFill>
                <a:latin typeface="IBM Plex Sans" pitchFamily="34" charset="0"/>
                <a:ea typeface="IBM Plex Sans" pitchFamily="34" charset="-122"/>
                <a:cs typeface="IBM Plex Sans" pitchFamily="34" charset="-120"/>
              </a:rPr>
              <a:t> khỏi công viên."</a:t>
            </a:r>
            <a:endParaRPr lang="en-US" sz="1200" dirty="0"/>
          </a:p>
        </p:txBody>
      </p:sp>
      <p:sp>
        <p:nvSpPr>
          <p:cNvPr id="6" name="Text 4"/>
          <p:cNvSpPr/>
          <p:nvPr/>
        </p:nvSpPr>
        <p:spPr>
          <a:xfrm>
            <a:off x="977900" y="1802129"/>
            <a:ext cx="10543286" cy="23876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C7CDD4"/>
                </a:solidFill>
                <a:latin typeface="IBM Plex Sans" pitchFamily="34" charset="0"/>
                <a:ea typeface="IBM Plex Sans" pitchFamily="34" charset="-122"/>
                <a:cs typeface="IBM Plex Sans" pitchFamily="34" charset="-120"/>
              </a:rPr>
              <a:t>EN: "He was </a:t>
            </a:r>
            <a:r>
              <a:rPr lang="en-US" sz="1200" b="1" i="1" dirty="0">
                <a:solidFill>
                  <a:srgbClr val="C7CDD4"/>
                </a:solidFill>
                <a:latin typeface="IBM Plex Sans" pitchFamily="34" charset="0"/>
                <a:ea typeface="IBM Plex Sans" pitchFamily="34" charset="-122"/>
                <a:cs typeface="IBM Plex Sans" pitchFamily="34" charset="-120"/>
              </a:rPr>
              <a:t>running</a:t>
            </a:r>
            <a:r>
              <a:rPr lang="en-US" sz="1200" i="1" dirty="0">
                <a:solidFill>
                  <a:srgbClr val="C7CDD4"/>
                </a:solidFill>
                <a:latin typeface="IBM Plex Sans" pitchFamily="34" charset="0"/>
                <a:ea typeface="IBM Plex Sans" pitchFamily="34" charset="-122"/>
                <a:cs typeface="IBM Plex Sans" pitchFamily="34" charset="-120"/>
              </a:rPr>
              <a:t> when it rained, so he </a:t>
            </a:r>
            <a:r>
              <a:rPr lang="en-US" sz="1200" b="1" i="1" dirty="0">
                <a:solidFill>
                  <a:srgbClr val="C7CDD4"/>
                </a:solidFill>
                <a:latin typeface="IBM Plex Sans" pitchFamily="34" charset="0"/>
                <a:ea typeface="IBM Plex Sans" pitchFamily="34" charset="-122"/>
                <a:cs typeface="IBM Plex Sans" pitchFamily="34" charset="-120"/>
              </a:rPr>
              <a:t>ran</a:t>
            </a:r>
            <a:r>
              <a:rPr lang="en-US" sz="1200" i="1" dirty="0">
                <a:solidFill>
                  <a:srgbClr val="C7CDD4"/>
                </a:solidFill>
                <a:latin typeface="IBM Plex Sans" pitchFamily="34" charset="0"/>
                <a:ea typeface="IBM Plex Sans" pitchFamily="34" charset="-122"/>
                <a:cs typeface="IBM Plex Sans" pitchFamily="34" charset="-120"/>
              </a:rPr>
              <a:t> home and </a:t>
            </a:r>
            <a:r>
              <a:rPr lang="en-US" sz="1200" b="1" i="1" dirty="0">
                <a:solidFill>
                  <a:srgbClr val="C7CDD4"/>
                </a:solidFill>
                <a:latin typeface="IBM Plex Sans" pitchFamily="34" charset="0"/>
                <a:ea typeface="IBM Plex Sans" pitchFamily="34" charset="-122"/>
                <a:cs typeface="IBM Plex Sans" pitchFamily="34" charset="-120"/>
              </a:rPr>
              <a:t>left</a:t>
            </a:r>
            <a:r>
              <a:rPr lang="en-US" sz="1200" i="1" dirty="0">
                <a:solidFill>
                  <a:srgbClr val="C7CDD4"/>
                </a:solidFill>
                <a:latin typeface="IBM Plex Sans" pitchFamily="34" charset="0"/>
                <a:ea typeface="IBM Plex Sans" pitchFamily="34" charset="-122"/>
                <a:cs typeface="IBM Plex Sans" pitchFamily="34" charset="-120"/>
              </a:rPr>
              <a:t> the park."</a:t>
            </a:r>
            <a:endParaRPr lang="en-US" sz="1200" dirty="0"/>
          </a:p>
        </p:txBody>
      </p:sp>
      <p:pic>
        <p:nvPicPr>
          <p:cNvPr id="7" name="Image 0" descr="preencoded.png">    </p:cNvPr>
          <p:cNvPicPr>
            <a:picLocks noChangeAspect="1"/>
          </p:cNvPicPr>
          <p:nvPr/>
        </p:nvPicPr>
        <p:blipFill>
          <a:blip r:embed="rId1"/>
          <a:srcRect l="0" r="0" t="0" b="0"/>
          <a:stretch/>
        </p:blipFill>
        <p:spPr>
          <a:xfrm>
            <a:off x="812800" y="2193292"/>
            <a:ext cx="6350000" cy="1473200"/>
          </a:xfrm>
          <a:prstGeom prst="rect">
            <a:avLst/>
          </a:prstGeom>
        </p:spPr>
      </p:pic>
      <p:sp>
        <p:nvSpPr>
          <p:cNvPr id="8" name="Shape 5"/>
          <p:cNvSpPr/>
          <p:nvPr/>
        </p:nvSpPr>
        <p:spPr>
          <a:xfrm>
            <a:off x="812800" y="2320292"/>
            <a:ext cx="889000" cy="355600"/>
          </a:xfrm>
          <a:prstGeom prst="roundRect">
            <a:avLst>
              <a:gd name="adj" fmla="val 17857"/>
            </a:avLst>
          </a:prstGeom>
          <a:solidFill>
            <a:srgbClr val="1C2733"/>
          </a:solidFill>
          <a:ln/>
        </p:spPr>
      </p:sp>
      <p:sp>
        <p:nvSpPr>
          <p:cNvPr id="9" name="Text 6"/>
          <p:cNvSpPr/>
          <p:nvPr/>
        </p:nvSpPr>
        <p:spPr>
          <a:xfrm>
            <a:off x="1081008" y="2391414"/>
            <a:ext cx="40330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AF9F5"/>
                </a:solidFill>
                <a:latin typeface="IBM Plex Sans" pitchFamily="34" charset="0"/>
                <a:ea typeface="IBM Plex Sans" pitchFamily="34" charset="-122"/>
                <a:cs typeface="IBM Plex Sans" pitchFamily="34" charset="-120"/>
              </a:rPr>
              <a:t>Chạy</a:t>
            </a:r>
            <a:endParaRPr lang="en-US" sz="1200" dirty="0"/>
          </a:p>
        </p:txBody>
      </p:sp>
      <p:sp>
        <p:nvSpPr>
          <p:cNvPr id="10" name="Shape 7"/>
          <p:cNvSpPr/>
          <p:nvPr/>
        </p:nvSpPr>
        <p:spPr>
          <a:xfrm>
            <a:off x="812800" y="3018792"/>
            <a:ext cx="889000" cy="355600"/>
          </a:xfrm>
          <a:prstGeom prst="roundRect">
            <a:avLst>
              <a:gd name="adj" fmla="val 17857"/>
            </a:avLst>
          </a:prstGeom>
          <a:solidFill>
            <a:srgbClr val="1C2733"/>
          </a:solidFill>
          <a:ln/>
        </p:spPr>
      </p:sp>
      <p:sp>
        <p:nvSpPr>
          <p:cNvPr id="11" name="Text 8"/>
          <p:cNvSpPr/>
          <p:nvPr/>
        </p:nvSpPr>
        <p:spPr>
          <a:xfrm>
            <a:off x="1142841" y="3089914"/>
            <a:ext cx="27971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AF9F5"/>
                </a:solidFill>
                <a:latin typeface="IBM Plex Sans" pitchFamily="34" charset="0"/>
                <a:ea typeface="IBM Plex Sans" pitchFamily="34" charset="-122"/>
                <a:cs typeface="IBM Plex Sans" pitchFamily="34" charset="-120"/>
              </a:rPr>
              <a:t>Rời</a:t>
            </a:r>
            <a:endParaRPr lang="en-US" sz="1200" dirty="0"/>
          </a:p>
        </p:txBody>
      </p:sp>
      <p:sp>
        <p:nvSpPr>
          <p:cNvPr id="12" name="Shape 9"/>
          <p:cNvSpPr/>
          <p:nvPr/>
        </p:nvSpPr>
        <p:spPr>
          <a:xfrm>
            <a:off x="2619375" y="2196467"/>
            <a:ext cx="946150" cy="450850"/>
          </a:xfrm>
          <a:prstGeom prst="roundRect">
            <a:avLst>
              <a:gd name="adj" fmla="val 13380"/>
            </a:avLst>
          </a:prstGeom>
          <a:solidFill>
            <a:srgbClr val="FFFFFF"/>
          </a:solidFill>
          <a:ln w="6350">
            <a:solidFill>
              <a:srgbClr val="E3DDD0"/>
            </a:solidFill>
            <a:prstDash val="solid"/>
          </a:ln>
        </p:spPr>
      </p:sp>
      <p:sp>
        <p:nvSpPr>
          <p:cNvPr id="13" name="Text 10"/>
          <p:cNvSpPr/>
          <p:nvPr/>
        </p:nvSpPr>
        <p:spPr>
          <a:xfrm>
            <a:off x="2832100" y="2215517"/>
            <a:ext cx="571500" cy="229870"/>
          </a:xfrm>
          <a:prstGeom prst="rect">
            <a:avLst/>
          </a:prstGeom>
          <a:noFill/>
          <a:ln/>
        </p:spPr>
        <p:txBody>
          <a:bodyPr wrap="square" lIns="0" tIns="0" rIns="0" bIns="0" rtlCol="0" anchor="t">
            <a:normAutofit/>
          </a:bodyPr>
          <a:lstStyle/>
          <a:p>
            <a:pPr algn="l" indent="0" marL="0">
              <a:lnSpc>
                <a:spcPts val="1610"/>
              </a:lnSpc>
              <a:buNone/>
            </a:pPr>
            <a:r>
              <a:rPr lang="en-US" sz="1150" b="1" dirty="0">
                <a:solidFill>
                  <a:srgbClr val="1C2733"/>
                </a:solidFill>
                <a:latin typeface="IBM Plex Sans" pitchFamily="34" charset="0"/>
                <a:ea typeface="IBM Plex Sans" pitchFamily="34" charset="-122"/>
                <a:cs typeface="IBM Plex Sans" pitchFamily="34" charset="-120"/>
              </a:rPr>
              <a:t>running</a:t>
            </a:r>
            <a:endParaRPr lang="en-US" sz="1150" dirty="0"/>
          </a:p>
        </p:txBody>
      </p:sp>
      <p:sp>
        <p:nvSpPr>
          <p:cNvPr id="14" name="Text 11"/>
          <p:cNvSpPr/>
          <p:nvPr/>
        </p:nvSpPr>
        <p:spPr>
          <a:xfrm>
            <a:off x="2820035" y="2432689"/>
            <a:ext cx="595551" cy="220980"/>
          </a:xfrm>
          <a:prstGeom prst="rect">
            <a:avLst/>
          </a:prstGeom>
          <a:noFill/>
          <a:ln/>
        </p:spPr>
        <p:txBody>
          <a:bodyPr wrap="square" lIns="0" tIns="0" rIns="0" bIns="0" rtlCol="0" anchor="t">
            <a:normAutofit/>
          </a:bodyPr>
          <a:lstStyle/>
          <a:p>
            <a:pPr algn="l" indent="0" marL="0">
              <a:lnSpc>
                <a:spcPts val="1540"/>
              </a:lnSpc>
              <a:buNone/>
            </a:pPr>
            <a:r>
              <a:rPr lang="en-US" sz="1100" b="1" dirty="0">
                <a:solidFill>
                  <a:srgbClr val="B8863B"/>
                </a:solidFill>
                <a:latin typeface="IBM Plex Sans" pitchFamily="34" charset="0"/>
                <a:ea typeface="IBM Plex Sans" pitchFamily="34" charset="-122"/>
                <a:cs typeface="IBM Plex Sans" pitchFamily="34" charset="-120"/>
              </a:rPr>
              <a:t>p=0,130</a:t>
            </a:r>
            <a:endParaRPr lang="en-US" sz="1100" dirty="0"/>
          </a:p>
        </p:txBody>
      </p:sp>
      <p:sp>
        <p:nvSpPr>
          <p:cNvPr id="15" name="Shape 12"/>
          <p:cNvSpPr/>
          <p:nvPr/>
        </p:nvSpPr>
        <p:spPr>
          <a:xfrm>
            <a:off x="2619375" y="2666367"/>
            <a:ext cx="946150" cy="450850"/>
          </a:xfrm>
          <a:prstGeom prst="roundRect">
            <a:avLst>
              <a:gd name="adj" fmla="val 13380"/>
            </a:avLst>
          </a:prstGeom>
          <a:solidFill>
            <a:srgbClr val="FFFFFF"/>
          </a:solidFill>
          <a:ln w="6350">
            <a:solidFill>
              <a:srgbClr val="E3DDD0"/>
            </a:solidFill>
            <a:prstDash val="solid"/>
          </a:ln>
        </p:spPr>
      </p:sp>
      <p:sp>
        <p:nvSpPr>
          <p:cNvPr id="16" name="Text 13"/>
          <p:cNvSpPr/>
          <p:nvPr/>
        </p:nvSpPr>
        <p:spPr>
          <a:xfrm>
            <a:off x="2980769" y="2685417"/>
            <a:ext cx="274161" cy="229870"/>
          </a:xfrm>
          <a:prstGeom prst="rect">
            <a:avLst/>
          </a:prstGeom>
          <a:noFill/>
          <a:ln/>
        </p:spPr>
        <p:txBody>
          <a:bodyPr wrap="square" lIns="0" tIns="0" rIns="0" bIns="0" rtlCol="0" anchor="t">
            <a:normAutofit/>
          </a:bodyPr>
          <a:lstStyle/>
          <a:p>
            <a:pPr algn="l" indent="0" marL="0">
              <a:lnSpc>
                <a:spcPts val="1610"/>
              </a:lnSpc>
              <a:buNone/>
            </a:pPr>
            <a:r>
              <a:rPr lang="en-US" sz="1150" b="1" dirty="0">
                <a:solidFill>
                  <a:srgbClr val="1C2733"/>
                </a:solidFill>
                <a:latin typeface="IBM Plex Sans" pitchFamily="34" charset="0"/>
                <a:ea typeface="IBM Plex Sans" pitchFamily="34" charset="-122"/>
                <a:cs typeface="IBM Plex Sans" pitchFamily="34" charset="-120"/>
              </a:rPr>
              <a:t>ran</a:t>
            </a:r>
            <a:endParaRPr lang="en-US" sz="1150" dirty="0"/>
          </a:p>
        </p:txBody>
      </p:sp>
      <p:sp>
        <p:nvSpPr>
          <p:cNvPr id="17" name="Text 14"/>
          <p:cNvSpPr/>
          <p:nvPr/>
        </p:nvSpPr>
        <p:spPr>
          <a:xfrm>
            <a:off x="2820035" y="2902589"/>
            <a:ext cx="595551" cy="220980"/>
          </a:xfrm>
          <a:prstGeom prst="rect">
            <a:avLst/>
          </a:prstGeom>
          <a:noFill/>
          <a:ln/>
        </p:spPr>
        <p:txBody>
          <a:bodyPr wrap="square" lIns="0" tIns="0" rIns="0" bIns="0" rtlCol="0" anchor="t">
            <a:normAutofit/>
          </a:bodyPr>
          <a:lstStyle/>
          <a:p>
            <a:pPr algn="l" indent="0" marL="0">
              <a:lnSpc>
                <a:spcPts val="1540"/>
              </a:lnSpc>
              <a:buNone/>
            </a:pPr>
            <a:r>
              <a:rPr lang="en-US" sz="1100" b="1" dirty="0">
                <a:solidFill>
                  <a:srgbClr val="B8863B"/>
                </a:solidFill>
                <a:latin typeface="IBM Plex Sans" pitchFamily="34" charset="0"/>
                <a:ea typeface="IBM Plex Sans" pitchFamily="34" charset="-122"/>
                <a:cs typeface="IBM Plex Sans" pitchFamily="34" charset="-120"/>
              </a:rPr>
              <a:t>p=0,103</a:t>
            </a:r>
            <a:endParaRPr lang="en-US" sz="1100" dirty="0"/>
          </a:p>
        </p:txBody>
      </p:sp>
      <p:sp>
        <p:nvSpPr>
          <p:cNvPr id="18" name="Shape 15"/>
          <p:cNvSpPr/>
          <p:nvPr/>
        </p:nvSpPr>
        <p:spPr>
          <a:xfrm>
            <a:off x="2619375" y="3187067"/>
            <a:ext cx="946150" cy="450850"/>
          </a:xfrm>
          <a:prstGeom prst="roundRect">
            <a:avLst>
              <a:gd name="adj" fmla="val 13380"/>
            </a:avLst>
          </a:prstGeom>
          <a:solidFill>
            <a:srgbClr val="FFFFFF"/>
          </a:solidFill>
          <a:ln w="6350">
            <a:solidFill>
              <a:srgbClr val="E3DDD0"/>
            </a:solidFill>
            <a:prstDash val="solid"/>
          </a:ln>
        </p:spPr>
      </p:sp>
      <p:sp>
        <p:nvSpPr>
          <p:cNvPr id="19" name="Text 16"/>
          <p:cNvSpPr/>
          <p:nvPr/>
        </p:nvSpPr>
        <p:spPr>
          <a:xfrm>
            <a:off x="2977356" y="3206117"/>
            <a:ext cx="280988" cy="229870"/>
          </a:xfrm>
          <a:prstGeom prst="rect">
            <a:avLst/>
          </a:prstGeom>
          <a:noFill/>
          <a:ln/>
        </p:spPr>
        <p:txBody>
          <a:bodyPr wrap="square" lIns="0" tIns="0" rIns="0" bIns="0" rtlCol="0" anchor="t">
            <a:normAutofit/>
          </a:bodyPr>
          <a:lstStyle/>
          <a:p>
            <a:pPr algn="l" indent="0" marL="0">
              <a:lnSpc>
                <a:spcPts val="1610"/>
              </a:lnSpc>
              <a:buNone/>
            </a:pPr>
            <a:r>
              <a:rPr lang="en-US" sz="1150" b="1" dirty="0">
                <a:solidFill>
                  <a:srgbClr val="1C2733"/>
                </a:solidFill>
                <a:latin typeface="IBM Plex Sans" pitchFamily="34" charset="0"/>
                <a:ea typeface="IBM Plex Sans" pitchFamily="34" charset="-122"/>
                <a:cs typeface="IBM Plex Sans" pitchFamily="34" charset="-120"/>
              </a:rPr>
              <a:t>left</a:t>
            </a:r>
            <a:endParaRPr lang="en-US" sz="1150" dirty="0"/>
          </a:p>
        </p:txBody>
      </p:sp>
      <p:sp>
        <p:nvSpPr>
          <p:cNvPr id="20" name="Text 17"/>
          <p:cNvSpPr/>
          <p:nvPr/>
        </p:nvSpPr>
        <p:spPr>
          <a:xfrm>
            <a:off x="2820035" y="3423289"/>
            <a:ext cx="595551" cy="220980"/>
          </a:xfrm>
          <a:prstGeom prst="rect">
            <a:avLst/>
          </a:prstGeom>
          <a:noFill/>
          <a:ln/>
        </p:spPr>
        <p:txBody>
          <a:bodyPr wrap="square" lIns="0" tIns="0" rIns="0" bIns="0" rtlCol="0" anchor="t">
            <a:normAutofit/>
          </a:bodyPr>
          <a:lstStyle/>
          <a:p>
            <a:pPr algn="l" indent="0" marL="0">
              <a:lnSpc>
                <a:spcPts val="1540"/>
              </a:lnSpc>
              <a:buNone/>
            </a:pPr>
            <a:r>
              <a:rPr lang="en-US" sz="1100" b="1" dirty="0">
                <a:solidFill>
                  <a:srgbClr val="B8863B"/>
                </a:solidFill>
                <a:latin typeface="IBM Plex Sans" pitchFamily="34" charset="0"/>
                <a:ea typeface="IBM Plex Sans" pitchFamily="34" charset="-122"/>
                <a:cs typeface="IBM Plex Sans" pitchFamily="34" charset="-120"/>
              </a:rPr>
              <a:t>p=0,216</a:t>
            </a:r>
            <a:endParaRPr lang="en-US" sz="1100" dirty="0"/>
          </a:p>
        </p:txBody>
      </p:sp>
      <p:sp>
        <p:nvSpPr>
          <p:cNvPr id="21" name="Shape 18"/>
          <p:cNvSpPr/>
          <p:nvPr/>
        </p:nvSpPr>
        <p:spPr>
          <a:xfrm>
            <a:off x="4591050" y="2250442"/>
            <a:ext cx="1066800" cy="444500"/>
          </a:xfrm>
          <a:prstGeom prst="roundRect">
            <a:avLst>
              <a:gd name="adj" fmla="val 12857"/>
            </a:avLst>
          </a:prstGeom>
          <a:solidFill>
            <a:srgbClr val="FBF1E0"/>
          </a:solidFill>
          <a:ln w="12700">
            <a:solidFill>
              <a:srgbClr val="B8863B"/>
            </a:solidFill>
            <a:prstDash val="solid"/>
          </a:ln>
        </p:spPr>
      </p:sp>
      <p:sp>
        <p:nvSpPr>
          <p:cNvPr id="22" name="Text 19"/>
          <p:cNvSpPr/>
          <p:nvPr/>
        </p:nvSpPr>
        <p:spPr>
          <a:xfrm>
            <a:off x="4977051" y="2275204"/>
            <a:ext cx="345599" cy="220980"/>
          </a:xfrm>
          <a:prstGeom prst="rect">
            <a:avLst/>
          </a:prstGeom>
          <a:noFill/>
          <a:ln/>
        </p:spPr>
        <p:txBody>
          <a:bodyPr wrap="square" lIns="0" tIns="0" rIns="0" bIns="0" rtlCol="0" anchor="t">
            <a:normAutofit/>
          </a:bodyPr>
          <a:lstStyle/>
          <a:p>
            <a:pPr algn="l" indent="0" marL="0">
              <a:lnSpc>
                <a:spcPts val="1540"/>
              </a:lnSpc>
              <a:buNone/>
            </a:pPr>
            <a:r>
              <a:rPr lang="en-US" sz="1100" b="1" dirty="0">
                <a:solidFill>
                  <a:srgbClr val="1C2733"/>
                </a:solidFill>
                <a:latin typeface="IBM Plex Sans" pitchFamily="34" charset="0"/>
                <a:ea typeface="IBM Plex Sans" pitchFamily="34" charset="-122"/>
                <a:cs typeface="IBM Plex Sans" pitchFamily="34" charset="-120"/>
              </a:rPr>
              <a:t>run*</a:t>
            </a:r>
            <a:endParaRPr lang="en-US" sz="1100" dirty="0"/>
          </a:p>
        </p:txBody>
      </p:sp>
      <p:sp>
        <p:nvSpPr>
          <p:cNvPr id="23" name="Text 20"/>
          <p:cNvSpPr/>
          <p:nvPr/>
        </p:nvSpPr>
        <p:spPr>
          <a:xfrm>
            <a:off x="4765516" y="2483489"/>
            <a:ext cx="768668" cy="212090"/>
          </a:xfrm>
          <a:prstGeom prst="rect">
            <a:avLst/>
          </a:prstGeom>
          <a:noFill/>
          <a:ln/>
        </p:spPr>
        <p:txBody>
          <a:bodyPr wrap="square" lIns="0" tIns="0" rIns="0" bIns="0" rtlCol="0" anchor="t">
            <a:normAutofit/>
          </a:bodyPr>
          <a:lstStyle/>
          <a:p>
            <a:pPr algn="l" indent="0" marL="0">
              <a:lnSpc>
                <a:spcPts val="1470"/>
              </a:lnSpc>
              <a:buNone/>
            </a:pPr>
            <a:r>
              <a:rPr lang="en-US" sz="1050" b="1" dirty="0">
                <a:solidFill>
                  <a:srgbClr val="8A6A3A"/>
                </a:solidFill>
                <a:latin typeface="IBM Plex Sans" pitchFamily="34" charset="0"/>
                <a:ea typeface="IBM Plex Sans" pitchFamily="34" charset="-122"/>
                <a:cs typeface="IBM Plex Sans" pitchFamily="34" charset="-120"/>
              </a:rPr>
              <a:t>0,935 &amp; 1,0</a:t>
            </a:r>
            <a:endParaRPr lang="en-US" sz="1050" dirty="0"/>
          </a:p>
        </p:txBody>
      </p:sp>
      <p:sp>
        <p:nvSpPr>
          <p:cNvPr id="24" name="Shape 21"/>
          <p:cNvSpPr/>
          <p:nvPr/>
        </p:nvSpPr>
        <p:spPr>
          <a:xfrm>
            <a:off x="4587875" y="2806067"/>
            <a:ext cx="1073150" cy="450850"/>
          </a:xfrm>
          <a:prstGeom prst="roundRect">
            <a:avLst>
              <a:gd name="adj" fmla="val 13380"/>
            </a:avLst>
          </a:prstGeom>
          <a:solidFill>
            <a:srgbClr val="FBF1E0"/>
          </a:solidFill>
          <a:ln w="6350">
            <a:solidFill>
              <a:srgbClr val="D9B577"/>
            </a:solidFill>
            <a:prstDash val="solid"/>
          </a:ln>
        </p:spPr>
      </p:sp>
      <p:sp>
        <p:nvSpPr>
          <p:cNvPr id="25" name="Text 22"/>
          <p:cNvSpPr/>
          <p:nvPr/>
        </p:nvSpPr>
        <p:spPr>
          <a:xfrm>
            <a:off x="4836239" y="2834004"/>
            <a:ext cx="627221" cy="220980"/>
          </a:xfrm>
          <a:prstGeom prst="rect">
            <a:avLst/>
          </a:prstGeom>
          <a:noFill/>
          <a:ln/>
        </p:spPr>
        <p:txBody>
          <a:bodyPr wrap="square" lIns="0" tIns="0" rIns="0" bIns="0" rtlCol="0" anchor="t">
            <a:normAutofit/>
          </a:bodyPr>
          <a:lstStyle/>
          <a:p>
            <a:pPr algn="l" indent="0" marL="0">
              <a:lnSpc>
                <a:spcPts val="1540"/>
              </a:lnSpc>
              <a:buNone/>
            </a:pPr>
            <a:r>
              <a:rPr lang="en-US" sz="1100" b="1" dirty="0">
                <a:solidFill>
                  <a:srgbClr val="1C2733"/>
                </a:solidFill>
                <a:latin typeface="IBM Plex Sans" pitchFamily="34" charset="0"/>
                <a:ea typeface="IBM Plex Sans" pitchFamily="34" charset="-122"/>
                <a:cs typeface="IBM Plex Sans" pitchFamily="34" charset="-120"/>
              </a:rPr>
              <a:t>running*</a:t>
            </a:r>
            <a:endParaRPr lang="en-US" sz="1100" dirty="0"/>
          </a:p>
        </p:txBody>
      </p:sp>
      <p:sp>
        <p:nvSpPr>
          <p:cNvPr id="26" name="Text 23"/>
          <p:cNvSpPr/>
          <p:nvPr/>
        </p:nvSpPr>
        <p:spPr>
          <a:xfrm>
            <a:off x="4864417" y="3042289"/>
            <a:ext cx="570786" cy="212090"/>
          </a:xfrm>
          <a:prstGeom prst="rect">
            <a:avLst/>
          </a:prstGeom>
          <a:noFill/>
          <a:ln/>
        </p:spPr>
        <p:txBody>
          <a:bodyPr wrap="square" lIns="0" tIns="0" rIns="0" bIns="0" rtlCol="0" anchor="t">
            <a:normAutofit/>
          </a:bodyPr>
          <a:lstStyle/>
          <a:p>
            <a:pPr algn="l" indent="0" marL="0">
              <a:lnSpc>
                <a:spcPts val="1470"/>
              </a:lnSpc>
              <a:buNone/>
            </a:pPr>
            <a:r>
              <a:rPr lang="en-US" sz="1050" b="1" dirty="0">
                <a:solidFill>
                  <a:srgbClr val="8A6A3A"/>
                </a:solidFill>
                <a:latin typeface="IBM Plex Sans" pitchFamily="34" charset="0"/>
                <a:ea typeface="IBM Plex Sans" pitchFamily="34" charset="-122"/>
                <a:cs typeface="IBM Plex Sans" pitchFamily="34" charset="-120"/>
              </a:rPr>
              <a:t>p=0,065</a:t>
            </a:r>
            <a:endParaRPr lang="en-US" sz="1050" dirty="0"/>
          </a:p>
        </p:txBody>
      </p:sp>
      <p:sp>
        <p:nvSpPr>
          <p:cNvPr id="27" name="Text 24"/>
          <p:cNvSpPr/>
          <p:nvPr/>
        </p:nvSpPr>
        <p:spPr>
          <a:xfrm>
            <a:off x="5727700" y="2193292"/>
            <a:ext cx="1183640" cy="220980"/>
          </a:xfrm>
          <a:prstGeom prst="rect">
            <a:avLst/>
          </a:prstGeom>
          <a:noFill/>
          <a:ln/>
        </p:spPr>
        <p:txBody>
          <a:bodyPr wrap="square" lIns="0" tIns="0" rIns="0" bIns="0" rtlCol="0" anchor="t">
            <a:normAutofit/>
          </a:bodyPr>
          <a:lstStyle/>
          <a:p>
            <a:pPr algn="l" indent="0" marL="0">
              <a:lnSpc>
                <a:spcPts val="1540"/>
              </a:lnSpc>
              <a:buNone/>
            </a:pPr>
            <a:r>
              <a:rPr lang="en-US" sz="1100" b="1" dirty="0">
                <a:solidFill>
                  <a:srgbClr val="B5502E"/>
                </a:solidFill>
                <a:latin typeface="IBM Plex Sans" pitchFamily="34" charset="0"/>
                <a:ea typeface="IBM Plex Sans" pitchFamily="34" charset="-122"/>
                <a:cs typeface="IBM Plex Sans" pitchFamily="34" charset="-120"/>
              </a:rPr>
              <a:t>← 2 nguồn hội tụ!</a:t>
            </a:r>
            <a:endParaRPr lang="en-US" sz="1100" dirty="0"/>
          </a:p>
        </p:txBody>
      </p:sp>
      <p:sp>
        <p:nvSpPr>
          <p:cNvPr id="28" name="Text 25"/>
          <p:cNvSpPr/>
          <p:nvPr/>
        </p:nvSpPr>
        <p:spPr>
          <a:xfrm>
            <a:off x="5575300" y="3285492"/>
            <a:ext cx="1493679"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8A9199"/>
                </a:solidFill>
                <a:latin typeface="IBM Plex Sans" pitchFamily="34" charset="0"/>
                <a:ea typeface="IBM Plex Sans" pitchFamily="34" charset="-122"/>
                <a:cs typeface="IBM Plex Sans" pitchFamily="34" charset="-120"/>
              </a:rPr>
              <a:t>(chưa lọc thêm lemma)</a:t>
            </a:r>
            <a:endParaRPr lang="en-US" sz="1100" dirty="0"/>
          </a:p>
        </p:txBody>
      </p:sp>
      <p:sp>
        <p:nvSpPr>
          <p:cNvPr id="29" name="Text 26"/>
          <p:cNvSpPr/>
          <p:nvPr/>
        </p:nvSpPr>
        <p:spPr>
          <a:xfrm>
            <a:off x="812800" y="3755392"/>
            <a:ext cx="5337048" cy="220980"/>
          </a:xfrm>
          <a:prstGeom prst="rect">
            <a:avLst/>
          </a:prstGeom>
          <a:noFill/>
          <a:ln/>
        </p:spPr>
        <p:txBody>
          <a:bodyPr wrap="square" lIns="0" tIns="0" rIns="0" bIns="0" rtlCol="0" anchor="t">
            <a:normAutofit/>
          </a:bodyPr>
          <a:lstStyle/>
          <a:p>
            <a:pPr algn="l" indent="0" marL="0">
              <a:lnSpc>
                <a:spcPts val="1540"/>
              </a:lnSpc>
              <a:buNone/>
            </a:pPr>
            <a:r>
              <a:rPr lang="en-US" sz="1100" b="1" dirty="0">
                <a:solidFill>
                  <a:srgbClr val="8A9199"/>
                </a:solidFill>
                <a:latin typeface="IBM Plex Sans" pitchFamily="34" charset="0"/>
                <a:ea typeface="IBM Plex Sans" pitchFamily="34" charset="-122"/>
                <a:cs typeface="IBM Plex Sans" pitchFamily="34" charset="-120"/>
              </a:rPr>
              <a:t>GIAO DỊCH (từ câu ví dụ + tương tự)</a:t>
            </a:r>
            <a:endParaRPr lang="en-US" sz="11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822960" y="4011931"/>
          <a:ext cx="5171440" cy="1198880"/>
        </p:xfrm>
        <a:graphic>
          <a:graphicData uri="http://schemas.openxmlformats.org/drawingml/2006/table">
            <a:tbl>
              <a:tblPr/>
              <a:tblGrid>
                <a:gridCol w="2585720"/>
                <a:gridCol w="2585720"/>
              </a:tblGrid>
              <a:tr h="299720">
                <a:tc>
                  <a:txBody>
                    <a:bodyPr/>
                    <a:lstStyle/>
                    <a:p>
                      <a:pPr indent="0" marL="0">
                        <a:lnSpc>
                          <a:spcPts val="1680"/>
                        </a:lnSpc>
                        <a:buNone/>
                      </a:pPr>
                      <a:r>
                        <a:rPr lang="en-US" sz="1200" b="1" dirty="0">
                          <a:solidFill>
                            <a:srgbClr val="FAF9F5"/>
                          </a:solidFill>
                          <a:latin typeface="IBM Plex Sans" pitchFamily="34" charset="0"/>
                          <a:ea typeface="IBM Plex Sans" pitchFamily="34" charset="-122"/>
                          <a:cs typeface="IBM Plex Sans" pitchFamily="34" charset="-120"/>
                        </a:rPr>
                        <a:t>GD</a:t>
                      </a:r>
                      <a:endParaRPr lang="en-US" sz="1200" dirty="0">
                        <a:latin typeface="IBM Plex Sans" charset="0"/>
                        <a:ea typeface="IBM Plex Sans" charset="0"/>
                        <a:cs typeface="IBM Plex Sans" charset="0"/>
                      </a:endParaRPr>
                    </a:p>
                  </a:txBody>
                  <a:tcPr marL="76200" marR="76200" marT="38100" marB="38100" anchor="t">
                    <a:lnL w="12700" cap="flat" cmpd="sng" algn="ctr">
                      <a:solidFill>
                        <a:srgbClr val="C7C7C3"/>
                      </a:solidFill>
                      <a:prstDash val="solid"/>
                      <a:round/>
                      <a:headEnd type="none" w="med" len="med"/>
                      <a:tailEnd type="none" w="med" len="med"/>
                    </a:lnL>
                    <a:lnR w="12700" cap="flat" cmpd="sng" algn="ctr">
                      <a:solidFill>
                        <a:srgbClr val="1A232C"/>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1A232C"/>
                      </a:solidFill>
                      <a:prstDash val="solid"/>
                      <a:round/>
                      <a:headEnd type="none" w="med" len="med"/>
                      <a:tailEnd type="none" w="med" len="med"/>
                    </a:lnB>
                    <a:solidFill>
                      <a:srgbClr val="1C2733"/>
                    </a:solidFill>
                  </a:tcPr>
                </a:tc>
                <a:tc>
                  <a:txBody>
                    <a:bodyPr/>
                    <a:lstStyle/>
                    <a:p>
                      <a:pPr indent="0" marL="0">
                        <a:lnSpc>
                          <a:spcPts val="1680"/>
                        </a:lnSpc>
                        <a:buNone/>
                      </a:pPr>
                      <a:r>
                        <a:rPr lang="en-US" sz="1200" b="1" dirty="0">
                          <a:solidFill>
                            <a:srgbClr val="FAF9F5"/>
                          </a:solidFill>
                          <a:latin typeface="IBM Plex Sans" pitchFamily="34" charset="0"/>
                          <a:ea typeface="IBM Plex Sans" pitchFamily="34" charset="-122"/>
                          <a:cs typeface="IBM Plex Sans" pitchFamily="34" charset="-120"/>
                        </a:rPr>
                        <a:t>Khoản mục lá (EU)</a:t>
                      </a:r>
                      <a:endParaRPr lang="en-US" sz="1200" dirty="0">
                        <a:latin typeface="IBM Plex Sans" charset="0"/>
                        <a:ea typeface="IBM Plex Sans" charset="0"/>
                        <a:cs typeface="IBM Plex Sans" charset="0"/>
                      </a:endParaRPr>
                    </a:p>
                  </a:txBody>
                  <a:tcPr marL="76200" marR="76200" marT="38100" marB="38100" anchor="t">
                    <a:lnL w="12700" cap="flat" cmpd="sng" algn="ctr">
                      <a:solidFill>
                        <a:srgbClr val="1A232C"/>
                      </a:solidFill>
                      <a:prstDash val="solid"/>
                      <a:round/>
                      <a:headEnd type="none" w="med" len="med"/>
                      <a:tailEnd type="none" w="med" len="med"/>
                    </a:lnL>
                    <a:lnR w="12700" cap="flat" cmpd="sng" algn="ctr">
                      <a:solidFill>
                        <a:srgbClr val="1A232C"/>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1A232C"/>
                      </a:solidFill>
                      <a:prstDash val="solid"/>
                      <a:round/>
                      <a:headEnd type="none" w="med" len="med"/>
                      <a:tailEnd type="none" w="med" len="med"/>
                    </a:lnB>
                    <a:solidFill>
                      <a:srgbClr val="1C2733"/>
                    </a:solidFill>
                  </a:tcPr>
                </a:tc>
              </a:tr>
              <a:tr h="299720">
                <a:tc>
                  <a:txBody>
                    <a:bodyPr/>
                    <a:lstStyle/>
                    <a:p>
                      <a:pPr indent="0" marL="0">
                        <a:lnSpc>
                          <a:spcPts val="1680"/>
                        </a:lnSpc>
                        <a:buNone/>
                      </a:pPr>
                      <a:r>
                        <a:rPr lang="en-US" sz="1200" dirty="0">
                          <a:solidFill>
                            <a:srgbClr val="1C2733"/>
                          </a:solidFill>
                          <a:latin typeface="IBM Plex Sans" pitchFamily="34" charset="0"/>
                          <a:ea typeface="IBM Plex Sans" pitchFamily="34" charset="-122"/>
                          <a:cs typeface="IBM Plex Sans" pitchFamily="34" charset="-120"/>
                        </a:rPr>
                        <a:t>T1</a:t>
                      </a:r>
                      <a:endParaRPr lang="en-US" sz="1200" dirty="0">
                        <a:latin typeface="IBM Plex Sans" charset="0"/>
                        <a:ea typeface="IBM Plex Sans" charset="0"/>
                        <a:cs typeface="IBM Plex Sans" charset="0"/>
                      </a:endParaRPr>
                    </a:p>
                  </a:txBody>
                  <a:tcPr marL="76200" marR="76200" marT="38100" marB="38100" anchor="t">
                    <a:lnL w="12700" cap="flat" cmpd="sng" algn="ctr">
                      <a:solidFill>
                        <a:srgbClr val="C7C7C3"/>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A232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C2733"/>
                          </a:solidFill>
                          <a:latin typeface="IBM Plex Sans" pitchFamily="34" charset="0"/>
                          <a:ea typeface="IBM Plex Sans" pitchFamily="34" charset="-122"/>
                          <a:cs typeface="IBM Plex Sans" pitchFamily="34" charset="-120"/>
                        </a:rPr>
                        <a:t>Chạy(10), Rời(8)</a:t>
                      </a:r>
                      <a:endParaRPr lang="en-US" sz="1200" dirty="0">
                        <a:latin typeface="IBM Plex Sans" charset="0"/>
                        <a:ea typeface="IBM Plex Sans" charset="0"/>
                        <a:cs typeface="IBM Plex Sans"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A232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299720">
                <a:tc>
                  <a:txBody>
                    <a:bodyPr/>
                    <a:lstStyle/>
                    <a:p>
                      <a:pPr indent="0" marL="0">
                        <a:lnSpc>
                          <a:spcPts val="1680"/>
                        </a:lnSpc>
                        <a:buNone/>
                      </a:pPr>
                      <a:r>
                        <a:rPr lang="en-US" sz="1200" dirty="0">
                          <a:solidFill>
                            <a:srgbClr val="1C2733"/>
                          </a:solidFill>
                          <a:latin typeface="IBM Plex Sans" pitchFamily="34" charset="0"/>
                          <a:ea typeface="IBM Plex Sans" pitchFamily="34" charset="-122"/>
                          <a:cs typeface="IBM Plex Sans" pitchFamily="34" charset="-120"/>
                        </a:rPr>
                        <a:t>T2</a:t>
                      </a:r>
                      <a:endParaRPr lang="en-US" sz="1200" dirty="0">
                        <a:latin typeface="IBM Plex Sans" charset="0"/>
                        <a:ea typeface="IBM Plex Sans" charset="0"/>
                        <a:cs typeface="IBM Plex Sans" charset="0"/>
                      </a:endParaRPr>
                    </a:p>
                  </a:txBody>
                  <a:tcPr marL="76200" marR="76200" marT="38100" marB="38100" anchor="t">
                    <a:lnL w="12700" cap="flat" cmpd="sng" algn="ctr">
                      <a:solidFill>
                        <a:srgbClr val="C7C7C3"/>
                      </a:solidFill>
                      <a:prstDash val="solid"/>
                      <a:round/>
                      <a:headEnd type="none" w="med" len="med"/>
                      <a:tailEnd type="none" w="med" len="med"/>
                    </a:lnL>
                    <a:lnR w="12700" cap="flat" cmpd="sng" algn="ctr">
                      <a:solidFill>
                        <a:srgbClr val="C0BDB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c>
                  <a:txBody>
                    <a:bodyPr/>
                    <a:lstStyle/>
                    <a:p>
                      <a:pPr indent="0" marL="0">
                        <a:lnSpc>
                          <a:spcPts val="1680"/>
                        </a:lnSpc>
                        <a:buNone/>
                      </a:pPr>
                      <a:r>
                        <a:rPr lang="en-US" sz="1200" dirty="0">
                          <a:solidFill>
                            <a:srgbClr val="1C2733"/>
                          </a:solidFill>
                          <a:latin typeface="IBM Plex Sans" pitchFamily="34" charset="0"/>
                          <a:ea typeface="IBM Plex Sans" pitchFamily="34" charset="-122"/>
                          <a:cs typeface="IBM Plex Sans" pitchFamily="34" charset="-120"/>
                        </a:rPr>
                        <a:t>Chạy(6)</a:t>
                      </a:r>
                      <a:endParaRPr lang="en-US" sz="1200" dirty="0">
                        <a:latin typeface="IBM Plex Sans" charset="0"/>
                        <a:ea typeface="IBM Plex Sans" charset="0"/>
                        <a:cs typeface="IBM Plex Sans" charset="0"/>
                      </a:endParaRPr>
                    </a:p>
                  </a:txBody>
                  <a:tcPr marL="76200" marR="76200" marT="38100" marB="38100" anchor="t">
                    <a:lnL w="12700" cap="flat" cmpd="sng" algn="ctr">
                      <a:solidFill>
                        <a:srgbClr val="C0BDB7"/>
                      </a:solidFill>
                      <a:prstDash val="solid"/>
                      <a:round/>
                      <a:headEnd type="none" w="med" len="med"/>
                      <a:tailEnd type="none" w="med" len="med"/>
                    </a:lnL>
                    <a:lnR w="12700" cap="flat" cmpd="sng" algn="ctr">
                      <a:solidFill>
                        <a:srgbClr val="C0BDB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r>
              <a:tr h="299720">
                <a:tc>
                  <a:txBody>
                    <a:bodyPr/>
                    <a:lstStyle/>
                    <a:p>
                      <a:pPr indent="0" marL="0">
                        <a:lnSpc>
                          <a:spcPts val="1680"/>
                        </a:lnSpc>
                        <a:buNone/>
                      </a:pPr>
                      <a:r>
                        <a:rPr lang="en-US" sz="1200" dirty="0">
                          <a:solidFill>
                            <a:srgbClr val="1C2733"/>
                          </a:solidFill>
                          <a:latin typeface="IBM Plex Sans" pitchFamily="34" charset="0"/>
                          <a:ea typeface="IBM Plex Sans" pitchFamily="34" charset="-122"/>
                          <a:cs typeface="IBM Plex Sans" pitchFamily="34" charset="-120"/>
                        </a:rPr>
                        <a:t>T3</a:t>
                      </a:r>
                      <a:endParaRPr lang="en-US" sz="1200" dirty="0">
                        <a:latin typeface="IBM Plex Sans" charset="0"/>
                        <a:ea typeface="IBM Plex Sans" charset="0"/>
                        <a:cs typeface="IBM Plex Sans" charset="0"/>
                      </a:endParaRPr>
                    </a:p>
                  </a:txBody>
                  <a:tcPr marL="76200" marR="76200" marT="38100" marB="38100" anchor="t">
                    <a:lnL w="12700" cap="flat" cmpd="sng" algn="ctr">
                      <a:solidFill>
                        <a:srgbClr val="C7C7C3"/>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BDB7"/>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C2733"/>
                          </a:solidFill>
                          <a:latin typeface="IBM Plex Sans" pitchFamily="34" charset="0"/>
                          <a:ea typeface="IBM Plex Sans" pitchFamily="34" charset="-122"/>
                          <a:cs typeface="IBM Plex Sans" pitchFamily="34" charset="-120"/>
                        </a:rPr>
                        <a:t>Rời(9)</a:t>
                      </a:r>
                      <a:endParaRPr lang="en-US" sz="1200" dirty="0">
                        <a:latin typeface="IBM Plex Sans" charset="0"/>
                        <a:ea typeface="IBM Plex Sans" charset="0"/>
                        <a:cs typeface="IBM Plex Sans"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BDB7"/>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31" name="Text 27"/>
          <p:cNvSpPr/>
          <p:nvPr/>
        </p:nvSpPr>
        <p:spPr>
          <a:xfrm>
            <a:off x="6197600" y="3755392"/>
            <a:ext cx="5337048" cy="220980"/>
          </a:xfrm>
          <a:prstGeom prst="rect">
            <a:avLst/>
          </a:prstGeom>
          <a:noFill/>
          <a:ln/>
        </p:spPr>
        <p:txBody>
          <a:bodyPr wrap="square" lIns="0" tIns="0" rIns="0" bIns="0" rtlCol="0" anchor="t">
            <a:normAutofit/>
          </a:bodyPr>
          <a:lstStyle/>
          <a:p>
            <a:pPr algn="l" indent="0" marL="0">
              <a:lnSpc>
                <a:spcPts val="1540"/>
              </a:lnSpc>
              <a:buNone/>
            </a:pPr>
            <a:r>
              <a:rPr lang="en-US" sz="1100" b="1" dirty="0">
                <a:solidFill>
                  <a:srgbClr val="B8863B"/>
                </a:solidFill>
                <a:latin typeface="IBM Plex Sans" pitchFamily="34" charset="0"/>
                <a:ea typeface="IBM Plex Sans" pitchFamily="34" charset="-122"/>
                <a:cs typeface="IBM Plex Sans" pitchFamily="34" charset="-120"/>
              </a:rPr>
              <a:t>TOP-3 SAU KHI CUỘN EU QUA CÂY</a:t>
            </a:r>
            <a:endParaRPr lang="en-US" sz="1100" dirty="0"/>
          </a:p>
        </p:txBody>
      </p:sp>
      <p:graphicFrame>
        <p:nvGraphicFramePr>
          <p:cNvPr id="32" name="Table 1"/>
          <p:cNvGraphicFramePr>
            <a:graphicFrameLocks noGrp="1"/>
          </p:cNvGraphicFramePr>
          <p:nvPr>
            <p:extLst>
              <p:ext uri="{D42A27DB-BD31-4B8C-83A1-F6EECF244321}">
                <p14:modId xmlns:p14="http://schemas.microsoft.com/office/powerpoint/2010/main" val="1579011935"/>
              </p:ext>
            </p:extLst>
          </p:nvPr>
        </p:nvGraphicFramePr>
        <p:xfrm>
          <a:off x="6207760" y="4011931"/>
          <a:ext cx="5171440" cy="1198880"/>
        </p:xfrm>
        <a:graphic>
          <a:graphicData uri="http://schemas.openxmlformats.org/drawingml/2006/table">
            <a:tbl>
              <a:tblPr/>
              <a:tblGrid>
                <a:gridCol w="1723813"/>
                <a:gridCol w="1723813"/>
                <a:gridCol w="1723813"/>
              </a:tblGrid>
              <a:tr h="299720">
                <a:tc>
                  <a:txBody>
                    <a:bodyPr/>
                    <a:lstStyle/>
                    <a:p>
                      <a:pPr indent="0" marL="0">
                        <a:lnSpc>
                          <a:spcPts val="1680"/>
                        </a:lnSpc>
                        <a:buNone/>
                      </a:pPr>
                      <a:r>
                        <a:rPr lang="en-US" sz="1200" b="1" dirty="0">
                          <a:solidFill>
                            <a:srgbClr val="FAF9F5"/>
                          </a:solidFill>
                          <a:latin typeface="IBM Plex Sans" pitchFamily="34" charset="0"/>
                          <a:ea typeface="IBM Plex Sans" pitchFamily="34" charset="-122"/>
                          <a:cs typeface="IBM Plex Sans" pitchFamily="34" charset="-120"/>
                        </a:rPr>
                        <a:t>Hạng</a:t>
                      </a:r>
                      <a:endParaRPr lang="en-US" sz="1200" dirty="0">
                        <a:latin typeface="IBM Plex Sans" charset="0"/>
                        <a:ea typeface="IBM Plex Sans" charset="0"/>
                        <a:cs typeface="IBM Plex Sans" charset="0"/>
                      </a:endParaRPr>
                    </a:p>
                  </a:txBody>
                  <a:tcPr marL="76200" marR="76200" marT="38100" marB="38100" anchor="t">
                    <a:lnL w="12700" cap="flat" cmpd="sng" algn="ctr">
                      <a:solidFill>
                        <a:srgbClr val="C7C7C3"/>
                      </a:solidFill>
                      <a:prstDash val="solid"/>
                      <a:round/>
                      <a:headEnd type="none" w="med" len="med"/>
                      <a:tailEnd type="none" w="med" len="med"/>
                    </a:lnL>
                    <a:lnR w="12700" cap="flat" cmpd="sng" algn="ctr">
                      <a:solidFill>
                        <a:srgbClr val="1A232C"/>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1A232C"/>
                      </a:solidFill>
                      <a:prstDash val="solid"/>
                      <a:round/>
                      <a:headEnd type="none" w="med" len="med"/>
                      <a:tailEnd type="none" w="med" len="med"/>
                    </a:lnB>
                    <a:solidFill>
                      <a:srgbClr val="1C2733"/>
                    </a:solidFill>
                  </a:tcPr>
                </a:tc>
                <a:tc>
                  <a:txBody>
                    <a:bodyPr/>
                    <a:lstStyle/>
                    <a:p>
                      <a:pPr indent="0" marL="0">
                        <a:lnSpc>
                          <a:spcPts val="1680"/>
                        </a:lnSpc>
                        <a:buNone/>
                      </a:pPr>
                      <a:r>
                        <a:rPr lang="en-US" sz="1200" b="1" dirty="0">
                          <a:solidFill>
                            <a:srgbClr val="FAF9F5"/>
                          </a:solidFill>
                          <a:latin typeface="IBM Plex Sans" pitchFamily="34" charset="0"/>
                          <a:ea typeface="IBM Plex Sans" pitchFamily="34" charset="-122"/>
                          <a:cs typeface="IBM Plex Sans" pitchFamily="34" charset="-120"/>
                        </a:rPr>
                        <a:t>Tập mục</a:t>
                      </a:r>
                      <a:endParaRPr lang="en-US" sz="1200" dirty="0">
                        <a:latin typeface="IBM Plex Sans" charset="0"/>
                        <a:ea typeface="IBM Plex Sans" charset="0"/>
                        <a:cs typeface="IBM Plex Sans" charset="0"/>
                      </a:endParaRPr>
                    </a:p>
                  </a:txBody>
                  <a:tcPr marL="76200" marR="76200" marT="38100" marB="38100" anchor="t">
                    <a:lnL w="12700" cap="flat" cmpd="sng" algn="ctr">
                      <a:solidFill>
                        <a:srgbClr val="1A232C"/>
                      </a:solidFill>
                      <a:prstDash val="solid"/>
                      <a:round/>
                      <a:headEnd type="none" w="med" len="med"/>
                      <a:tailEnd type="none" w="med" len="med"/>
                    </a:lnL>
                    <a:lnR w="12700" cap="flat" cmpd="sng" algn="ctr">
                      <a:solidFill>
                        <a:srgbClr val="1A232C"/>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1A232C"/>
                      </a:solidFill>
                      <a:prstDash val="solid"/>
                      <a:round/>
                      <a:headEnd type="none" w="med" len="med"/>
                      <a:tailEnd type="none" w="med" len="med"/>
                    </a:lnB>
                    <a:solidFill>
                      <a:srgbClr val="1C2733"/>
                    </a:solidFill>
                  </a:tcPr>
                </a:tc>
                <a:tc>
                  <a:txBody>
                    <a:bodyPr/>
                    <a:lstStyle/>
                    <a:p>
                      <a:pPr algn="r" indent="0" marL="0">
                        <a:lnSpc>
                          <a:spcPts val="1680"/>
                        </a:lnSpc>
                        <a:buNone/>
                      </a:pPr>
                      <a:r>
                        <a:rPr lang="en-US" sz="1200" b="1" dirty="0">
                          <a:solidFill>
                            <a:srgbClr val="FAF9F5"/>
                          </a:solidFill>
                          <a:latin typeface="IBM Plex Sans" pitchFamily="34" charset="0"/>
                          <a:ea typeface="IBM Plex Sans" pitchFamily="34" charset="-122"/>
                          <a:cs typeface="IBM Plex Sans" pitchFamily="34" charset="-120"/>
                        </a:rPr>
                        <a:t>EU</a:t>
                      </a:r>
                      <a:endParaRPr lang="en-US" sz="1200" dirty="0">
                        <a:latin typeface="IBM Plex Sans" charset="0"/>
                        <a:ea typeface="IBM Plex Sans" charset="0"/>
                        <a:cs typeface="IBM Plex Sans" charset="0"/>
                      </a:endParaRPr>
                    </a:p>
                  </a:txBody>
                  <a:tcPr marL="76200" marR="76200" marT="38100" marB="38100" anchor="t">
                    <a:lnL w="12700" cap="flat" cmpd="sng" algn="ctr">
                      <a:solidFill>
                        <a:srgbClr val="1A232C"/>
                      </a:solidFill>
                      <a:prstDash val="solid"/>
                      <a:round/>
                      <a:headEnd type="none" w="med" len="med"/>
                      <a:tailEnd type="none" w="med" len="med"/>
                    </a:lnL>
                    <a:lnR w="12700" cap="flat" cmpd="sng" algn="ctr">
                      <a:solidFill>
                        <a:srgbClr val="1A232C"/>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1A232C"/>
                      </a:solidFill>
                      <a:prstDash val="solid"/>
                      <a:round/>
                      <a:headEnd type="none" w="med" len="med"/>
                      <a:tailEnd type="none" w="med" len="med"/>
                    </a:lnB>
                    <a:solidFill>
                      <a:srgbClr val="1C2733"/>
                    </a:solidFill>
                  </a:tcPr>
                </a:tc>
              </a:tr>
              <a:tr h="299720">
                <a:tc>
                  <a:txBody>
                    <a:bodyPr/>
                    <a:lstStyle/>
                    <a:p>
                      <a:pPr indent="0" marL="0">
                        <a:lnSpc>
                          <a:spcPts val="1680"/>
                        </a:lnSpc>
                        <a:buNone/>
                      </a:pPr>
                      <a:r>
                        <a:rPr lang="en-US" sz="1200" dirty="0">
                          <a:solidFill>
                            <a:srgbClr val="1C2733"/>
                          </a:solidFill>
                          <a:latin typeface="IBM Plex Sans" pitchFamily="34" charset="0"/>
                          <a:ea typeface="IBM Plex Sans" pitchFamily="34" charset="-122"/>
                          <a:cs typeface="IBM Plex Sans" pitchFamily="34" charset="-120"/>
                        </a:rPr>
                        <a:t>1</a:t>
                      </a:r>
                      <a:endParaRPr lang="en-US" sz="1200" dirty="0">
                        <a:latin typeface="IBM Plex Sans" charset="0"/>
                        <a:ea typeface="IBM Plex Sans" charset="0"/>
                        <a:cs typeface="IBM Plex Sans" charset="0"/>
                      </a:endParaRPr>
                    </a:p>
                  </a:txBody>
                  <a:tcPr marL="76200" marR="76200" marT="38100" marB="38100" anchor="t">
                    <a:lnL w="12700" cap="flat" cmpd="sng" algn="ctr">
                      <a:solidFill>
                        <a:srgbClr val="C7C7C3"/>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A232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C2733"/>
                          </a:solidFill>
                          <a:latin typeface="IBM Plex Sans" pitchFamily="34" charset="0"/>
                          <a:ea typeface="IBM Plex Sans" pitchFamily="34" charset="-122"/>
                          <a:cs typeface="IBM Plex Sans" pitchFamily="34" charset="-120"/>
                        </a:rPr>
                        <a:t>{Chạy, Rời}</a:t>
                      </a:r>
                      <a:endParaRPr lang="en-US" sz="1200" dirty="0">
                        <a:latin typeface="IBM Plex Sans" charset="0"/>
                        <a:ea typeface="IBM Plex Sans" charset="0"/>
                        <a:cs typeface="IBM Plex Sans"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A232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r" indent="0" marL="0">
                        <a:lnSpc>
                          <a:spcPts val="1680"/>
                        </a:lnSpc>
                        <a:buNone/>
                      </a:pPr>
                      <a:r>
                        <a:rPr lang="en-US" sz="1200" dirty="0">
                          <a:solidFill>
                            <a:srgbClr val="1C2733"/>
                          </a:solidFill>
                          <a:latin typeface="IBM Plex Sans" pitchFamily="34" charset="0"/>
                          <a:ea typeface="IBM Plex Sans" pitchFamily="34" charset="-122"/>
                          <a:cs typeface="IBM Plex Sans" pitchFamily="34" charset="-120"/>
                        </a:rPr>
                        <a:t>18,00</a:t>
                      </a:r>
                      <a:endParaRPr lang="en-US" sz="1200" dirty="0">
                        <a:latin typeface="IBM Plex Sans" charset="0"/>
                        <a:ea typeface="IBM Plex Sans" charset="0"/>
                        <a:cs typeface="IBM Plex Sans"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A232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299720">
                <a:tc>
                  <a:txBody>
                    <a:bodyPr/>
                    <a:lstStyle/>
                    <a:p>
                      <a:pPr indent="0" marL="0">
                        <a:lnSpc>
                          <a:spcPts val="1680"/>
                        </a:lnSpc>
                        <a:buNone/>
                      </a:pPr>
                      <a:r>
                        <a:rPr lang="en-US" sz="1200" dirty="0">
                          <a:solidFill>
                            <a:srgbClr val="1C2733"/>
                          </a:solidFill>
                          <a:latin typeface="IBM Plex Sans" pitchFamily="34" charset="0"/>
                          <a:ea typeface="IBM Plex Sans" pitchFamily="34" charset="-122"/>
                          <a:cs typeface="IBM Plex Sans" pitchFamily="34" charset="-120"/>
                        </a:rPr>
                        <a:t>2</a:t>
                      </a:r>
                      <a:endParaRPr lang="en-US" sz="1200" dirty="0">
                        <a:latin typeface="IBM Plex Sans" charset="0"/>
                        <a:ea typeface="IBM Plex Sans" charset="0"/>
                        <a:cs typeface="IBM Plex Sans" charset="0"/>
                      </a:endParaRPr>
                    </a:p>
                  </a:txBody>
                  <a:tcPr marL="76200" marR="76200" marT="38100" marB="38100" anchor="t">
                    <a:lnL w="12700" cap="flat" cmpd="sng" algn="ctr">
                      <a:solidFill>
                        <a:srgbClr val="C7C7C3"/>
                      </a:solidFill>
                      <a:prstDash val="solid"/>
                      <a:round/>
                      <a:headEnd type="none" w="med" len="med"/>
                      <a:tailEnd type="none" w="med" len="med"/>
                    </a:lnL>
                    <a:lnR w="12700" cap="flat" cmpd="sng" algn="ctr">
                      <a:solidFill>
                        <a:srgbClr val="C0BDB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c>
                  <a:txBody>
                    <a:bodyPr/>
                    <a:lstStyle/>
                    <a:p>
                      <a:pPr indent="0" marL="0">
                        <a:lnSpc>
                          <a:spcPts val="1680"/>
                        </a:lnSpc>
                        <a:buNone/>
                      </a:pPr>
                      <a:r>
                        <a:rPr lang="en-US" sz="1200" dirty="0">
                          <a:solidFill>
                            <a:srgbClr val="1C2733"/>
                          </a:solidFill>
                          <a:latin typeface="IBM Plex Sans" pitchFamily="34" charset="0"/>
                          <a:ea typeface="IBM Plex Sans" pitchFamily="34" charset="-122"/>
                          <a:cs typeface="IBM Plex Sans" pitchFamily="34" charset="-120"/>
                        </a:rPr>
                        <a:t>{running, left}</a:t>
                      </a:r>
                      <a:endParaRPr lang="en-US" sz="1200" dirty="0">
                        <a:latin typeface="IBM Plex Sans" charset="0"/>
                        <a:ea typeface="IBM Plex Sans" charset="0"/>
                        <a:cs typeface="IBM Plex Sans" charset="0"/>
                      </a:endParaRPr>
                    </a:p>
                  </a:txBody>
                  <a:tcPr marL="76200" marR="76200" marT="38100" marB="38100" anchor="t">
                    <a:lnL w="12700" cap="flat" cmpd="sng" algn="ctr">
                      <a:solidFill>
                        <a:srgbClr val="C0BDB7"/>
                      </a:solidFill>
                      <a:prstDash val="solid"/>
                      <a:round/>
                      <a:headEnd type="none" w="med" len="med"/>
                      <a:tailEnd type="none" w="med" len="med"/>
                    </a:lnL>
                    <a:lnR w="12700" cap="flat" cmpd="sng" algn="ctr">
                      <a:solidFill>
                        <a:srgbClr val="C0BDB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c>
                  <a:txBody>
                    <a:bodyPr/>
                    <a:lstStyle/>
                    <a:p>
                      <a:pPr algn="r" indent="0" marL="0">
                        <a:lnSpc>
                          <a:spcPts val="1680"/>
                        </a:lnSpc>
                        <a:buNone/>
                      </a:pPr>
                      <a:r>
                        <a:rPr lang="en-US" sz="1200" dirty="0">
                          <a:solidFill>
                            <a:srgbClr val="B8863B"/>
                          </a:solidFill>
                          <a:latin typeface="IBM Plex Sans" pitchFamily="34" charset="0"/>
                          <a:ea typeface="IBM Plex Sans" pitchFamily="34" charset="-122"/>
                          <a:cs typeface="IBM Plex Sans" pitchFamily="34" charset="-120"/>
                        </a:rPr>
                        <a:t>9,30</a:t>
                      </a:r>
                      <a:endParaRPr lang="en-US" sz="1200" dirty="0">
                        <a:latin typeface="IBM Plex Sans" charset="0"/>
                        <a:ea typeface="IBM Plex Sans" charset="0"/>
                        <a:cs typeface="IBM Plex Sans" charset="0"/>
                      </a:endParaRPr>
                    </a:p>
                  </a:txBody>
                  <a:tcPr marL="76200" marR="76200" marT="38100" marB="38100" anchor="t">
                    <a:lnL w="12700" cap="flat" cmpd="sng" algn="ctr">
                      <a:solidFill>
                        <a:srgbClr val="C0BDB7"/>
                      </a:solidFill>
                      <a:prstDash val="solid"/>
                      <a:round/>
                      <a:headEnd type="none" w="med" len="med"/>
                      <a:tailEnd type="none" w="med" len="med"/>
                    </a:lnL>
                    <a:lnR w="12700" cap="flat" cmpd="sng" algn="ctr">
                      <a:solidFill>
                        <a:srgbClr val="C0BDB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r>
              <a:tr h="299720">
                <a:tc>
                  <a:txBody>
                    <a:bodyPr/>
                    <a:lstStyle/>
                    <a:p>
                      <a:pPr indent="0" marL="0">
                        <a:lnSpc>
                          <a:spcPts val="1680"/>
                        </a:lnSpc>
                        <a:buNone/>
                      </a:pPr>
                      <a:r>
                        <a:rPr lang="en-US" sz="1200" dirty="0">
                          <a:solidFill>
                            <a:srgbClr val="1C2733"/>
                          </a:solidFill>
                          <a:latin typeface="IBM Plex Sans" pitchFamily="34" charset="0"/>
                          <a:ea typeface="IBM Plex Sans" pitchFamily="34" charset="-122"/>
                          <a:cs typeface="IBM Plex Sans" pitchFamily="34" charset="-120"/>
                        </a:rPr>
                        <a:t>3</a:t>
                      </a:r>
                      <a:endParaRPr lang="en-US" sz="1200" dirty="0">
                        <a:latin typeface="IBM Plex Sans" charset="0"/>
                        <a:ea typeface="IBM Plex Sans" charset="0"/>
                        <a:cs typeface="IBM Plex Sans" charset="0"/>
                      </a:endParaRPr>
                    </a:p>
                  </a:txBody>
                  <a:tcPr marL="76200" marR="76200" marT="38100" marB="38100" anchor="t">
                    <a:lnL w="12700" cap="flat" cmpd="sng" algn="ctr">
                      <a:solidFill>
                        <a:srgbClr val="C7C7C3"/>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BDB7"/>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C2733"/>
                          </a:solidFill>
                          <a:latin typeface="IBM Plex Sans" pitchFamily="34" charset="0"/>
                          <a:ea typeface="IBM Plex Sans" pitchFamily="34" charset="-122"/>
                          <a:cs typeface="IBM Plex Sans" pitchFamily="34" charset="-120"/>
                        </a:rPr>
                        <a:t>{ran, left}</a:t>
                      </a:r>
                      <a:endParaRPr lang="en-US" sz="1200" dirty="0">
                        <a:latin typeface="IBM Plex Sans" charset="0"/>
                        <a:ea typeface="IBM Plex Sans" charset="0"/>
                        <a:cs typeface="IBM Plex Sans"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BDB7"/>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r" indent="0" marL="0">
                        <a:lnSpc>
                          <a:spcPts val="1680"/>
                        </a:lnSpc>
                        <a:buNone/>
                      </a:pPr>
                      <a:r>
                        <a:rPr lang="en-US" sz="1200" dirty="0">
                          <a:solidFill>
                            <a:srgbClr val="B8863B"/>
                          </a:solidFill>
                          <a:latin typeface="IBM Plex Sans" pitchFamily="34" charset="0"/>
                          <a:ea typeface="IBM Plex Sans" pitchFamily="34" charset="-122"/>
                          <a:cs typeface="IBM Plex Sans" pitchFamily="34" charset="-120"/>
                        </a:rPr>
                        <a:t>9,03</a:t>
                      </a:r>
                      <a:endParaRPr lang="en-US" sz="1200" dirty="0">
                        <a:latin typeface="IBM Plex Sans" charset="0"/>
                        <a:ea typeface="IBM Plex Sans" charset="0"/>
                        <a:cs typeface="IBM Plex Sans"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BDB7"/>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33" name="Text 28"/>
          <p:cNvSpPr/>
          <p:nvPr/>
        </p:nvSpPr>
        <p:spPr>
          <a:xfrm>
            <a:off x="812800" y="6238242"/>
            <a:ext cx="54689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199"/>
                </a:solidFill>
                <a:latin typeface="IBM Plex Sans" pitchFamily="34" charset="0"/>
                <a:ea typeface="IBM Plex Sans" pitchFamily="34" charset="-122"/>
                <a:cs typeface="IBM Plex Sans" pitchFamily="34" charset="-120"/>
              </a:rPr>
              <a:t>13 / 34</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863B"/>
                </a:solidFill>
                <a:latin typeface="IBM Plex Sans" pitchFamily="34" charset="0"/>
                <a:ea typeface="IBM Plex Sans" pitchFamily="34" charset="-122"/>
                <a:cs typeface="IBM Plex Sans" pitchFamily="34" charset="-120"/>
              </a:rPr>
              <a:t>TỪ LÝ THUYẾT ĐẾN DỮ LIỆU</a:t>
            </a:r>
            <a:endParaRPr lang="en-US" sz="1200" dirty="0"/>
          </a:p>
        </p:txBody>
      </p:sp>
      <p:sp>
        <p:nvSpPr>
          <p:cNvPr id="3" name="Text 1"/>
          <p:cNvSpPr/>
          <p:nvPr/>
        </p:nvSpPr>
        <p:spPr>
          <a:xfrm>
            <a:off x="812800" y="1102364"/>
            <a:ext cx="10883392" cy="34671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C2733"/>
                </a:solidFill>
                <a:latin typeface="EB Garamond" pitchFamily="34" charset="0"/>
                <a:ea typeface="EB Garamond" pitchFamily="34" charset="-122"/>
                <a:cs typeface="EB Garamond" pitchFamily="34" charset="-120"/>
              </a:rPr>
              <a:t>Từ bài toán đến dữ liệu ngôn ngữ</a:t>
            </a:r>
            <a:endParaRPr lang="en-US" sz="2200" dirty="0"/>
          </a:p>
        </p:txBody>
      </p:sp>
      <p:sp>
        <p:nvSpPr>
          <p:cNvPr id="4" name="Shape 2"/>
          <p:cNvSpPr/>
          <p:nvPr/>
        </p:nvSpPr>
        <p:spPr>
          <a:xfrm>
            <a:off x="815975" y="1655446"/>
            <a:ext cx="5170170" cy="1247140"/>
          </a:xfrm>
          <a:prstGeom prst="roundRect">
            <a:avLst>
              <a:gd name="adj" fmla="val 7892"/>
            </a:avLst>
          </a:prstGeom>
          <a:solidFill>
            <a:srgbClr val="FFFFFF"/>
          </a:solidFill>
          <a:ln w="6350">
            <a:solidFill>
              <a:srgbClr val="E3DDD0"/>
            </a:solidFill>
            <a:prstDash val="solid"/>
          </a:ln>
        </p:spPr>
      </p:sp>
      <p:sp>
        <p:nvSpPr>
          <p:cNvPr id="5" name="Text 3"/>
          <p:cNvSpPr/>
          <p:nvPr/>
        </p:nvSpPr>
        <p:spPr>
          <a:xfrm>
            <a:off x="1046480" y="1885950"/>
            <a:ext cx="4850435" cy="229870"/>
          </a:xfrm>
          <a:prstGeom prst="rect">
            <a:avLst/>
          </a:prstGeom>
          <a:noFill/>
          <a:ln/>
        </p:spPr>
        <p:txBody>
          <a:bodyPr wrap="square" lIns="0" tIns="0" rIns="0" bIns="0" rtlCol="0" anchor="t">
            <a:normAutofit/>
          </a:bodyPr>
          <a:lstStyle/>
          <a:p>
            <a:pPr algn="l" indent="0" marL="0">
              <a:lnSpc>
                <a:spcPts val="1610"/>
              </a:lnSpc>
              <a:buNone/>
            </a:pPr>
            <a:r>
              <a:rPr lang="en-US" sz="1150" b="1" spc="50" kern="0" dirty="0">
                <a:solidFill>
                  <a:srgbClr val="8A9199"/>
                </a:solidFill>
                <a:latin typeface="IBM Plex Sans" pitchFamily="34" charset="0"/>
                <a:ea typeface="IBM Plex Sans" pitchFamily="34" charset="-122"/>
                <a:cs typeface="IBM Plex Sans" pitchFamily="34" charset="-120"/>
              </a:rPr>
              <a:t>VÌ SAO CẦN NGUỒN THẬT</a:t>
            </a:r>
            <a:endParaRPr lang="en-US" sz="1150" dirty="0"/>
          </a:p>
        </p:txBody>
      </p:sp>
      <p:sp>
        <p:nvSpPr>
          <p:cNvPr id="6" name="Text 4"/>
          <p:cNvSpPr/>
          <p:nvPr/>
        </p:nvSpPr>
        <p:spPr>
          <a:xfrm>
            <a:off x="1046480" y="2166621"/>
            <a:ext cx="4850435"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C2733"/>
                </a:solidFill>
                <a:latin typeface="IBM Plex Sans" pitchFamily="34" charset="0"/>
                <a:ea typeface="IBM Plex Sans" pitchFamily="34" charset="-122"/>
                <a:cs typeface="IBM Plex Sans" pitchFamily="34" charset="-120"/>
              </a:rPr>
              <a:t>Bài toán cần xác suất tồn tại </a:t>
            </a:r>
            <a:r>
              <a:rPr lang="en-US" sz="1300" b="1" dirty="0">
                <a:solidFill>
                  <a:srgbClr val="1C2733"/>
                </a:solidFill>
                <a:latin typeface="IBM Plex Sans" pitchFamily="34" charset="0"/>
                <a:ea typeface="IBM Plex Sans" pitchFamily="34" charset="-122"/>
                <a:cs typeface="IBM Plex Sans" pitchFamily="34" charset="-120"/>
              </a:rPr>
              <a:t>thật</a:t>
            </a:r>
            <a:r>
              <a:rPr lang="en-US" sz="1300" dirty="0">
                <a:solidFill>
                  <a:srgbClr val="1C2733"/>
                </a:solidFill>
                <a:latin typeface="IBM Plex Sans" pitchFamily="34" charset="0"/>
                <a:ea typeface="IBM Plex Sans" pitchFamily="34" charset="-122"/>
                <a:cs typeface="IBM Plex Sans" pitchFamily="34" charset="-120"/>
              </a:rPr>
              <a:t>, không gán tay ngẫu nhiên — nếu không, mọi thực nghiệm chỉ là mô phỏng.</a:t>
            </a:r>
            <a:endParaRPr lang="en-US" sz="1300" dirty="0"/>
          </a:p>
        </p:txBody>
      </p:sp>
      <p:sp>
        <p:nvSpPr>
          <p:cNvPr id="7" name="Shape 5"/>
          <p:cNvSpPr/>
          <p:nvPr/>
        </p:nvSpPr>
        <p:spPr>
          <a:xfrm>
            <a:off x="6198870" y="1658621"/>
            <a:ext cx="5173980" cy="1240790"/>
          </a:xfrm>
          <a:prstGeom prst="roundRect">
            <a:avLst>
              <a:gd name="adj" fmla="val 7677"/>
            </a:avLst>
          </a:prstGeom>
          <a:solidFill>
            <a:srgbClr val="FFFFFF"/>
          </a:solidFill>
          <a:ln w="12700">
            <a:solidFill>
              <a:srgbClr val="B8863B"/>
            </a:solidFill>
            <a:prstDash val="solid"/>
          </a:ln>
        </p:spPr>
      </p:sp>
      <p:sp>
        <p:nvSpPr>
          <p:cNvPr id="8" name="Text 6"/>
          <p:cNvSpPr/>
          <p:nvPr/>
        </p:nvSpPr>
        <p:spPr>
          <a:xfrm>
            <a:off x="6431280" y="1891029"/>
            <a:ext cx="4850435" cy="229870"/>
          </a:xfrm>
          <a:prstGeom prst="rect">
            <a:avLst/>
          </a:prstGeom>
          <a:noFill/>
          <a:ln/>
        </p:spPr>
        <p:txBody>
          <a:bodyPr wrap="square" lIns="0" tIns="0" rIns="0" bIns="0" rtlCol="0" anchor="t">
            <a:normAutofit/>
          </a:bodyPr>
          <a:lstStyle/>
          <a:p>
            <a:pPr algn="l" indent="0" marL="0">
              <a:lnSpc>
                <a:spcPts val="1610"/>
              </a:lnSpc>
              <a:buNone/>
            </a:pPr>
            <a:r>
              <a:rPr lang="en-US" sz="1150" b="1" spc="50" kern="0" dirty="0">
                <a:solidFill>
                  <a:srgbClr val="B8863B"/>
                </a:solidFill>
                <a:latin typeface="IBM Plex Sans" pitchFamily="34" charset="0"/>
                <a:ea typeface="IBM Plex Sans" pitchFamily="34" charset="-122"/>
                <a:cs typeface="IBM Plex Sans" pitchFamily="34" charset="-120"/>
              </a:rPr>
              <a:t>NGUỒN ĐƯỢC CHỌN</a:t>
            </a:r>
            <a:endParaRPr lang="en-US" sz="1150" dirty="0"/>
          </a:p>
        </p:txBody>
      </p:sp>
      <p:sp>
        <p:nvSpPr>
          <p:cNvPr id="9" name="Text 7"/>
          <p:cNvSpPr/>
          <p:nvPr/>
        </p:nvSpPr>
        <p:spPr>
          <a:xfrm>
            <a:off x="6431280" y="2171700"/>
            <a:ext cx="4850435"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C2733"/>
                </a:solidFill>
                <a:latin typeface="IBM Plex Sans" pitchFamily="34" charset="0"/>
                <a:ea typeface="IBM Plex Sans" pitchFamily="34" charset="-122"/>
                <a:cs typeface="IBM Plex Sans" pitchFamily="34" charset="-120"/>
              </a:rPr>
              <a:t>Dịch máy thống kê (fast_align) tự nhiên sinh ra đúng tín hiệu đó: </a:t>
            </a:r>
            <a:r>
              <a:rPr lang="en-US" sz="1300" b="1" dirty="0">
                <a:solidFill>
                  <a:srgbClr val="1C2733"/>
                </a:solidFill>
                <a:latin typeface="IBM Plex Sans" pitchFamily="34" charset="0"/>
                <a:ea typeface="IBM Plex Sans" pitchFamily="34" charset="-122"/>
                <a:cs typeface="IBM Plex Sans" pitchFamily="34" charset="-120"/>
              </a:rPr>
              <a:t>P(đích | nguồn)</a:t>
            </a:r>
            <a:r>
              <a:rPr lang="en-US" sz="1300" dirty="0">
                <a:solidFill>
                  <a:srgbClr val="1C2733"/>
                </a:solidFill>
                <a:latin typeface="IBM Plex Sans" pitchFamily="34" charset="0"/>
                <a:ea typeface="IBM Plex Sans" pitchFamily="34" charset="-122"/>
                <a:cs typeface="IBM Plex Sans" pitchFamily="34" charset="-120"/>
              </a:rPr>
              <a:t> — mức tin cậy của một bản dịch.</a:t>
            </a:r>
            <a:endParaRPr lang="en-US" sz="1300" dirty="0"/>
          </a:p>
        </p:txBody>
      </p:sp>
      <p:sp>
        <p:nvSpPr>
          <p:cNvPr id="10" name="Shape 8"/>
          <p:cNvSpPr/>
          <p:nvPr/>
        </p:nvSpPr>
        <p:spPr>
          <a:xfrm>
            <a:off x="812800" y="3134364"/>
            <a:ext cx="10566400" cy="2707640"/>
          </a:xfrm>
          <a:prstGeom prst="roundRect">
            <a:avLst>
              <a:gd name="adj" fmla="val 3752"/>
            </a:avLst>
          </a:prstGeom>
          <a:solidFill>
            <a:srgbClr val="1C2733"/>
          </a:solidFill>
          <a:ln/>
        </p:spPr>
      </p:sp>
      <p:sp>
        <p:nvSpPr>
          <p:cNvPr id="11" name="Text 9"/>
          <p:cNvSpPr/>
          <p:nvPr/>
        </p:nvSpPr>
        <p:spPr>
          <a:xfrm>
            <a:off x="1117600" y="4025900"/>
            <a:ext cx="10255504"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B8863B"/>
                </a:solidFill>
                <a:latin typeface="IBM Plex Sans" pitchFamily="34" charset="0"/>
                <a:ea typeface="IBM Plex Sans" pitchFamily="34" charset="-122"/>
                <a:cs typeface="IBM Plex Sans" pitchFamily="34" charset="-120"/>
              </a:rPr>
              <a:t>CÂU HỎI DỮ LIỆU TRẢ LỜI</a:t>
            </a:r>
            <a:endParaRPr lang="en-US" sz="1200" dirty="0"/>
          </a:p>
        </p:txBody>
      </p:sp>
      <p:sp>
        <p:nvSpPr>
          <p:cNvPr id="12" name="Text 10"/>
          <p:cNvSpPr/>
          <p:nvPr/>
        </p:nvSpPr>
        <p:spPr>
          <a:xfrm>
            <a:off x="1117600" y="4340864"/>
            <a:ext cx="10255504" cy="635000"/>
          </a:xfrm>
          <a:prstGeom prst="rect">
            <a:avLst/>
          </a:prstGeom>
          <a:noFill/>
          <a:ln/>
        </p:spPr>
        <p:txBody>
          <a:bodyPr wrap="square" lIns="0" tIns="0" rIns="0" bIns="0" rtlCol="0" anchor="t">
            <a:normAutofit/>
          </a:bodyPr>
          <a:lstStyle/>
          <a:p>
            <a:pPr algn="l" indent="0" marL="0">
              <a:lnSpc>
                <a:spcPts val="2400"/>
              </a:lnSpc>
              <a:buNone/>
            </a:pPr>
            <a:r>
              <a:rPr lang="en-US" sz="1500" dirty="0">
                <a:solidFill>
                  <a:srgbClr val="FAF9F5"/>
                </a:solidFill>
                <a:latin typeface="IBM Plex Sans" pitchFamily="34" charset="0"/>
                <a:ea typeface="IBM Plex Sans" pitchFamily="34" charset="-122"/>
                <a:cs typeface="IBM Plex Sans" pitchFamily="34" charset="-120"/>
              </a:rPr>
              <a:t>"Trong kho ngữ liệu song ngữ Anh–Việt, </a:t>
            </a:r>
            <a:r>
              <a:rPr lang="en-US" sz="1500" b="1" dirty="0">
                <a:solidFill>
                  <a:srgbClr val="FAF9F5"/>
                </a:solidFill>
                <a:latin typeface="IBM Plex Sans" pitchFamily="34" charset="0"/>
                <a:ea typeface="IBM Plex Sans" pitchFamily="34" charset="-122"/>
                <a:cs typeface="IBM Plex Sans" pitchFamily="34" charset="-120"/>
              </a:rPr>
              <a:t>khái niệm nào có Expected Utility cao nhất</a:t>
            </a:r>
            <a:r>
              <a:rPr lang="en-US" sz="1500" dirty="0">
                <a:solidFill>
                  <a:srgbClr val="FAF9F5"/>
                </a:solidFill>
                <a:latin typeface="IBM Plex Sans" pitchFamily="34" charset="0"/>
                <a:ea typeface="IBM Plex Sans" pitchFamily="34" charset="-122"/>
                <a:cs typeface="IBM Plex Sans" pitchFamily="34" charset="-120"/>
              </a:rPr>
              <a:t> — xét đa tầng — khi một từ có thể mang nhiều nghĩa, nhiều bản dịch với các mức tin cậy khác nhau?"</a:t>
            </a:r>
            <a:endParaRPr lang="en-US" sz="1500" dirty="0"/>
          </a:p>
        </p:txBody>
      </p:sp>
      <p:sp>
        <p:nvSpPr>
          <p:cNvPr id="13" name="Text 11"/>
          <p:cNvSpPr/>
          <p:nvPr/>
        </p:nvSpPr>
        <p:spPr>
          <a:xfrm>
            <a:off x="812800" y="6238242"/>
            <a:ext cx="54689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199"/>
                </a:solidFill>
                <a:latin typeface="IBM Plex Sans" pitchFamily="34" charset="0"/>
                <a:ea typeface="IBM Plex Sans" pitchFamily="34" charset="-122"/>
                <a:cs typeface="IBM Plex Sans" pitchFamily="34" charset="-120"/>
              </a:rPr>
              <a:t>14 / 34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863B"/>
                </a:solidFill>
                <a:latin typeface="IBM Plex Sans" pitchFamily="34" charset="0"/>
                <a:ea typeface="IBM Plex Sans" pitchFamily="34" charset="-122"/>
                <a:cs typeface="IBM Plex Sans" pitchFamily="34" charset="-120"/>
              </a:rPr>
              <a:t>VÍ DỤ MINH HỌA</a:t>
            </a:r>
            <a:endParaRPr lang="en-US" sz="1200" dirty="0"/>
          </a:p>
        </p:txBody>
      </p:sp>
      <p:sp>
        <p:nvSpPr>
          <p:cNvPr id="3" name="Text 1"/>
          <p:cNvSpPr/>
          <p:nvPr/>
        </p:nvSpPr>
        <p:spPr>
          <a:xfrm>
            <a:off x="812800" y="1102364"/>
            <a:ext cx="10883392" cy="34671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C2733"/>
                </a:solidFill>
                <a:latin typeface="EB Garamond" pitchFamily="34" charset="0"/>
                <a:ea typeface="EB Garamond" pitchFamily="34" charset="-122"/>
                <a:cs typeface="EB Garamond" pitchFamily="34" charset="-120"/>
              </a:rPr>
              <a:t>Dữ liệu không chắc chắn là gì?</a:t>
            </a:r>
            <a:endParaRPr lang="en-US" sz="2200" dirty="0"/>
          </a:p>
        </p:txBody>
      </p:sp>
      <p:sp>
        <p:nvSpPr>
          <p:cNvPr id="4" name="Text 2"/>
          <p:cNvSpPr/>
          <p:nvPr/>
        </p:nvSpPr>
        <p:spPr>
          <a:xfrm>
            <a:off x="812800" y="1677671"/>
            <a:ext cx="9156700"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A5568"/>
                </a:solidFill>
                <a:latin typeface="IBM Plex Sans" pitchFamily="34" charset="0"/>
                <a:ea typeface="IBM Plex Sans" pitchFamily="34" charset="-122"/>
                <a:cs typeface="IBM Plex Sans" pitchFamily="34" charset="-120"/>
              </a:rPr>
              <a:t>Từ tiếng Anh </a:t>
            </a:r>
            <a:r>
              <a:rPr lang="en-US" sz="1400" b="1" dirty="0">
                <a:solidFill>
                  <a:srgbClr val="4A5568"/>
                </a:solidFill>
                <a:latin typeface="IBM Plex Sans" pitchFamily="34" charset="0"/>
                <a:ea typeface="IBM Plex Sans" pitchFamily="34" charset="-122"/>
                <a:cs typeface="IBM Plex Sans" pitchFamily="34" charset="-120"/>
              </a:rPr>
              <a:t>"used"</a:t>
            </a:r>
            <a:r>
              <a:rPr lang="en-US" sz="1400" dirty="0">
                <a:solidFill>
                  <a:srgbClr val="4A5568"/>
                </a:solidFill>
                <a:latin typeface="IBM Plex Sans" pitchFamily="34" charset="0"/>
                <a:ea typeface="IBM Plex Sans" pitchFamily="34" charset="-122"/>
                <a:cs typeface="IBM Plex Sans" pitchFamily="34" charset="-120"/>
              </a:rPr>
              <a:t> trong một câu — là động từ hay tính từ còn tùy ngữ cảnh. Thay vì ép chọn một nghĩa, mô hình giữ </a:t>
            </a:r>
            <a:r>
              <a:rPr lang="en-US" sz="1400" b="1" dirty="0">
                <a:solidFill>
                  <a:srgbClr val="4A5568"/>
                </a:solidFill>
                <a:latin typeface="IBM Plex Sans" pitchFamily="34" charset="0"/>
                <a:ea typeface="IBM Plex Sans" pitchFamily="34" charset="-122"/>
                <a:cs typeface="IBM Plex Sans" pitchFamily="34" charset="-120"/>
              </a:rPr>
              <a:t>cả hai</a:t>
            </a:r>
            <a:r>
              <a:rPr lang="en-US" sz="1400" dirty="0">
                <a:solidFill>
                  <a:srgbClr val="4A5568"/>
                </a:solidFill>
                <a:latin typeface="IBM Plex Sans" pitchFamily="34" charset="0"/>
                <a:ea typeface="IBM Plex Sans" pitchFamily="34" charset="-122"/>
                <a:cs typeface="IBM Plex Sans" pitchFamily="34" charset="-120"/>
              </a:rPr>
              <a:t>, mỗi nghĩa mang một xác suất tồn tại riêng suy từ tần suất thật trong corpus.</a:t>
            </a:r>
            <a:endParaRPr lang="en-US" sz="1400" dirty="0"/>
          </a:p>
        </p:txBody>
      </p:sp>
      <p:pic>
        <p:nvPicPr>
          <p:cNvPr id="5" name="Image 0" descr="preencoded.png">    </p:cNvPr>
          <p:cNvPicPr>
            <a:picLocks noChangeAspect="1"/>
          </p:cNvPicPr>
          <p:nvPr/>
        </p:nvPicPr>
        <p:blipFill>
          <a:blip r:embed="rId1"/>
          <a:srcRect l="0" r="0" t="0" b="0"/>
          <a:stretch/>
        </p:blipFill>
        <p:spPr>
          <a:xfrm>
            <a:off x="3238500" y="2465071"/>
            <a:ext cx="5715000" cy="2159000"/>
          </a:xfrm>
          <a:prstGeom prst="rect">
            <a:avLst/>
          </a:prstGeom>
        </p:spPr>
      </p:pic>
      <p:sp>
        <p:nvSpPr>
          <p:cNvPr id="6" name="Shape 3"/>
          <p:cNvSpPr/>
          <p:nvPr/>
        </p:nvSpPr>
        <p:spPr>
          <a:xfrm>
            <a:off x="3365500" y="3290571"/>
            <a:ext cx="1397000" cy="635000"/>
          </a:xfrm>
          <a:prstGeom prst="roundRect">
            <a:avLst>
              <a:gd name="adj" fmla="val 12000"/>
            </a:avLst>
          </a:prstGeom>
          <a:solidFill>
            <a:srgbClr val="1C2733"/>
          </a:solidFill>
          <a:ln/>
        </p:spPr>
      </p:sp>
      <p:sp>
        <p:nvSpPr>
          <p:cNvPr id="7" name="Text 4"/>
          <p:cNvSpPr/>
          <p:nvPr/>
        </p:nvSpPr>
        <p:spPr>
          <a:xfrm>
            <a:off x="3755231" y="3483614"/>
            <a:ext cx="617458" cy="27432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FAF9F5"/>
                </a:solidFill>
                <a:latin typeface="IBM Plex Sans" pitchFamily="34" charset="0"/>
                <a:ea typeface="IBM Plex Sans" pitchFamily="34" charset="-122"/>
                <a:cs typeface="IBM Plex Sans" pitchFamily="34" charset="-120"/>
              </a:rPr>
              <a:t>"used"</a:t>
            </a:r>
            <a:endParaRPr lang="en-US" sz="1400" dirty="0"/>
          </a:p>
        </p:txBody>
      </p:sp>
      <p:sp>
        <p:nvSpPr>
          <p:cNvPr id="8" name="Shape 5"/>
          <p:cNvSpPr/>
          <p:nvPr/>
        </p:nvSpPr>
        <p:spPr>
          <a:xfrm>
            <a:off x="7051675" y="2595246"/>
            <a:ext cx="1771650" cy="628650"/>
          </a:xfrm>
          <a:prstGeom prst="roundRect">
            <a:avLst>
              <a:gd name="adj" fmla="val 11616"/>
            </a:avLst>
          </a:prstGeom>
          <a:solidFill>
            <a:srgbClr val="FFFFFF"/>
          </a:solidFill>
          <a:ln w="6350">
            <a:solidFill>
              <a:srgbClr val="E3DDD0"/>
            </a:solidFill>
            <a:prstDash val="solid"/>
          </a:ln>
        </p:spPr>
      </p:sp>
      <p:sp>
        <p:nvSpPr>
          <p:cNvPr id="9" name="Text 6"/>
          <p:cNvSpPr/>
          <p:nvPr/>
        </p:nvSpPr>
        <p:spPr>
          <a:xfrm>
            <a:off x="7361793" y="2668271"/>
            <a:ext cx="1202214"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C2733"/>
                </a:solidFill>
                <a:latin typeface="IBM Plex Sans" pitchFamily="34" charset="0"/>
                <a:ea typeface="IBM Plex Sans" pitchFamily="34" charset="-122"/>
                <a:cs typeface="IBM Plex Sans" pitchFamily="34" charset="-120"/>
              </a:rPr>
              <a:t>"use" (động từ)</a:t>
            </a:r>
            <a:endParaRPr lang="en-US" sz="1300" dirty="0"/>
          </a:p>
        </p:txBody>
      </p:sp>
      <p:sp>
        <p:nvSpPr>
          <p:cNvPr id="10" name="Text 7"/>
          <p:cNvSpPr/>
          <p:nvPr/>
        </p:nvSpPr>
        <p:spPr>
          <a:xfrm>
            <a:off x="7604363" y="2937514"/>
            <a:ext cx="71699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863B"/>
                </a:solidFill>
                <a:latin typeface="IBM Plex Sans" pitchFamily="34" charset="0"/>
                <a:ea typeface="IBM Plex Sans" pitchFamily="34" charset="-122"/>
                <a:cs typeface="IBM Plex Sans" pitchFamily="34" charset="-120"/>
              </a:rPr>
              <a:t>p = 0.985</a:t>
            </a:r>
            <a:endParaRPr lang="en-US" sz="1200" dirty="0"/>
          </a:p>
        </p:txBody>
      </p:sp>
      <p:sp>
        <p:nvSpPr>
          <p:cNvPr id="11" name="Shape 8"/>
          <p:cNvSpPr/>
          <p:nvPr/>
        </p:nvSpPr>
        <p:spPr>
          <a:xfrm>
            <a:off x="7051675" y="3928746"/>
            <a:ext cx="1771650" cy="628650"/>
          </a:xfrm>
          <a:prstGeom prst="roundRect">
            <a:avLst>
              <a:gd name="adj" fmla="val 11616"/>
            </a:avLst>
          </a:prstGeom>
          <a:solidFill>
            <a:srgbClr val="FFFFFF"/>
          </a:solidFill>
          <a:ln w="6350">
            <a:solidFill>
              <a:srgbClr val="E3DDD0"/>
            </a:solidFill>
            <a:prstDash val="solid"/>
          </a:ln>
        </p:spPr>
      </p:sp>
      <p:sp>
        <p:nvSpPr>
          <p:cNvPr id="12" name="Text 9"/>
          <p:cNvSpPr/>
          <p:nvPr/>
        </p:nvSpPr>
        <p:spPr>
          <a:xfrm>
            <a:off x="7349728" y="4001771"/>
            <a:ext cx="1226344"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C2733"/>
                </a:solidFill>
                <a:latin typeface="IBM Plex Sans" pitchFamily="34" charset="0"/>
                <a:ea typeface="IBM Plex Sans" pitchFamily="34" charset="-122"/>
                <a:cs typeface="IBM Plex Sans" pitchFamily="34" charset="-120"/>
              </a:rPr>
              <a:t>"used" (tính từ)</a:t>
            </a:r>
            <a:endParaRPr lang="en-US" sz="1300" dirty="0"/>
          </a:p>
        </p:txBody>
      </p:sp>
      <p:sp>
        <p:nvSpPr>
          <p:cNvPr id="13" name="Text 10"/>
          <p:cNvSpPr/>
          <p:nvPr/>
        </p:nvSpPr>
        <p:spPr>
          <a:xfrm>
            <a:off x="7604363" y="4271014"/>
            <a:ext cx="71699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863B"/>
                </a:solidFill>
                <a:latin typeface="IBM Plex Sans" pitchFamily="34" charset="0"/>
                <a:ea typeface="IBM Plex Sans" pitchFamily="34" charset="-122"/>
                <a:cs typeface="IBM Plex Sans" pitchFamily="34" charset="-120"/>
              </a:rPr>
              <a:t>p = 0.015</a:t>
            </a:r>
            <a:endParaRPr lang="en-US" sz="1200" dirty="0"/>
          </a:p>
        </p:txBody>
      </p:sp>
      <p:sp>
        <p:nvSpPr>
          <p:cNvPr id="14" name="Text 11"/>
          <p:cNvSpPr/>
          <p:nvPr/>
        </p:nvSpPr>
        <p:spPr>
          <a:xfrm>
            <a:off x="812800" y="6238242"/>
            <a:ext cx="54689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199"/>
                </a:solidFill>
                <a:latin typeface="IBM Plex Sans" pitchFamily="34" charset="0"/>
                <a:ea typeface="IBM Plex Sans" pitchFamily="34" charset="-122"/>
                <a:cs typeface="IBM Plex Sans" pitchFamily="34" charset="-120"/>
              </a:rPr>
              <a:t>15 / 34</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863B"/>
                </a:solidFill>
                <a:latin typeface="IBM Plex Sans" pitchFamily="34" charset="0"/>
                <a:ea typeface="IBM Plex Sans" pitchFamily="34" charset="-122"/>
                <a:cs typeface="IBM Plex Sans" pitchFamily="34" charset="-120"/>
              </a:rPr>
              <a:t>ĐÓNG GÓP DỮ LIỆU</a:t>
            </a:r>
            <a:endParaRPr lang="en-US" sz="1200" dirty="0"/>
          </a:p>
        </p:txBody>
      </p:sp>
      <p:sp>
        <p:nvSpPr>
          <p:cNvPr id="3" name="Text 1"/>
          <p:cNvSpPr/>
          <p:nvPr/>
        </p:nvSpPr>
        <p:spPr>
          <a:xfrm>
            <a:off x="812800" y="1102364"/>
            <a:ext cx="10883392" cy="34671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C2733"/>
                </a:solidFill>
                <a:latin typeface="EB Garamond" pitchFamily="34" charset="0"/>
                <a:ea typeface="EB Garamond" pitchFamily="34" charset="-122"/>
                <a:cs typeface="EB Garamond" pitchFamily="34" charset="-120"/>
              </a:rPr>
              <a:t>Pipeline xây dựng dữ liệu</a:t>
            </a:r>
            <a:endParaRPr lang="en-US" sz="2200" dirty="0"/>
          </a:p>
        </p:txBody>
      </p:sp>
      <p:sp>
        <p:nvSpPr>
          <p:cNvPr id="4" name="Shape 2"/>
          <p:cNvSpPr/>
          <p:nvPr/>
        </p:nvSpPr>
        <p:spPr>
          <a:xfrm>
            <a:off x="815975" y="1630052"/>
            <a:ext cx="10560050" cy="412750"/>
          </a:xfrm>
          <a:prstGeom prst="roundRect">
            <a:avLst>
              <a:gd name="adj" fmla="val 17692"/>
            </a:avLst>
          </a:prstGeom>
          <a:solidFill>
            <a:srgbClr val="FFFFFF"/>
          </a:solidFill>
          <a:ln w="6350">
            <a:solidFill>
              <a:srgbClr val="E3DDD0"/>
            </a:solidFill>
            <a:prstDash val="solid"/>
          </a:ln>
        </p:spPr>
      </p:sp>
      <p:sp>
        <p:nvSpPr>
          <p:cNvPr id="5" name="Shape 3"/>
          <p:cNvSpPr/>
          <p:nvPr/>
        </p:nvSpPr>
        <p:spPr>
          <a:xfrm>
            <a:off x="995680" y="1722127"/>
            <a:ext cx="228600" cy="228600"/>
          </a:xfrm>
          <a:prstGeom prst="roundRect">
            <a:avLst>
              <a:gd name="adj" fmla="val 50000"/>
            </a:avLst>
          </a:prstGeom>
          <a:solidFill>
            <a:srgbClr val="B8863B"/>
          </a:solidFill>
          <a:ln/>
        </p:spPr>
      </p:sp>
      <p:sp>
        <p:nvSpPr>
          <p:cNvPr id="6" name="Text 4"/>
          <p:cNvSpPr/>
          <p:nvPr/>
        </p:nvSpPr>
        <p:spPr>
          <a:xfrm>
            <a:off x="1068070" y="1738635"/>
            <a:ext cx="134620" cy="220980"/>
          </a:xfrm>
          <a:prstGeom prst="rect">
            <a:avLst/>
          </a:prstGeom>
          <a:noFill/>
          <a:ln/>
        </p:spPr>
        <p:txBody>
          <a:bodyPr wrap="square" lIns="0" tIns="0" rIns="0" bIns="0" rtlCol="0" anchor="t">
            <a:normAutofit/>
          </a:bodyPr>
          <a:lstStyle/>
          <a:p>
            <a:pPr algn="l" indent="0" marL="0">
              <a:lnSpc>
                <a:spcPts val="1540"/>
              </a:lnSpc>
              <a:buNone/>
            </a:pPr>
            <a:r>
              <a:rPr lang="en-US" sz="1100" b="1" dirty="0">
                <a:solidFill>
                  <a:srgbClr val="FFFFFF"/>
                </a:solidFill>
                <a:latin typeface="IBM Plex Sans" pitchFamily="34" charset="0"/>
                <a:ea typeface="IBM Plex Sans" pitchFamily="34" charset="-122"/>
                <a:cs typeface="IBM Plex Sans" pitchFamily="34" charset="-120"/>
              </a:rPr>
              <a:t>1</a:t>
            </a:r>
            <a:endParaRPr lang="en-US" sz="1100" dirty="0"/>
          </a:p>
        </p:txBody>
      </p:sp>
      <p:sp>
        <p:nvSpPr>
          <p:cNvPr id="7" name="Text 5"/>
          <p:cNvSpPr/>
          <p:nvPr/>
        </p:nvSpPr>
        <p:spPr>
          <a:xfrm>
            <a:off x="1351280" y="1720850"/>
            <a:ext cx="4180279"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C2733"/>
                </a:solidFill>
                <a:latin typeface="IBM Plex Sans" pitchFamily="34" charset="0"/>
                <a:ea typeface="IBM Plex Sans" pitchFamily="34" charset="-122"/>
                <a:cs typeface="IBM Plex Sans" pitchFamily="34" charset="-120"/>
              </a:rPr>
              <a:t>Chọn &amp; tải corpus song ngữ Anh–Việt (IWSLT15 / MTet)</a:t>
            </a:r>
            <a:endParaRPr lang="en-US" sz="1300" dirty="0"/>
          </a:p>
        </p:txBody>
      </p:sp>
      <p:sp>
        <p:nvSpPr>
          <p:cNvPr id="8" name="Shape 6"/>
          <p:cNvSpPr/>
          <p:nvPr/>
        </p:nvSpPr>
        <p:spPr>
          <a:xfrm>
            <a:off x="815975" y="2138052"/>
            <a:ext cx="10560050" cy="412750"/>
          </a:xfrm>
          <a:prstGeom prst="roundRect">
            <a:avLst>
              <a:gd name="adj" fmla="val 17692"/>
            </a:avLst>
          </a:prstGeom>
          <a:solidFill>
            <a:srgbClr val="FFFFFF"/>
          </a:solidFill>
          <a:ln w="6350">
            <a:solidFill>
              <a:srgbClr val="E3DDD0"/>
            </a:solidFill>
            <a:prstDash val="solid"/>
          </a:ln>
        </p:spPr>
      </p:sp>
      <p:sp>
        <p:nvSpPr>
          <p:cNvPr id="9" name="Shape 7"/>
          <p:cNvSpPr/>
          <p:nvPr/>
        </p:nvSpPr>
        <p:spPr>
          <a:xfrm>
            <a:off x="995680" y="2230127"/>
            <a:ext cx="228600" cy="228600"/>
          </a:xfrm>
          <a:prstGeom prst="roundRect">
            <a:avLst>
              <a:gd name="adj" fmla="val 50000"/>
            </a:avLst>
          </a:prstGeom>
          <a:solidFill>
            <a:srgbClr val="B8863B"/>
          </a:solidFill>
          <a:ln/>
        </p:spPr>
      </p:sp>
      <p:sp>
        <p:nvSpPr>
          <p:cNvPr id="10" name="Text 8"/>
          <p:cNvSpPr/>
          <p:nvPr/>
        </p:nvSpPr>
        <p:spPr>
          <a:xfrm>
            <a:off x="1068070" y="2246635"/>
            <a:ext cx="134620" cy="220980"/>
          </a:xfrm>
          <a:prstGeom prst="rect">
            <a:avLst/>
          </a:prstGeom>
          <a:noFill/>
          <a:ln/>
        </p:spPr>
        <p:txBody>
          <a:bodyPr wrap="square" lIns="0" tIns="0" rIns="0" bIns="0" rtlCol="0" anchor="t">
            <a:normAutofit/>
          </a:bodyPr>
          <a:lstStyle/>
          <a:p>
            <a:pPr algn="l" indent="0" marL="0">
              <a:lnSpc>
                <a:spcPts val="1540"/>
              </a:lnSpc>
              <a:buNone/>
            </a:pPr>
            <a:r>
              <a:rPr lang="en-US" sz="1100" b="1" dirty="0">
                <a:solidFill>
                  <a:srgbClr val="FFFFFF"/>
                </a:solidFill>
                <a:latin typeface="IBM Plex Sans" pitchFamily="34" charset="0"/>
                <a:ea typeface="IBM Plex Sans" pitchFamily="34" charset="-122"/>
                <a:cs typeface="IBM Plex Sans" pitchFamily="34" charset="-120"/>
              </a:rPr>
              <a:t>2</a:t>
            </a:r>
            <a:endParaRPr lang="en-US" sz="1100" dirty="0"/>
          </a:p>
        </p:txBody>
      </p:sp>
      <p:sp>
        <p:nvSpPr>
          <p:cNvPr id="11" name="Text 9"/>
          <p:cNvSpPr/>
          <p:nvPr/>
        </p:nvSpPr>
        <p:spPr>
          <a:xfrm>
            <a:off x="1351280" y="2228850"/>
            <a:ext cx="5054171"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C2733"/>
                </a:solidFill>
                <a:latin typeface="IBM Plex Sans" pitchFamily="34" charset="0"/>
                <a:ea typeface="IBM Plex Sans" pitchFamily="34" charset="-122"/>
                <a:cs typeface="IBM Plex Sans" pitchFamily="34" charset="-120"/>
              </a:rPr>
              <a:t>NER (spaCy) theo lô — đánh dấu thực thể PERSON để loại tên riêng</a:t>
            </a:r>
            <a:endParaRPr lang="en-US" sz="1300" dirty="0"/>
          </a:p>
        </p:txBody>
      </p:sp>
      <p:sp>
        <p:nvSpPr>
          <p:cNvPr id="12" name="Shape 10"/>
          <p:cNvSpPr/>
          <p:nvPr/>
        </p:nvSpPr>
        <p:spPr>
          <a:xfrm>
            <a:off x="815975" y="2646052"/>
            <a:ext cx="10560050" cy="412750"/>
          </a:xfrm>
          <a:prstGeom prst="roundRect">
            <a:avLst>
              <a:gd name="adj" fmla="val 17692"/>
            </a:avLst>
          </a:prstGeom>
          <a:solidFill>
            <a:srgbClr val="FFFFFF"/>
          </a:solidFill>
          <a:ln w="6350">
            <a:solidFill>
              <a:srgbClr val="E3DDD0"/>
            </a:solidFill>
            <a:prstDash val="solid"/>
          </a:ln>
        </p:spPr>
      </p:sp>
      <p:sp>
        <p:nvSpPr>
          <p:cNvPr id="13" name="Shape 11"/>
          <p:cNvSpPr/>
          <p:nvPr/>
        </p:nvSpPr>
        <p:spPr>
          <a:xfrm>
            <a:off x="995680" y="2738127"/>
            <a:ext cx="228600" cy="228600"/>
          </a:xfrm>
          <a:prstGeom prst="roundRect">
            <a:avLst>
              <a:gd name="adj" fmla="val 50000"/>
            </a:avLst>
          </a:prstGeom>
          <a:solidFill>
            <a:srgbClr val="B8863B"/>
          </a:solidFill>
          <a:ln/>
        </p:spPr>
      </p:sp>
      <p:sp>
        <p:nvSpPr>
          <p:cNvPr id="14" name="Text 12"/>
          <p:cNvSpPr/>
          <p:nvPr/>
        </p:nvSpPr>
        <p:spPr>
          <a:xfrm>
            <a:off x="1068070" y="2754635"/>
            <a:ext cx="134620" cy="220980"/>
          </a:xfrm>
          <a:prstGeom prst="rect">
            <a:avLst/>
          </a:prstGeom>
          <a:noFill/>
          <a:ln/>
        </p:spPr>
        <p:txBody>
          <a:bodyPr wrap="square" lIns="0" tIns="0" rIns="0" bIns="0" rtlCol="0" anchor="t">
            <a:normAutofit/>
          </a:bodyPr>
          <a:lstStyle/>
          <a:p>
            <a:pPr algn="l" indent="0" marL="0">
              <a:lnSpc>
                <a:spcPts val="1540"/>
              </a:lnSpc>
              <a:buNone/>
            </a:pPr>
            <a:r>
              <a:rPr lang="en-US" sz="1100" b="1" dirty="0">
                <a:solidFill>
                  <a:srgbClr val="FFFFFF"/>
                </a:solidFill>
                <a:latin typeface="IBM Plex Sans" pitchFamily="34" charset="0"/>
                <a:ea typeface="IBM Plex Sans" pitchFamily="34" charset="-122"/>
                <a:cs typeface="IBM Plex Sans" pitchFamily="34" charset="-120"/>
              </a:rPr>
              <a:t>3</a:t>
            </a:r>
            <a:endParaRPr lang="en-US" sz="1100" dirty="0"/>
          </a:p>
        </p:txBody>
      </p:sp>
      <p:sp>
        <p:nvSpPr>
          <p:cNvPr id="15" name="Text 13"/>
          <p:cNvSpPr/>
          <p:nvPr/>
        </p:nvSpPr>
        <p:spPr>
          <a:xfrm>
            <a:off x="1351280" y="2736850"/>
            <a:ext cx="420186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C2733"/>
                </a:solidFill>
                <a:latin typeface="IBM Plex Sans" pitchFamily="34" charset="0"/>
                <a:ea typeface="IBM Plex Sans" pitchFamily="34" charset="-122"/>
                <a:cs typeface="IBM Plex Sans" pitchFamily="34" charset="-120"/>
              </a:rPr>
              <a:t>Tokenize tiếng Anh + lọc stopword, tên riêng, mảnh vụn</a:t>
            </a:r>
            <a:endParaRPr lang="en-US" sz="1300" dirty="0"/>
          </a:p>
        </p:txBody>
      </p:sp>
      <p:sp>
        <p:nvSpPr>
          <p:cNvPr id="16" name="Shape 14"/>
          <p:cNvSpPr/>
          <p:nvPr/>
        </p:nvSpPr>
        <p:spPr>
          <a:xfrm>
            <a:off x="815975" y="3154052"/>
            <a:ext cx="10560050" cy="412750"/>
          </a:xfrm>
          <a:prstGeom prst="roundRect">
            <a:avLst>
              <a:gd name="adj" fmla="val 17692"/>
            </a:avLst>
          </a:prstGeom>
          <a:solidFill>
            <a:srgbClr val="FFFFFF"/>
          </a:solidFill>
          <a:ln w="6350">
            <a:solidFill>
              <a:srgbClr val="E3DDD0"/>
            </a:solidFill>
            <a:prstDash val="solid"/>
          </a:ln>
        </p:spPr>
      </p:sp>
      <p:sp>
        <p:nvSpPr>
          <p:cNvPr id="17" name="Shape 15"/>
          <p:cNvSpPr/>
          <p:nvPr/>
        </p:nvSpPr>
        <p:spPr>
          <a:xfrm>
            <a:off x="995680" y="3246127"/>
            <a:ext cx="228600" cy="228600"/>
          </a:xfrm>
          <a:prstGeom prst="roundRect">
            <a:avLst>
              <a:gd name="adj" fmla="val 50000"/>
            </a:avLst>
          </a:prstGeom>
          <a:solidFill>
            <a:srgbClr val="B8863B"/>
          </a:solidFill>
          <a:ln/>
        </p:spPr>
      </p:sp>
      <p:sp>
        <p:nvSpPr>
          <p:cNvPr id="18" name="Text 16"/>
          <p:cNvSpPr/>
          <p:nvPr/>
        </p:nvSpPr>
        <p:spPr>
          <a:xfrm>
            <a:off x="1068070" y="3262635"/>
            <a:ext cx="134620" cy="220980"/>
          </a:xfrm>
          <a:prstGeom prst="rect">
            <a:avLst/>
          </a:prstGeom>
          <a:noFill/>
          <a:ln/>
        </p:spPr>
        <p:txBody>
          <a:bodyPr wrap="square" lIns="0" tIns="0" rIns="0" bIns="0" rtlCol="0" anchor="t">
            <a:normAutofit/>
          </a:bodyPr>
          <a:lstStyle/>
          <a:p>
            <a:pPr algn="l" indent="0" marL="0">
              <a:lnSpc>
                <a:spcPts val="1540"/>
              </a:lnSpc>
              <a:buNone/>
            </a:pPr>
            <a:r>
              <a:rPr lang="en-US" sz="1100" b="1" dirty="0">
                <a:solidFill>
                  <a:srgbClr val="FFFFFF"/>
                </a:solidFill>
                <a:latin typeface="IBM Plex Sans" pitchFamily="34" charset="0"/>
                <a:ea typeface="IBM Plex Sans" pitchFamily="34" charset="-122"/>
                <a:cs typeface="IBM Plex Sans" pitchFamily="34" charset="-120"/>
              </a:rPr>
              <a:t>4</a:t>
            </a:r>
            <a:endParaRPr lang="en-US" sz="1100" dirty="0"/>
          </a:p>
        </p:txBody>
      </p:sp>
      <p:sp>
        <p:nvSpPr>
          <p:cNvPr id="19" name="Text 17"/>
          <p:cNvSpPr/>
          <p:nvPr/>
        </p:nvSpPr>
        <p:spPr>
          <a:xfrm>
            <a:off x="1351280" y="3244850"/>
            <a:ext cx="3984064"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C2733"/>
                </a:solidFill>
                <a:latin typeface="IBM Plex Sans" pitchFamily="34" charset="0"/>
                <a:ea typeface="IBM Plex Sans" pitchFamily="34" charset="-122"/>
                <a:cs typeface="IBM Plex Sans" pitchFamily="34" charset="-120"/>
              </a:rPr>
              <a:t>POS-tag cả câu → Lemmatize (WordNetLemmatizer)</a:t>
            </a:r>
            <a:endParaRPr lang="en-US" sz="1300" dirty="0"/>
          </a:p>
        </p:txBody>
      </p:sp>
      <p:sp>
        <p:nvSpPr>
          <p:cNvPr id="20" name="Shape 18"/>
          <p:cNvSpPr/>
          <p:nvPr/>
        </p:nvSpPr>
        <p:spPr>
          <a:xfrm>
            <a:off x="815975" y="3662052"/>
            <a:ext cx="10560050" cy="412750"/>
          </a:xfrm>
          <a:prstGeom prst="roundRect">
            <a:avLst>
              <a:gd name="adj" fmla="val 17692"/>
            </a:avLst>
          </a:prstGeom>
          <a:solidFill>
            <a:srgbClr val="FFFFFF"/>
          </a:solidFill>
          <a:ln w="6350">
            <a:solidFill>
              <a:srgbClr val="E3DDD0"/>
            </a:solidFill>
            <a:prstDash val="solid"/>
          </a:ln>
        </p:spPr>
      </p:sp>
      <p:sp>
        <p:nvSpPr>
          <p:cNvPr id="21" name="Shape 19"/>
          <p:cNvSpPr/>
          <p:nvPr/>
        </p:nvSpPr>
        <p:spPr>
          <a:xfrm>
            <a:off x="995680" y="3754127"/>
            <a:ext cx="228600" cy="228600"/>
          </a:xfrm>
          <a:prstGeom prst="roundRect">
            <a:avLst>
              <a:gd name="adj" fmla="val 50000"/>
            </a:avLst>
          </a:prstGeom>
          <a:solidFill>
            <a:srgbClr val="B8863B"/>
          </a:solidFill>
          <a:ln/>
        </p:spPr>
      </p:sp>
      <p:sp>
        <p:nvSpPr>
          <p:cNvPr id="22" name="Text 20"/>
          <p:cNvSpPr/>
          <p:nvPr/>
        </p:nvSpPr>
        <p:spPr>
          <a:xfrm>
            <a:off x="1068070" y="3770635"/>
            <a:ext cx="134620" cy="220980"/>
          </a:xfrm>
          <a:prstGeom prst="rect">
            <a:avLst/>
          </a:prstGeom>
          <a:noFill/>
          <a:ln/>
        </p:spPr>
        <p:txBody>
          <a:bodyPr wrap="square" lIns="0" tIns="0" rIns="0" bIns="0" rtlCol="0" anchor="t">
            <a:normAutofit/>
          </a:bodyPr>
          <a:lstStyle/>
          <a:p>
            <a:pPr algn="l" indent="0" marL="0">
              <a:lnSpc>
                <a:spcPts val="1540"/>
              </a:lnSpc>
              <a:buNone/>
            </a:pPr>
            <a:r>
              <a:rPr lang="en-US" sz="1100" b="1" dirty="0">
                <a:solidFill>
                  <a:srgbClr val="FFFFFF"/>
                </a:solidFill>
                <a:latin typeface="IBM Plex Sans" pitchFamily="34" charset="0"/>
                <a:ea typeface="IBM Plex Sans" pitchFamily="34" charset="-122"/>
                <a:cs typeface="IBM Plex Sans" pitchFamily="34" charset="-120"/>
              </a:rPr>
              <a:t>5</a:t>
            </a:r>
            <a:endParaRPr lang="en-US" sz="1100" dirty="0"/>
          </a:p>
        </p:txBody>
      </p:sp>
      <p:sp>
        <p:nvSpPr>
          <p:cNvPr id="23" name="Text 21"/>
          <p:cNvSpPr/>
          <p:nvPr/>
        </p:nvSpPr>
        <p:spPr>
          <a:xfrm>
            <a:off x="1351280" y="3752850"/>
            <a:ext cx="4102529"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C2733"/>
                </a:solidFill>
                <a:latin typeface="IBM Plex Sans" pitchFamily="34" charset="0"/>
                <a:ea typeface="IBM Plex Sans" pitchFamily="34" charset="-122"/>
                <a:cs typeface="IBM Plex Sans" pitchFamily="34" charset="-120"/>
              </a:rPr>
              <a:t>Phân đoạn tiếng Việt (CRF hard-decode, underthesea)</a:t>
            </a:r>
            <a:endParaRPr lang="en-US" sz="1300" dirty="0"/>
          </a:p>
        </p:txBody>
      </p:sp>
      <p:sp>
        <p:nvSpPr>
          <p:cNvPr id="24" name="Shape 22"/>
          <p:cNvSpPr/>
          <p:nvPr/>
        </p:nvSpPr>
        <p:spPr>
          <a:xfrm>
            <a:off x="815975" y="4170052"/>
            <a:ext cx="10560050" cy="412750"/>
          </a:xfrm>
          <a:prstGeom prst="roundRect">
            <a:avLst>
              <a:gd name="adj" fmla="val 17692"/>
            </a:avLst>
          </a:prstGeom>
          <a:solidFill>
            <a:srgbClr val="FFFFFF"/>
          </a:solidFill>
          <a:ln w="6350">
            <a:solidFill>
              <a:srgbClr val="E3DDD0"/>
            </a:solidFill>
            <a:prstDash val="solid"/>
          </a:ln>
        </p:spPr>
      </p:sp>
      <p:sp>
        <p:nvSpPr>
          <p:cNvPr id="25" name="Shape 23"/>
          <p:cNvSpPr/>
          <p:nvPr/>
        </p:nvSpPr>
        <p:spPr>
          <a:xfrm>
            <a:off x="995680" y="4262127"/>
            <a:ext cx="228600" cy="228600"/>
          </a:xfrm>
          <a:prstGeom prst="roundRect">
            <a:avLst>
              <a:gd name="adj" fmla="val 50000"/>
            </a:avLst>
          </a:prstGeom>
          <a:solidFill>
            <a:srgbClr val="B8863B"/>
          </a:solidFill>
          <a:ln/>
        </p:spPr>
      </p:sp>
      <p:sp>
        <p:nvSpPr>
          <p:cNvPr id="26" name="Text 24"/>
          <p:cNvSpPr/>
          <p:nvPr/>
        </p:nvSpPr>
        <p:spPr>
          <a:xfrm>
            <a:off x="1068070" y="4278635"/>
            <a:ext cx="134620" cy="220980"/>
          </a:xfrm>
          <a:prstGeom prst="rect">
            <a:avLst/>
          </a:prstGeom>
          <a:noFill/>
          <a:ln/>
        </p:spPr>
        <p:txBody>
          <a:bodyPr wrap="square" lIns="0" tIns="0" rIns="0" bIns="0" rtlCol="0" anchor="t">
            <a:normAutofit/>
          </a:bodyPr>
          <a:lstStyle/>
          <a:p>
            <a:pPr algn="l" indent="0" marL="0">
              <a:lnSpc>
                <a:spcPts val="1540"/>
              </a:lnSpc>
              <a:buNone/>
            </a:pPr>
            <a:r>
              <a:rPr lang="en-US" sz="1100" b="1" dirty="0">
                <a:solidFill>
                  <a:srgbClr val="FFFFFF"/>
                </a:solidFill>
                <a:latin typeface="IBM Plex Sans" pitchFamily="34" charset="0"/>
                <a:ea typeface="IBM Plex Sans" pitchFamily="34" charset="-122"/>
                <a:cs typeface="IBM Plex Sans" pitchFamily="34" charset="-120"/>
              </a:rPr>
              <a:t>6</a:t>
            </a:r>
            <a:endParaRPr lang="en-US" sz="1100" dirty="0"/>
          </a:p>
        </p:txBody>
      </p:sp>
      <p:sp>
        <p:nvSpPr>
          <p:cNvPr id="27" name="Text 25"/>
          <p:cNvSpPr/>
          <p:nvPr/>
        </p:nvSpPr>
        <p:spPr>
          <a:xfrm>
            <a:off x="1351280" y="4260850"/>
            <a:ext cx="3607004"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C2733"/>
                </a:solidFill>
                <a:latin typeface="IBM Plex Sans" pitchFamily="34" charset="0"/>
                <a:ea typeface="IBM Plex Sans" pitchFamily="34" charset="-122"/>
                <a:cs typeface="IBM Plex Sans" pitchFamily="34" charset="-120"/>
              </a:rPr>
              <a:t>fast_align (chiều ngược -r) → bảng P(Anh | Việt)</a:t>
            </a:r>
            <a:endParaRPr lang="en-US" sz="1300" dirty="0"/>
          </a:p>
        </p:txBody>
      </p:sp>
      <p:sp>
        <p:nvSpPr>
          <p:cNvPr id="28" name="Shape 26"/>
          <p:cNvSpPr/>
          <p:nvPr/>
        </p:nvSpPr>
        <p:spPr>
          <a:xfrm>
            <a:off x="815975" y="4678052"/>
            <a:ext cx="10560050" cy="412750"/>
          </a:xfrm>
          <a:prstGeom prst="roundRect">
            <a:avLst>
              <a:gd name="adj" fmla="val 17692"/>
            </a:avLst>
          </a:prstGeom>
          <a:solidFill>
            <a:srgbClr val="FFFFFF"/>
          </a:solidFill>
          <a:ln w="6350">
            <a:solidFill>
              <a:srgbClr val="E3DDD0"/>
            </a:solidFill>
            <a:prstDash val="solid"/>
          </a:ln>
        </p:spPr>
      </p:sp>
      <p:sp>
        <p:nvSpPr>
          <p:cNvPr id="29" name="Shape 27"/>
          <p:cNvSpPr/>
          <p:nvPr/>
        </p:nvSpPr>
        <p:spPr>
          <a:xfrm>
            <a:off x="995680" y="4770127"/>
            <a:ext cx="228600" cy="228600"/>
          </a:xfrm>
          <a:prstGeom prst="roundRect">
            <a:avLst>
              <a:gd name="adj" fmla="val 50000"/>
            </a:avLst>
          </a:prstGeom>
          <a:solidFill>
            <a:srgbClr val="B8863B"/>
          </a:solidFill>
          <a:ln/>
        </p:spPr>
      </p:sp>
      <p:sp>
        <p:nvSpPr>
          <p:cNvPr id="30" name="Text 28"/>
          <p:cNvSpPr/>
          <p:nvPr/>
        </p:nvSpPr>
        <p:spPr>
          <a:xfrm>
            <a:off x="1068070" y="4786635"/>
            <a:ext cx="134620" cy="220980"/>
          </a:xfrm>
          <a:prstGeom prst="rect">
            <a:avLst/>
          </a:prstGeom>
          <a:noFill/>
          <a:ln/>
        </p:spPr>
        <p:txBody>
          <a:bodyPr wrap="square" lIns="0" tIns="0" rIns="0" bIns="0" rtlCol="0" anchor="t">
            <a:normAutofit/>
          </a:bodyPr>
          <a:lstStyle/>
          <a:p>
            <a:pPr algn="l" indent="0" marL="0">
              <a:lnSpc>
                <a:spcPts val="1540"/>
              </a:lnSpc>
              <a:buNone/>
            </a:pPr>
            <a:r>
              <a:rPr lang="en-US" sz="1100" b="1" dirty="0">
                <a:solidFill>
                  <a:srgbClr val="FFFFFF"/>
                </a:solidFill>
                <a:latin typeface="IBM Plex Sans" pitchFamily="34" charset="0"/>
                <a:ea typeface="IBM Plex Sans" pitchFamily="34" charset="-122"/>
                <a:cs typeface="IBM Plex Sans" pitchFamily="34" charset="-120"/>
              </a:rPr>
              <a:t>7</a:t>
            </a:r>
            <a:endParaRPr lang="en-US" sz="1100" dirty="0"/>
          </a:p>
        </p:txBody>
      </p:sp>
      <p:sp>
        <p:nvSpPr>
          <p:cNvPr id="31" name="Text 29"/>
          <p:cNvSpPr/>
          <p:nvPr/>
        </p:nvSpPr>
        <p:spPr>
          <a:xfrm>
            <a:off x="1351280" y="4768850"/>
            <a:ext cx="4577205"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C2733"/>
                </a:solidFill>
                <a:latin typeface="IBM Plex Sans" pitchFamily="34" charset="0"/>
                <a:ea typeface="IBM Plex Sans" pitchFamily="34" charset="-122"/>
                <a:cs typeface="IBM Plex Sans" pitchFamily="34" charset="-120"/>
              </a:rPr>
              <a:t>Lọc nhiễu (tần suất, số lần liên kết) → sinh taxonomy đa-cha</a:t>
            </a:r>
            <a:endParaRPr lang="en-US" sz="1300" dirty="0"/>
          </a:p>
        </p:txBody>
      </p:sp>
      <p:sp>
        <p:nvSpPr>
          <p:cNvPr id="32" name="Shape 30"/>
          <p:cNvSpPr/>
          <p:nvPr/>
        </p:nvSpPr>
        <p:spPr>
          <a:xfrm>
            <a:off x="812800" y="5297177"/>
            <a:ext cx="10566400" cy="535940"/>
          </a:xfrm>
          <a:prstGeom prst="roundRect">
            <a:avLst>
              <a:gd name="adj" fmla="val 18957"/>
            </a:avLst>
          </a:prstGeom>
          <a:solidFill>
            <a:srgbClr val="1C2733"/>
          </a:solidFill>
          <a:ln/>
        </p:spPr>
      </p:sp>
      <p:sp>
        <p:nvSpPr>
          <p:cNvPr id="33" name="Text 31"/>
          <p:cNvSpPr/>
          <p:nvPr/>
        </p:nvSpPr>
        <p:spPr>
          <a:xfrm>
            <a:off x="1016000" y="5449577"/>
            <a:ext cx="104648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AF9F5"/>
                </a:solidFill>
                <a:latin typeface="IBM Plex Sans" pitchFamily="34" charset="0"/>
                <a:ea typeface="IBM Plex Sans" pitchFamily="34" charset="-122"/>
                <a:cs typeface="IBM Plex Sans" pitchFamily="34" charset="-120"/>
              </a:rPr>
              <a:t>Trọng số taxonomy suy ra từ </a:t>
            </a:r>
            <a:r>
              <a:rPr lang="en-US" sz="1300" b="1" dirty="0">
                <a:solidFill>
                  <a:srgbClr val="FAF9F5"/>
                </a:solidFill>
                <a:latin typeface="IBM Plex Sans" pitchFamily="34" charset="0"/>
                <a:ea typeface="IBM Plex Sans" pitchFamily="34" charset="-122"/>
                <a:cs typeface="IBM Plex Sans" pitchFamily="34" charset="-120"/>
              </a:rPr>
              <a:t>mô hình dịch thống kê thật</a:t>
            </a:r>
            <a:r>
              <a:rPr lang="en-US" sz="1300" dirty="0">
                <a:solidFill>
                  <a:srgbClr val="FAF9F5"/>
                </a:solidFill>
                <a:latin typeface="IBM Plex Sans" pitchFamily="34" charset="0"/>
                <a:ea typeface="IBM Plex Sans" pitchFamily="34" charset="-122"/>
                <a:cs typeface="IBM Plex Sans" pitchFamily="34" charset="-120"/>
              </a:rPr>
              <a:t> (fast_align) — không gán ngẫu nhiên.</a:t>
            </a:r>
            <a:endParaRPr lang="en-US" sz="1300" dirty="0"/>
          </a:p>
        </p:txBody>
      </p:sp>
      <p:sp>
        <p:nvSpPr>
          <p:cNvPr id="34" name="Text 32"/>
          <p:cNvSpPr/>
          <p:nvPr/>
        </p:nvSpPr>
        <p:spPr>
          <a:xfrm>
            <a:off x="812800" y="6238242"/>
            <a:ext cx="54689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199"/>
                </a:solidFill>
                <a:latin typeface="IBM Plex Sans" pitchFamily="34" charset="0"/>
                <a:ea typeface="IBM Plex Sans" pitchFamily="34" charset="-122"/>
                <a:cs typeface="IBM Plex Sans" pitchFamily="34" charset="-120"/>
              </a:rPr>
              <a:t>16 / 34</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863B"/>
                </a:solidFill>
                <a:latin typeface="IBM Plex Sans" pitchFamily="34" charset="0"/>
                <a:ea typeface="IBM Plex Sans" pitchFamily="34" charset="-122"/>
                <a:cs typeface="IBM Plex Sans" pitchFamily="34" charset="-120"/>
              </a:rPr>
              <a:t>ĐÓNG GÓP DỮ LIỆU</a:t>
            </a:r>
            <a:endParaRPr lang="en-US" sz="1200" dirty="0"/>
          </a:p>
        </p:txBody>
      </p:sp>
      <p:sp>
        <p:nvSpPr>
          <p:cNvPr id="3" name="Text 1"/>
          <p:cNvSpPr/>
          <p:nvPr/>
        </p:nvSpPr>
        <p:spPr>
          <a:xfrm>
            <a:off x="812800" y="1076958"/>
            <a:ext cx="10883392" cy="34671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C2733"/>
                </a:solidFill>
                <a:latin typeface="EB Garamond" pitchFamily="34" charset="0"/>
                <a:ea typeface="EB Garamond" pitchFamily="34" charset="-122"/>
                <a:cs typeface="EB Garamond" pitchFamily="34" charset="-120"/>
              </a:rPr>
              <a:t>Cơ chế: POS-tag → Lemma &amp; fast_align</a:t>
            </a:r>
            <a:endParaRPr lang="en-US" sz="2200" dirty="0"/>
          </a:p>
        </p:txBody>
      </p:sp>
      <p:sp>
        <p:nvSpPr>
          <p:cNvPr id="4" name="Shape 2"/>
          <p:cNvSpPr/>
          <p:nvPr/>
        </p:nvSpPr>
        <p:spPr>
          <a:xfrm>
            <a:off x="815975" y="1553852"/>
            <a:ext cx="5175250" cy="4284980"/>
          </a:xfrm>
          <a:prstGeom prst="roundRect">
            <a:avLst>
              <a:gd name="adj" fmla="val 2297"/>
            </a:avLst>
          </a:prstGeom>
          <a:solidFill>
            <a:srgbClr val="FFFFFF"/>
          </a:solidFill>
          <a:ln w="6350">
            <a:solidFill>
              <a:srgbClr val="E3DDD0"/>
            </a:solidFill>
            <a:prstDash val="solid"/>
          </a:ln>
        </p:spPr>
      </p:sp>
      <p:sp>
        <p:nvSpPr>
          <p:cNvPr id="5" name="Text 3"/>
          <p:cNvSpPr/>
          <p:nvPr/>
        </p:nvSpPr>
        <p:spPr>
          <a:xfrm>
            <a:off x="1021080" y="1758950"/>
            <a:ext cx="4907991"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B8863B"/>
                </a:solidFill>
                <a:latin typeface="IBM Plex Sans" pitchFamily="34" charset="0"/>
                <a:ea typeface="IBM Plex Sans" pitchFamily="34" charset="-122"/>
                <a:cs typeface="IBM Plex Sans" pitchFamily="34" charset="-120"/>
              </a:rPr>
              <a:t>POS-TAG → LEMMA</a:t>
            </a:r>
            <a:endParaRPr lang="en-US" sz="1200" dirty="0"/>
          </a:p>
        </p:txBody>
      </p:sp>
      <p:sp>
        <p:nvSpPr>
          <p:cNvPr id="6" name="Shape 4"/>
          <p:cNvSpPr/>
          <p:nvPr/>
        </p:nvSpPr>
        <p:spPr>
          <a:xfrm>
            <a:off x="1021080" y="2073908"/>
            <a:ext cx="4765040" cy="596900"/>
          </a:xfrm>
          <a:prstGeom prst="roundRect">
            <a:avLst>
              <a:gd name="adj" fmla="val 10638"/>
            </a:avLst>
          </a:prstGeom>
          <a:solidFill>
            <a:srgbClr val="F0EDE5"/>
          </a:solidFill>
          <a:ln/>
        </p:spPr>
      </p:sp>
      <p:sp>
        <p:nvSpPr>
          <p:cNvPr id="7" name="Text 5"/>
          <p:cNvSpPr/>
          <p:nvPr/>
        </p:nvSpPr>
        <p:spPr>
          <a:xfrm>
            <a:off x="1135380" y="2150108"/>
            <a:ext cx="4672533"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1C2733"/>
                </a:solidFill>
                <a:latin typeface="IBM Plex Sans" pitchFamily="34" charset="0"/>
                <a:ea typeface="IBM Plex Sans" pitchFamily="34" charset="-122"/>
                <a:cs typeface="IBM Plex Sans" pitchFamily="34" charset="-120"/>
              </a:rPr>
              <a:t>① Bộ gán nhãn (perceptron đã huấn luyện) đọc </a:t>
            </a:r>
            <a:r>
              <a:rPr lang="en-US" sz="1250" b="1" dirty="0">
                <a:solidFill>
                  <a:srgbClr val="1C2733"/>
                </a:solidFill>
                <a:latin typeface="IBM Plex Sans" pitchFamily="34" charset="0"/>
                <a:ea typeface="IBM Plex Sans" pitchFamily="34" charset="-122"/>
                <a:cs typeface="IBM Plex Sans" pitchFamily="34" charset="-120"/>
              </a:rPr>
              <a:t>cả câu</a:t>
            </a:r>
            <a:r>
              <a:rPr lang="en-US" sz="1250" dirty="0">
                <a:solidFill>
                  <a:srgbClr val="1C2733"/>
                </a:solidFill>
                <a:latin typeface="IBM Plex Sans" pitchFamily="34" charset="0"/>
                <a:ea typeface="IBM Plex Sans" pitchFamily="34" charset="-122"/>
                <a:cs typeface="IBM Plex Sans" pitchFamily="34" charset="-120"/>
              </a:rPr>
              <a:t>, gán nhãn từ loại cho từng từ dựa vào từ xung quanh</a:t>
            </a:r>
            <a:endParaRPr lang="en-US" sz="1250" dirty="0"/>
          </a:p>
        </p:txBody>
      </p:sp>
      <p:sp>
        <p:nvSpPr>
          <p:cNvPr id="8" name="Shape 6"/>
          <p:cNvSpPr/>
          <p:nvPr/>
        </p:nvSpPr>
        <p:spPr>
          <a:xfrm>
            <a:off x="1021080" y="2734308"/>
            <a:ext cx="4765040" cy="596900"/>
          </a:xfrm>
          <a:prstGeom prst="roundRect">
            <a:avLst>
              <a:gd name="adj" fmla="val 10638"/>
            </a:avLst>
          </a:prstGeom>
          <a:solidFill>
            <a:srgbClr val="F0EDE5"/>
          </a:solidFill>
          <a:ln/>
        </p:spPr>
      </p:sp>
      <p:sp>
        <p:nvSpPr>
          <p:cNvPr id="9" name="Text 7"/>
          <p:cNvSpPr/>
          <p:nvPr/>
        </p:nvSpPr>
        <p:spPr>
          <a:xfrm>
            <a:off x="1135380" y="2810508"/>
            <a:ext cx="4672533"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1C2733"/>
                </a:solidFill>
                <a:latin typeface="IBM Plex Sans" pitchFamily="34" charset="0"/>
                <a:ea typeface="IBM Plex Sans" pitchFamily="34" charset="-122"/>
                <a:cs typeface="IBM Plex Sans" pitchFamily="34" charset="-120"/>
              </a:rPr>
              <a:t>② VD "used" trong "he used it" → nhãn </a:t>
            </a:r>
            <a:r>
              <a:rPr lang="en-US" sz="1250" b="1" dirty="0">
                <a:solidFill>
                  <a:srgbClr val="1C2733"/>
                </a:solidFill>
                <a:latin typeface="IBM Plex Sans" pitchFamily="34" charset="0"/>
                <a:ea typeface="IBM Plex Sans" pitchFamily="34" charset="-122"/>
                <a:cs typeface="IBM Plex Sans" pitchFamily="34" charset="-120"/>
              </a:rPr>
              <a:t>VBD</a:t>
            </a:r>
            <a:r>
              <a:rPr lang="en-US" sz="1250" dirty="0">
                <a:solidFill>
                  <a:srgbClr val="1C2733"/>
                </a:solidFill>
                <a:latin typeface="IBM Plex Sans" pitchFamily="34" charset="0"/>
                <a:ea typeface="IBM Plex Sans" pitchFamily="34" charset="-122"/>
                <a:cs typeface="IBM Plex Sans" pitchFamily="34" charset="-120"/>
              </a:rPr>
              <a:t> (động từ quá khứ); trong "a used car" → nhãn </a:t>
            </a:r>
            <a:r>
              <a:rPr lang="en-US" sz="1250" b="1" dirty="0">
                <a:solidFill>
                  <a:srgbClr val="1C2733"/>
                </a:solidFill>
                <a:latin typeface="IBM Plex Sans" pitchFamily="34" charset="0"/>
                <a:ea typeface="IBM Plex Sans" pitchFamily="34" charset="-122"/>
                <a:cs typeface="IBM Plex Sans" pitchFamily="34" charset="-120"/>
              </a:rPr>
              <a:t>JJ</a:t>
            </a:r>
            <a:r>
              <a:rPr lang="en-US" sz="1250" dirty="0">
                <a:solidFill>
                  <a:srgbClr val="1C2733"/>
                </a:solidFill>
                <a:latin typeface="IBM Plex Sans" pitchFamily="34" charset="0"/>
                <a:ea typeface="IBM Plex Sans" pitchFamily="34" charset="-122"/>
                <a:cs typeface="IBM Plex Sans" pitchFamily="34" charset="-120"/>
              </a:rPr>
              <a:t> (tính từ)</a:t>
            </a:r>
            <a:endParaRPr lang="en-US" sz="1250" dirty="0"/>
          </a:p>
        </p:txBody>
      </p:sp>
      <p:sp>
        <p:nvSpPr>
          <p:cNvPr id="10" name="Shape 8"/>
          <p:cNvSpPr/>
          <p:nvPr/>
        </p:nvSpPr>
        <p:spPr>
          <a:xfrm>
            <a:off x="1021080" y="3394708"/>
            <a:ext cx="4765040" cy="596900"/>
          </a:xfrm>
          <a:prstGeom prst="roundRect">
            <a:avLst>
              <a:gd name="adj" fmla="val 10638"/>
            </a:avLst>
          </a:prstGeom>
          <a:solidFill>
            <a:srgbClr val="F0EDE5"/>
          </a:solidFill>
          <a:ln/>
        </p:spPr>
      </p:sp>
      <p:sp>
        <p:nvSpPr>
          <p:cNvPr id="11" name="Text 9"/>
          <p:cNvSpPr/>
          <p:nvPr/>
        </p:nvSpPr>
        <p:spPr>
          <a:xfrm>
            <a:off x="1135380" y="3470908"/>
            <a:ext cx="4672533"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1C2733"/>
                </a:solidFill>
                <a:latin typeface="IBM Plex Sans" pitchFamily="34" charset="0"/>
                <a:ea typeface="IBM Plex Sans" pitchFamily="34" charset="-122"/>
                <a:cs typeface="IBM Plex Sans" pitchFamily="34" charset="-120"/>
              </a:rPr>
              <a:t>③ WordNetLemmatizer tra từ điển WordNet theo </a:t>
            </a:r>
            <a:r>
              <a:rPr lang="en-US" sz="1250" b="1" dirty="0">
                <a:solidFill>
                  <a:srgbClr val="1C2733"/>
                </a:solidFill>
                <a:latin typeface="IBM Plex Sans" pitchFamily="34" charset="0"/>
                <a:ea typeface="IBM Plex Sans" pitchFamily="34" charset="-122"/>
                <a:cs typeface="IBM Plex Sans" pitchFamily="34" charset="-120"/>
              </a:rPr>
              <a:t>đúng nhãn</a:t>
            </a:r>
            <a:r>
              <a:rPr lang="en-US" sz="1250" dirty="0">
                <a:solidFill>
                  <a:srgbClr val="1C2733"/>
                </a:solidFill>
                <a:latin typeface="IBM Plex Sans" pitchFamily="34" charset="0"/>
                <a:ea typeface="IBM Plex Sans" pitchFamily="34" charset="-122"/>
                <a:cs typeface="IBM Plex Sans" pitchFamily="34" charset="-120"/>
              </a:rPr>
              <a:t> vừa gán → ra lemma khác nhau tùy nhãn</a:t>
            </a:r>
            <a:endParaRPr lang="en-US" sz="1250" dirty="0"/>
          </a:p>
        </p:txBody>
      </p:sp>
      <p:sp>
        <p:nvSpPr>
          <p:cNvPr id="12" name="Text 10"/>
          <p:cNvSpPr/>
          <p:nvPr/>
        </p:nvSpPr>
        <p:spPr>
          <a:xfrm>
            <a:off x="1021080" y="4093208"/>
            <a:ext cx="4907991" cy="43434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4A5568"/>
                </a:solidFill>
                <a:latin typeface="IBM Plex Sans" pitchFamily="34" charset="0"/>
                <a:ea typeface="IBM Plex Sans" pitchFamily="34" charset="-122"/>
                <a:cs typeface="IBM Plex Sans" pitchFamily="34" charset="-120"/>
              </a:rPr>
              <a:t>Cùng 1 từ, ngữ cảnh câu khác nhau → nhãn khác nhau → lemma khác nhau. Đây chính là nguồn gốc của tính đa-cha ở tầng variant→lemma.</a:t>
            </a:r>
            <a:endParaRPr lang="en-US" sz="1150" dirty="0"/>
          </a:p>
        </p:txBody>
      </p:sp>
      <p:sp>
        <p:nvSpPr>
          <p:cNvPr id="13" name="Shape 11"/>
          <p:cNvSpPr/>
          <p:nvPr/>
        </p:nvSpPr>
        <p:spPr>
          <a:xfrm>
            <a:off x="6200775" y="1553852"/>
            <a:ext cx="5175250" cy="4284980"/>
          </a:xfrm>
          <a:prstGeom prst="roundRect">
            <a:avLst>
              <a:gd name="adj" fmla="val 2297"/>
            </a:avLst>
          </a:prstGeom>
          <a:solidFill>
            <a:srgbClr val="FFFFFF"/>
          </a:solidFill>
          <a:ln w="6350">
            <a:solidFill>
              <a:srgbClr val="E3DDD0"/>
            </a:solidFill>
            <a:prstDash val="solid"/>
          </a:ln>
        </p:spPr>
      </p:sp>
      <p:sp>
        <p:nvSpPr>
          <p:cNvPr id="14" name="Text 12"/>
          <p:cNvSpPr/>
          <p:nvPr/>
        </p:nvSpPr>
        <p:spPr>
          <a:xfrm>
            <a:off x="6405880" y="1758950"/>
            <a:ext cx="4907991"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B8863B"/>
                </a:solidFill>
                <a:latin typeface="IBM Plex Sans" pitchFamily="34" charset="0"/>
                <a:ea typeface="IBM Plex Sans" pitchFamily="34" charset="-122"/>
                <a:cs typeface="IBM Plex Sans" pitchFamily="34" charset="-120"/>
              </a:rPr>
              <a:t>FAST_ALIGN (IBM Model 2 + EM)</a:t>
            </a:r>
            <a:endParaRPr lang="en-US" sz="1200" dirty="0"/>
          </a:p>
        </p:txBody>
      </p:sp>
      <p:sp>
        <p:nvSpPr>
          <p:cNvPr id="15" name="Shape 13"/>
          <p:cNvSpPr/>
          <p:nvPr/>
        </p:nvSpPr>
        <p:spPr>
          <a:xfrm>
            <a:off x="6405880" y="2073908"/>
            <a:ext cx="4765040" cy="596900"/>
          </a:xfrm>
          <a:prstGeom prst="roundRect">
            <a:avLst>
              <a:gd name="adj" fmla="val 10638"/>
            </a:avLst>
          </a:prstGeom>
          <a:solidFill>
            <a:srgbClr val="F0EDE5"/>
          </a:solidFill>
          <a:ln/>
        </p:spPr>
      </p:sp>
      <p:sp>
        <p:nvSpPr>
          <p:cNvPr id="16" name="Text 14"/>
          <p:cNvSpPr/>
          <p:nvPr/>
        </p:nvSpPr>
        <p:spPr>
          <a:xfrm>
            <a:off x="6520180" y="2150108"/>
            <a:ext cx="4672533"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1C2733"/>
                </a:solidFill>
                <a:latin typeface="IBM Plex Sans" pitchFamily="34" charset="0"/>
                <a:ea typeface="IBM Plex Sans" pitchFamily="34" charset="-122"/>
                <a:cs typeface="IBM Plex Sans" pitchFamily="34" charset="-120"/>
              </a:rPr>
              <a:t>① Khởi tạo P(Anh | Việt) ngẫu nhiên cho mọi cặp từ có thể xuất hiện cùng câu</a:t>
            </a:r>
            <a:endParaRPr lang="en-US" sz="1250" dirty="0"/>
          </a:p>
        </p:txBody>
      </p:sp>
      <p:sp>
        <p:nvSpPr>
          <p:cNvPr id="17" name="Shape 15"/>
          <p:cNvSpPr/>
          <p:nvPr/>
        </p:nvSpPr>
        <p:spPr>
          <a:xfrm>
            <a:off x="6405880" y="2734308"/>
            <a:ext cx="4765040" cy="596900"/>
          </a:xfrm>
          <a:prstGeom prst="roundRect">
            <a:avLst>
              <a:gd name="adj" fmla="val 10638"/>
            </a:avLst>
          </a:prstGeom>
          <a:solidFill>
            <a:srgbClr val="F0EDE5"/>
          </a:solidFill>
          <a:ln/>
        </p:spPr>
      </p:sp>
      <p:sp>
        <p:nvSpPr>
          <p:cNvPr id="18" name="Text 16"/>
          <p:cNvSpPr/>
          <p:nvPr/>
        </p:nvSpPr>
        <p:spPr>
          <a:xfrm>
            <a:off x="6520180" y="2810508"/>
            <a:ext cx="4672533"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1C2733"/>
                </a:solidFill>
                <a:latin typeface="IBM Plex Sans" pitchFamily="34" charset="0"/>
                <a:ea typeface="IBM Plex Sans" pitchFamily="34" charset="-122"/>
                <a:cs typeface="IBM Plex Sans" pitchFamily="34" charset="-120"/>
              </a:rPr>
              <a:t>② Bước E: với mỗi cặp câu thật, ước lượng từ Việt nào khớp với từ Anh nào, dựa theo P hiện tại</a:t>
            </a:r>
            <a:endParaRPr lang="en-US" sz="1250" dirty="0"/>
          </a:p>
        </p:txBody>
      </p:sp>
      <p:sp>
        <p:nvSpPr>
          <p:cNvPr id="19" name="Shape 17"/>
          <p:cNvSpPr/>
          <p:nvPr/>
        </p:nvSpPr>
        <p:spPr>
          <a:xfrm>
            <a:off x="6405880" y="3394708"/>
            <a:ext cx="4765040" cy="596900"/>
          </a:xfrm>
          <a:prstGeom prst="roundRect">
            <a:avLst>
              <a:gd name="adj" fmla="val 10638"/>
            </a:avLst>
          </a:prstGeom>
          <a:solidFill>
            <a:srgbClr val="F0EDE5"/>
          </a:solidFill>
          <a:ln/>
        </p:spPr>
      </p:sp>
      <p:sp>
        <p:nvSpPr>
          <p:cNvPr id="20" name="Text 18"/>
          <p:cNvSpPr/>
          <p:nvPr/>
        </p:nvSpPr>
        <p:spPr>
          <a:xfrm>
            <a:off x="6520180" y="3470908"/>
            <a:ext cx="4672533"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1C2733"/>
                </a:solidFill>
                <a:latin typeface="IBM Plex Sans" pitchFamily="34" charset="0"/>
                <a:ea typeface="IBM Plex Sans" pitchFamily="34" charset="-122"/>
                <a:cs typeface="IBM Plex Sans" pitchFamily="34" charset="-120"/>
              </a:rPr>
              <a:t>③ Bước M: đếm lại tần suất (có trọng số) → cập nhật P(Anh | Việt) chính xác hơn</a:t>
            </a:r>
            <a:endParaRPr lang="en-US" sz="1250" dirty="0"/>
          </a:p>
        </p:txBody>
      </p:sp>
      <p:sp>
        <p:nvSpPr>
          <p:cNvPr id="21" name="Shape 19"/>
          <p:cNvSpPr/>
          <p:nvPr/>
        </p:nvSpPr>
        <p:spPr>
          <a:xfrm>
            <a:off x="6405880" y="4055108"/>
            <a:ext cx="4765040" cy="596900"/>
          </a:xfrm>
          <a:prstGeom prst="roundRect">
            <a:avLst>
              <a:gd name="adj" fmla="val 10638"/>
            </a:avLst>
          </a:prstGeom>
          <a:solidFill>
            <a:srgbClr val="F0EDE5"/>
          </a:solidFill>
          <a:ln/>
        </p:spPr>
      </p:sp>
      <p:sp>
        <p:nvSpPr>
          <p:cNvPr id="22" name="Text 20"/>
          <p:cNvSpPr/>
          <p:nvPr/>
        </p:nvSpPr>
        <p:spPr>
          <a:xfrm>
            <a:off x="6520180" y="4131308"/>
            <a:ext cx="4672533"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1C2733"/>
                </a:solidFill>
                <a:latin typeface="IBM Plex Sans" pitchFamily="34" charset="0"/>
                <a:ea typeface="IBM Plex Sans" pitchFamily="34" charset="-122"/>
                <a:cs typeface="IBM Plex Sans" pitchFamily="34" charset="-120"/>
              </a:rPr>
              <a:t>④ Lặp lại E-M qua toàn bộ ~100-250 nghìn câu cho tới khi hội tụ</a:t>
            </a:r>
            <a:endParaRPr lang="en-US" sz="1250" dirty="0"/>
          </a:p>
        </p:txBody>
      </p:sp>
      <p:sp>
        <p:nvSpPr>
          <p:cNvPr id="23" name="Text 21"/>
          <p:cNvSpPr/>
          <p:nvPr/>
        </p:nvSpPr>
        <p:spPr>
          <a:xfrm>
            <a:off x="6405880" y="4753608"/>
            <a:ext cx="4907991" cy="43434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4A5568"/>
                </a:solidFill>
                <a:latin typeface="IBM Plex Sans" pitchFamily="34" charset="0"/>
                <a:ea typeface="IBM Plex Sans" pitchFamily="34" charset="-122"/>
                <a:cs typeface="IBM Plex Sans" pitchFamily="34" charset="-120"/>
              </a:rPr>
              <a:t>Không cần dữ liệu gán nhãn alignment sẵn có — học hoàn toàn không giám sát, chỉ từ chính cặp câu song ngữ.</a:t>
            </a:r>
            <a:endParaRPr lang="en-US" sz="1150" dirty="0"/>
          </a:p>
        </p:txBody>
      </p:sp>
      <p:sp>
        <p:nvSpPr>
          <p:cNvPr id="24" name="Text 22"/>
          <p:cNvSpPr/>
          <p:nvPr/>
        </p:nvSpPr>
        <p:spPr>
          <a:xfrm>
            <a:off x="812800" y="6238242"/>
            <a:ext cx="54689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199"/>
                </a:solidFill>
                <a:latin typeface="IBM Plex Sans" pitchFamily="34" charset="0"/>
                <a:ea typeface="IBM Plex Sans" pitchFamily="34" charset="-122"/>
                <a:cs typeface="IBM Plex Sans" pitchFamily="34" charset="-120"/>
              </a:rPr>
              <a:t>17 / 34</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863B"/>
                </a:solidFill>
                <a:latin typeface="IBM Plex Sans" pitchFamily="34" charset="0"/>
                <a:ea typeface="IBM Plex Sans" pitchFamily="34" charset="-122"/>
                <a:cs typeface="IBM Plex Sans" pitchFamily="34" charset="-120"/>
              </a:rPr>
              <a:t>ĐÓNG GÓP DỮ LIỆU</a:t>
            </a:r>
            <a:endParaRPr lang="en-US" sz="1200" dirty="0"/>
          </a:p>
        </p:txBody>
      </p:sp>
      <p:sp>
        <p:nvSpPr>
          <p:cNvPr id="3" name="Text 1"/>
          <p:cNvSpPr/>
          <p:nvPr/>
        </p:nvSpPr>
        <p:spPr>
          <a:xfrm>
            <a:off x="812800" y="1076958"/>
            <a:ext cx="10883392" cy="34671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C2733"/>
                </a:solidFill>
                <a:latin typeface="EB Garamond" pitchFamily="34" charset="0"/>
                <a:ea typeface="EB Garamond" pitchFamily="34" charset="-122"/>
                <a:cs typeface="EB Garamond" pitchFamily="34" charset="-120"/>
              </a:rPr>
              <a:t>Ví dụ cụ thể: POS-tag → Tra từ điển → Lemma</a:t>
            </a:r>
            <a:endParaRPr lang="en-US" sz="2200" dirty="0"/>
          </a:p>
        </p:txBody>
      </p:sp>
      <p:sp>
        <p:nvSpPr>
          <p:cNvPr id="4" name="Shape 2"/>
          <p:cNvSpPr/>
          <p:nvPr/>
        </p:nvSpPr>
        <p:spPr>
          <a:xfrm>
            <a:off x="2320052" y="1996442"/>
            <a:ext cx="2116296" cy="452120"/>
          </a:xfrm>
          <a:prstGeom prst="roundRect">
            <a:avLst>
              <a:gd name="adj" fmla="val 16854"/>
            </a:avLst>
          </a:prstGeom>
          <a:solidFill>
            <a:srgbClr val="1C2733"/>
          </a:solidFill>
          <a:ln/>
        </p:spPr>
      </p:sp>
      <p:sp>
        <p:nvSpPr>
          <p:cNvPr id="5" name="Text 3"/>
          <p:cNvSpPr/>
          <p:nvPr/>
        </p:nvSpPr>
        <p:spPr>
          <a:xfrm>
            <a:off x="2445280" y="2098042"/>
            <a:ext cx="1865841" cy="274320"/>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FAF9F5"/>
                </a:solidFill>
                <a:latin typeface="IBM Plex Sans" pitchFamily="34" charset="0"/>
                <a:ea typeface="IBM Plex Sans" pitchFamily="34" charset="-122"/>
                <a:cs typeface="IBM Plex Sans" pitchFamily="34" charset="-120"/>
              </a:rPr>
              <a:t>"He </a:t>
            </a:r>
            <a:r>
              <a:rPr lang="en-US" sz="1400" b="1" dirty="0">
                <a:solidFill>
                  <a:srgbClr val="FAF9F5"/>
                </a:solidFill>
                <a:latin typeface="IBM Plex Sans" pitchFamily="34" charset="0"/>
                <a:ea typeface="IBM Plex Sans" pitchFamily="34" charset="-122"/>
                <a:cs typeface="IBM Plex Sans" pitchFamily="34" charset="-120"/>
              </a:rPr>
              <a:t>used</a:t>
            </a:r>
            <a:r>
              <a:rPr lang="en-US" sz="1400" dirty="0">
                <a:solidFill>
                  <a:srgbClr val="FAF9F5"/>
                </a:solidFill>
                <a:latin typeface="IBM Plex Sans" pitchFamily="34" charset="0"/>
                <a:ea typeface="IBM Plex Sans" pitchFamily="34" charset="-122"/>
                <a:cs typeface="IBM Plex Sans" pitchFamily="34" charset="-120"/>
              </a:rPr>
              <a:t> it yesterday."</a:t>
            </a:r>
            <a:endParaRPr lang="en-US" sz="1400" dirty="0"/>
          </a:p>
        </p:txBody>
      </p:sp>
      <p:pic>
        <p:nvPicPr>
          <p:cNvPr id="6" name="Image 0" descr="arrow-down">    </p:cNvPr>
          <p:cNvPicPr>
            <a:picLocks noChangeAspect="1"/>
          </p:cNvPicPr>
          <p:nvPr/>
        </p:nvPicPr>
        <p:blipFill>
          <a:blip r:embed="rId1"/>
          <a:srcRect l="0" r="0" t="0" b="0"/>
          <a:stretch/>
        </p:blipFill>
        <p:spPr>
          <a:xfrm>
            <a:off x="3308350" y="2512058"/>
            <a:ext cx="139700" cy="127000"/>
          </a:xfrm>
          <a:prstGeom prst="rect">
            <a:avLst/>
          </a:prstGeom>
        </p:spPr>
      </p:pic>
      <p:sp>
        <p:nvSpPr>
          <p:cNvPr id="7" name="Shape 4"/>
          <p:cNvSpPr/>
          <p:nvPr/>
        </p:nvSpPr>
        <p:spPr>
          <a:xfrm>
            <a:off x="1669574" y="2702558"/>
            <a:ext cx="3417253" cy="408940"/>
          </a:xfrm>
          <a:prstGeom prst="roundRect">
            <a:avLst>
              <a:gd name="adj" fmla="val 18634"/>
            </a:avLst>
          </a:prstGeom>
          <a:solidFill>
            <a:srgbClr val="F0EDE5"/>
          </a:solidFill>
          <a:ln/>
        </p:spPr>
      </p:sp>
      <p:sp>
        <p:nvSpPr>
          <p:cNvPr id="8" name="Text 5"/>
          <p:cNvSpPr/>
          <p:nvPr/>
        </p:nvSpPr>
        <p:spPr>
          <a:xfrm>
            <a:off x="1775287" y="2791458"/>
            <a:ext cx="3205826" cy="256540"/>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1C2733"/>
                </a:solidFill>
                <a:latin typeface="IBM Plex Sans" pitchFamily="34" charset="0"/>
                <a:ea typeface="IBM Plex Sans" pitchFamily="34" charset="-122"/>
                <a:cs typeface="IBM Plex Sans" pitchFamily="34" charset="-120"/>
              </a:rPr>
              <a:t>Nhãn POS = </a:t>
            </a:r>
            <a:r>
              <a:rPr lang="en-US" sz="1300" b="1" dirty="0">
                <a:solidFill>
                  <a:srgbClr val="1C2733"/>
                </a:solidFill>
                <a:latin typeface="IBM Plex Sans" pitchFamily="34" charset="0"/>
                <a:ea typeface="IBM Plex Sans" pitchFamily="34" charset="-122"/>
                <a:cs typeface="IBM Plex Sans" pitchFamily="34" charset="-120"/>
              </a:rPr>
              <a:t>VBD</a:t>
            </a:r>
            <a:r>
              <a:rPr lang="en-US" sz="1300" dirty="0">
                <a:solidFill>
                  <a:srgbClr val="1C2733"/>
                </a:solidFill>
                <a:latin typeface="IBM Plex Sans" pitchFamily="34" charset="0"/>
                <a:ea typeface="IBM Plex Sans" pitchFamily="34" charset="-122"/>
                <a:cs typeface="IBM Plex Sans" pitchFamily="34" charset="-120"/>
              </a:rPr>
              <a:t> → WordNet POS = </a:t>
            </a:r>
            <a:r>
              <a:rPr lang="en-US" sz="1300" b="1" dirty="0">
                <a:solidFill>
                  <a:srgbClr val="1C2733"/>
                </a:solidFill>
                <a:latin typeface="IBM Plex Sans" pitchFamily="34" charset="0"/>
                <a:ea typeface="IBM Plex Sans" pitchFamily="34" charset="-122"/>
                <a:cs typeface="IBM Plex Sans" pitchFamily="34" charset="-120"/>
              </a:rPr>
              <a:t>VERB</a:t>
            </a:r>
            <a:endParaRPr lang="en-US" sz="1300" dirty="0"/>
          </a:p>
        </p:txBody>
      </p:sp>
      <p:pic>
        <p:nvPicPr>
          <p:cNvPr id="9" name="Image 1" descr="arrow-down">    </p:cNvPr>
          <p:cNvPicPr>
            <a:picLocks noChangeAspect="1"/>
          </p:cNvPicPr>
          <p:nvPr/>
        </p:nvPicPr>
        <p:blipFill>
          <a:blip r:embed="rId2"/>
          <a:srcRect l="0" r="0" t="0" b="0"/>
          <a:stretch/>
        </p:blipFill>
        <p:spPr>
          <a:xfrm>
            <a:off x="3308350" y="3175000"/>
            <a:ext cx="139700" cy="127000"/>
          </a:xfrm>
          <a:prstGeom prst="rect">
            <a:avLst/>
          </a:prstGeom>
        </p:spPr>
      </p:pic>
      <p:sp>
        <p:nvSpPr>
          <p:cNvPr id="10" name="Shape 6"/>
          <p:cNvSpPr/>
          <p:nvPr/>
        </p:nvSpPr>
        <p:spPr>
          <a:xfrm>
            <a:off x="1059259" y="3365500"/>
            <a:ext cx="4637881" cy="400050"/>
          </a:xfrm>
          <a:prstGeom prst="roundRect">
            <a:avLst>
              <a:gd name="adj" fmla="val 19048"/>
            </a:avLst>
          </a:prstGeom>
          <a:solidFill>
            <a:srgbClr val="F0EDE5"/>
          </a:solidFill>
          <a:ln/>
        </p:spPr>
      </p:sp>
      <p:sp>
        <p:nvSpPr>
          <p:cNvPr id="11" name="Text 7"/>
          <p:cNvSpPr/>
          <p:nvPr/>
        </p:nvSpPr>
        <p:spPr>
          <a:xfrm>
            <a:off x="1146663" y="3454400"/>
            <a:ext cx="4463074" cy="247650"/>
          </a:xfrm>
          <a:prstGeom prst="rect">
            <a:avLst/>
          </a:prstGeom>
          <a:noFill/>
          <a:ln/>
        </p:spPr>
        <p:txBody>
          <a:bodyPr wrap="square" lIns="0" tIns="0" rIns="0" bIns="0" rtlCol="0" anchor="t">
            <a:normAutofit/>
          </a:bodyPr>
          <a:lstStyle/>
          <a:p>
            <a:pPr algn="ctr" indent="0" marL="0">
              <a:lnSpc>
                <a:spcPts val="1750"/>
              </a:lnSpc>
              <a:buNone/>
            </a:pPr>
            <a:r>
              <a:rPr lang="en-US" sz="1250" dirty="0">
                <a:solidFill>
                  <a:srgbClr val="1C2733"/>
                </a:solidFill>
                <a:latin typeface="IBM Plex Sans" pitchFamily="34" charset="0"/>
                <a:ea typeface="IBM Plex Sans" pitchFamily="34" charset="-122"/>
                <a:cs typeface="IBM Plex Sans" pitchFamily="34" charset="-120"/>
              </a:rPr>
              <a:t>Tra từ điển WordNet(</a:t>
            </a:r>
            <a:r>
              <a:rPr lang="en-US" sz="1250" i="1" dirty="0">
                <a:solidFill>
                  <a:srgbClr val="1C2733"/>
                </a:solidFill>
                <a:latin typeface="IBM Plex Sans" pitchFamily="34" charset="0"/>
                <a:ea typeface="IBM Plex Sans" pitchFamily="34" charset="-122"/>
                <a:cs typeface="IBM Plex Sans" pitchFamily="34" charset="-120"/>
              </a:rPr>
              <a:t>used</a:t>
            </a:r>
            <a:r>
              <a:rPr lang="en-US" sz="1250" dirty="0">
                <a:solidFill>
                  <a:srgbClr val="1C2733"/>
                </a:solidFill>
                <a:latin typeface="IBM Plex Sans" pitchFamily="34" charset="0"/>
                <a:ea typeface="IBM Plex Sans" pitchFamily="34" charset="-122"/>
                <a:cs typeface="IBM Plex Sans" pitchFamily="34" charset="-120"/>
              </a:rPr>
              <a:t>, VERB) → bảng động từ bất quy tắc</a:t>
            </a:r>
            <a:endParaRPr lang="en-US" sz="1250" dirty="0"/>
          </a:p>
        </p:txBody>
      </p:sp>
      <p:pic>
        <p:nvPicPr>
          <p:cNvPr id="12" name="Image 2" descr="arrow-down">    </p:cNvPr>
          <p:cNvPicPr>
            <a:picLocks noChangeAspect="1"/>
          </p:cNvPicPr>
          <p:nvPr/>
        </p:nvPicPr>
        <p:blipFill>
          <a:blip r:embed="rId3"/>
          <a:srcRect l="0" r="0" t="0" b="0"/>
          <a:stretch/>
        </p:blipFill>
        <p:spPr>
          <a:xfrm>
            <a:off x="3308350" y="3829050"/>
            <a:ext cx="139700" cy="127000"/>
          </a:xfrm>
          <a:prstGeom prst="rect">
            <a:avLst/>
          </a:prstGeom>
        </p:spPr>
      </p:pic>
      <p:sp>
        <p:nvSpPr>
          <p:cNvPr id="13" name="Shape 8"/>
          <p:cNvSpPr/>
          <p:nvPr/>
        </p:nvSpPr>
        <p:spPr>
          <a:xfrm>
            <a:off x="2528411" y="4025900"/>
            <a:ext cx="1699498" cy="495300"/>
          </a:xfrm>
          <a:prstGeom prst="roundRect">
            <a:avLst>
              <a:gd name="adj" fmla="val 14103"/>
            </a:avLst>
          </a:prstGeom>
          <a:solidFill>
            <a:srgbClr val="FBF1E0"/>
          </a:solidFill>
          <a:ln w="12700">
            <a:solidFill>
              <a:srgbClr val="D9B577"/>
            </a:solidFill>
            <a:prstDash val="solid"/>
          </a:ln>
        </p:spPr>
      </p:sp>
      <p:sp>
        <p:nvSpPr>
          <p:cNvPr id="14" name="Text 9"/>
          <p:cNvSpPr/>
          <p:nvPr/>
        </p:nvSpPr>
        <p:spPr>
          <a:xfrm>
            <a:off x="2659221" y="4131308"/>
            <a:ext cx="1437878" cy="30988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1C2733"/>
                </a:solidFill>
                <a:latin typeface="IBM Plex Sans" pitchFamily="34" charset="0"/>
                <a:ea typeface="IBM Plex Sans" pitchFamily="34" charset="-122"/>
                <a:cs typeface="IBM Plex Sans" pitchFamily="34" charset="-120"/>
              </a:rPr>
              <a:t>lemma = "use"</a:t>
            </a:r>
            <a:endParaRPr lang="en-US" sz="1600" dirty="0"/>
          </a:p>
        </p:txBody>
      </p:sp>
      <p:sp>
        <p:nvSpPr>
          <p:cNvPr id="15" name="Shape 10"/>
          <p:cNvSpPr/>
          <p:nvPr/>
        </p:nvSpPr>
        <p:spPr>
          <a:xfrm>
            <a:off x="7727633" y="1885317"/>
            <a:ext cx="2172335" cy="452120"/>
          </a:xfrm>
          <a:prstGeom prst="roundRect">
            <a:avLst>
              <a:gd name="adj" fmla="val 16854"/>
            </a:avLst>
          </a:prstGeom>
          <a:solidFill>
            <a:srgbClr val="1C2733"/>
          </a:solidFill>
          <a:ln/>
        </p:spPr>
      </p:sp>
      <p:sp>
        <p:nvSpPr>
          <p:cNvPr id="16" name="Text 11"/>
          <p:cNvSpPr/>
          <p:nvPr/>
        </p:nvSpPr>
        <p:spPr>
          <a:xfrm>
            <a:off x="7852020" y="1986917"/>
            <a:ext cx="1923561" cy="274320"/>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FAF9F5"/>
                </a:solidFill>
                <a:latin typeface="IBM Plex Sans" pitchFamily="34" charset="0"/>
                <a:ea typeface="IBM Plex Sans" pitchFamily="34" charset="-122"/>
                <a:cs typeface="IBM Plex Sans" pitchFamily="34" charset="-120"/>
              </a:rPr>
              <a:t>"He bought a </a:t>
            </a:r>
            <a:r>
              <a:rPr lang="en-US" sz="1400" b="1" dirty="0">
                <a:solidFill>
                  <a:srgbClr val="FAF9F5"/>
                </a:solidFill>
                <a:latin typeface="IBM Plex Sans" pitchFamily="34" charset="0"/>
                <a:ea typeface="IBM Plex Sans" pitchFamily="34" charset="-122"/>
                <a:cs typeface="IBM Plex Sans" pitchFamily="34" charset="-120"/>
              </a:rPr>
              <a:t>used</a:t>
            </a:r>
            <a:r>
              <a:rPr lang="en-US" sz="1400" dirty="0">
                <a:solidFill>
                  <a:srgbClr val="FAF9F5"/>
                </a:solidFill>
                <a:latin typeface="IBM Plex Sans" pitchFamily="34" charset="0"/>
                <a:ea typeface="IBM Plex Sans" pitchFamily="34" charset="-122"/>
                <a:cs typeface="IBM Plex Sans" pitchFamily="34" charset="-120"/>
              </a:rPr>
              <a:t> car."</a:t>
            </a:r>
            <a:endParaRPr lang="en-US" sz="1400" dirty="0"/>
          </a:p>
        </p:txBody>
      </p:sp>
      <p:pic>
        <p:nvPicPr>
          <p:cNvPr id="17" name="Image 3" descr="arrow-down">    </p:cNvPr>
          <p:cNvPicPr>
            <a:picLocks noChangeAspect="1"/>
          </p:cNvPicPr>
          <p:nvPr/>
        </p:nvPicPr>
        <p:blipFill>
          <a:blip r:embed="rId4"/>
          <a:srcRect l="0" r="0" t="0" b="0"/>
          <a:stretch/>
        </p:blipFill>
        <p:spPr>
          <a:xfrm>
            <a:off x="8743950" y="2400933"/>
            <a:ext cx="139700" cy="127000"/>
          </a:xfrm>
          <a:prstGeom prst="rect">
            <a:avLst/>
          </a:prstGeom>
        </p:spPr>
      </p:pic>
      <p:sp>
        <p:nvSpPr>
          <p:cNvPr id="18" name="Shape 12"/>
          <p:cNvSpPr/>
          <p:nvPr/>
        </p:nvSpPr>
        <p:spPr>
          <a:xfrm>
            <a:off x="7236857" y="2591433"/>
            <a:ext cx="3153886" cy="408940"/>
          </a:xfrm>
          <a:prstGeom prst="roundRect">
            <a:avLst>
              <a:gd name="adj" fmla="val 18634"/>
            </a:avLst>
          </a:prstGeom>
          <a:solidFill>
            <a:srgbClr val="F0EDE5"/>
          </a:solidFill>
          <a:ln/>
        </p:spPr>
      </p:sp>
      <p:sp>
        <p:nvSpPr>
          <p:cNvPr id="19" name="Text 13"/>
          <p:cNvSpPr/>
          <p:nvPr/>
        </p:nvSpPr>
        <p:spPr>
          <a:xfrm>
            <a:off x="7346520" y="2680333"/>
            <a:ext cx="2934559" cy="256540"/>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1C2733"/>
                </a:solidFill>
                <a:latin typeface="IBM Plex Sans" pitchFamily="34" charset="0"/>
                <a:ea typeface="IBM Plex Sans" pitchFamily="34" charset="-122"/>
                <a:cs typeface="IBM Plex Sans" pitchFamily="34" charset="-120"/>
              </a:rPr>
              <a:t>Nhãn POS = </a:t>
            </a:r>
            <a:r>
              <a:rPr lang="en-US" sz="1300" b="1" dirty="0">
                <a:solidFill>
                  <a:srgbClr val="1C2733"/>
                </a:solidFill>
                <a:latin typeface="IBM Plex Sans" pitchFamily="34" charset="0"/>
                <a:ea typeface="IBM Plex Sans" pitchFamily="34" charset="-122"/>
                <a:cs typeface="IBM Plex Sans" pitchFamily="34" charset="-120"/>
              </a:rPr>
              <a:t>JJ</a:t>
            </a:r>
            <a:r>
              <a:rPr lang="en-US" sz="1300" dirty="0">
                <a:solidFill>
                  <a:srgbClr val="1C2733"/>
                </a:solidFill>
                <a:latin typeface="IBM Plex Sans" pitchFamily="34" charset="0"/>
                <a:ea typeface="IBM Plex Sans" pitchFamily="34" charset="-122"/>
                <a:cs typeface="IBM Plex Sans" pitchFamily="34" charset="-120"/>
              </a:rPr>
              <a:t> → WordNet POS = </a:t>
            </a:r>
            <a:r>
              <a:rPr lang="en-US" sz="1300" b="1" dirty="0">
                <a:solidFill>
                  <a:srgbClr val="1C2733"/>
                </a:solidFill>
                <a:latin typeface="IBM Plex Sans" pitchFamily="34" charset="0"/>
                <a:ea typeface="IBM Plex Sans" pitchFamily="34" charset="-122"/>
                <a:cs typeface="IBM Plex Sans" pitchFamily="34" charset="-120"/>
              </a:rPr>
              <a:t>ADJ</a:t>
            </a:r>
            <a:endParaRPr lang="en-US" sz="1300" dirty="0"/>
          </a:p>
        </p:txBody>
      </p:sp>
      <p:pic>
        <p:nvPicPr>
          <p:cNvPr id="20" name="Image 4" descr="arrow-down">    </p:cNvPr>
          <p:cNvPicPr>
            <a:picLocks noChangeAspect="1"/>
          </p:cNvPicPr>
          <p:nvPr/>
        </p:nvPicPr>
        <p:blipFill>
          <a:blip r:embed="rId5"/>
          <a:srcRect l="0" r="0" t="0" b="0"/>
          <a:stretch/>
        </p:blipFill>
        <p:spPr>
          <a:xfrm>
            <a:off x="8743950" y="3063875"/>
            <a:ext cx="139700" cy="127000"/>
          </a:xfrm>
          <a:prstGeom prst="rect">
            <a:avLst/>
          </a:prstGeom>
        </p:spPr>
      </p:pic>
      <p:sp>
        <p:nvSpPr>
          <p:cNvPr id="21" name="Shape 14"/>
          <p:cNvSpPr/>
          <p:nvPr/>
        </p:nvSpPr>
        <p:spPr>
          <a:xfrm>
            <a:off x="6248400" y="3254375"/>
            <a:ext cx="5130800" cy="622300"/>
          </a:xfrm>
          <a:prstGeom prst="roundRect">
            <a:avLst>
              <a:gd name="adj" fmla="val 12245"/>
            </a:avLst>
          </a:prstGeom>
          <a:solidFill>
            <a:srgbClr val="F0EDE5"/>
          </a:solidFill>
          <a:ln/>
        </p:spPr>
      </p:sp>
      <p:sp>
        <p:nvSpPr>
          <p:cNvPr id="22" name="Text 15"/>
          <p:cNvSpPr/>
          <p:nvPr/>
        </p:nvSpPr>
        <p:spPr>
          <a:xfrm>
            <a:off x="6328410" y="3343275"/>
            <a:ext cx="4970780" cy="469900"/>
          </a:xfrm>
          <a:prstGeom prst="rect">
            <a:avLst/>
          </a:prstGeom>
          <a:noFill/>
          <a:ln/>
        </p:spPr>
        <p:txBody>
          <a:bodyPr wrap="square" lIns="0" tIns="0" rIns="0" bIns="0" rtlCol="0" anchor="t">
            <a:normAutofit/>
          </a:bodyPr>
          <a:lstStyle/>
          <a:p>
            <a:pPr algn="ctr" indent="0" marL="0">
              <a:lnSpc>
                <a:spcPts val="1750"/>
              </a:lnSpc>
              <a:buNone/>
            </a:pPr>
            <a:r>
              <a:rPr lang="en-US" sz="1250" dirty="0">
                <a:solidFill>
                  <a:srgbClr val="1C2733"/>
                </a:solidFill>
                <a:latin typeface="IBM Plex Sans" pitchFamily="34" charset="0"/>
                <a:ea typeface="IBM Plex Sans" pitchFamily="34" charset="-122"/>
                <a:cs typeface="IBM Plex Sans" pitchFamily="34" charset="-120"/>
              </a:rPr>
              <a:t>Tra từ điển WordNet(</a:t>
            </a:r>
            <a:r>
              <a:rPr lang="en-US" sz="1250" i="1" dirty="0">
                <a:solidFill>
                  <a:srgbClr val="1C2733"/>
                </a:solidFill>
                <a:latin typeface="IBM Plex Sans" pitchFamily="34" charset="0"/>
                <a:ea typeface="IBM Plex Sans" pitchFamily="34" charset="-122"/>
                <a:cs typeface="IBM Plex Sans" pitchFamily="34" charset="-120"/>
              </a:rPr>
              <a:t>used</a:t>
            </a:r>
            <a:r>
              <a:rPr lang="en-US" sz="1250" dirty="0">
                <a:solidFill>
                  <a:srgbClr val="1C2733"/>
                </a:solidFill>
                <a:latin typeface="IBM Plex Sans" pitchFamily="34" charset="0"/>
                <a:ea typeface="IBM Plex Sans" pitchFamily="34" charset="-122"/>
                <a:cs typeface="IBM Plex Sans" pitchFamily="34" charset="-120"/>
              </a:rPr>
              <a:t>, ADJ) → không khớp quy tắc biến cách nào</a:t>
            </a:r>
            <a:endParaRPr lang="en-US" sz="1250" dirty="0"/>
          </a:p>
        </p:txBody>
      </p:sp>
      <p:pic>
        <p:nvPicPr>
          <p:cNvPr id="23" name="Image 5" descr="arrow-down">    </p:cNvPr>
          <p:cNvPicPr>
            <a:picLocks noChangeAspect="1"/>
          </p:cNvPicPr>
          <p:nvPr/>
        </p:nvPicPr>
        <p:blipFill>
          <a:blip r:embed="rId6"/>
          <a:srcRect l="0" r="0" t="0" b="0"/>
          <a:stretch/>
        </p:blipFill>
        <p:spPr>
          <a:xfrm>
            <a:off x="8743950" y="3940175"/>
            <a:ext cx="139700" cy="127000"/>
          </a:xfrm>
          <a:prstGeom prst="rect">
            <a:avLst/>
          </a:prstGeom>
        </p:spPr>
      </p:pic>
      <p:sp>
        <p:nvSpPr>
          <p:cNvPr id="24" name="Shape 16"/>
          <p:cNvSpPr/>
          <p:nvPr/>
        </p:nvSpPr>
        <p:spPr>
          <a:xfrm>
            <a:off x="7901067" y="4137025"/>
            <a:ext cx="1825466" cy="495300"/>
          </a:xfrm>
          <a:prstGeom prst="roundRect">
            <a:avLst>
              <a:gd name="adj" fmla="val 14103"/>
            </a:avLst>
          </a:prstGeom>
          <a:solidFill>
            <a:srgbClr val="FBF1E0"/>
          </a:solidFill>
          <a:ln w="12700">
            <a:solidFill>
              <a:srgbClr val="D9B577"/>
            </a:solidFill>
            <a:prstDash val="solid"/>
          </a:ln>
        </p:spPr>
      </p:sp>
      <p:sp>
        <p:nvSpPr>
          <p:cNvPr id="25" name="Text 17"/>
          <p:cNvSpPr/>
          <p:nvPr/>
        </p:nvSpPr>
        <p:spPr>
          <a:xfrm>
            <a:off x="8031877" y="4242433"/>
            <a:ext cx="1563846" cy="30988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1C2733"/>
                </a:solidFill>
                <a:latin typeface="IBM Plex Sans" pitchFamily="34" charset="0"/>
                <a:ea typeface="IBM Plex Sans" pitchFamily="34" charset="-122"/>
                <a:cs typeface="IBM Plex Sans" pitchFamily="34" charset="-120"/>
              </a:rPr>
              <a:t>lemma = "used"</a:t>
            </a:r>
            <a:endParaRPr lang="en-US" sz="1600" dirty="0"/>
          </a:p>
        </p:txBody>
      </p:sp>
      <p:sp>
        <p:nvSpPr>
          <p:cNvPr id="26" name="Shape 18"/>
          <p:cNvSpPr/>
          <p:nvPr/>
        </p:nvSpPr>
        <p:spPr>
          <a:xfrm>
            <a:off x="812800" y="5125727"/>
            <a:ext cx="10566400" cy="716280"/>
          </a:xfrm>
          <a:prstGeom prst="roundRect">
            <a:avLst>
              <a:gd name="adj" fmla="val 14184"/>
            </a:avLst>
          </a:prstGeom>
          <a:solidFill>
            <a:srgbClr val="1C2733"/>
          </a:solidFill>
          <a:ln/>
        </p:spPr>
      </p:sp>
      <p:sp>
        <p:nvSpPr>
          <p:cNvPr id="27" name="Text 19"/>
          <p:cNvSpPr/>
          <p:nvPr/>
        </p:nvSpPr>
        <p:spPr>
          <a:xfrm>
            <a:off x="990600" y="5252727"/>
            <a:ext cx="10517124"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AF9F5"/>
                </a:solidFill>
                <a:latin typeface="IBM Plex Sans" pitchFamily="34" charset="0"/>
                <a:ea typeface="IBM Plex Sans" pitchFamily="34" charset="-122"/>
                <a:cs typeface="IBM Plex Sans" pitchFamily="34" charset="-120"/>
              </a:rPr>
              <a:t>Từ điển tra theo </a:t>
            </a:r>
            <a:r>
              <a:rPr lang="en-US" sz="1300" b="1" dirty="0">
                <a:solidFill>
                  <a:srgbClr val="FAF9F5"/>
                </a:solidFill>
                <a:latin typeface="IBM Plex Sans" pitchFamily="34" charset="0"/>
                <a:ea typeface="IBM Plex Sans" pitchFamily="34" charset="-122"/>
                <a:cs typeface="IBM Plex Sans" pitchFamily="34" charset="-120"/>
              </a:rPr>
              <a:t>CẶP (từ, từ loại)</a:t>
            </a:r>
            <a:r>
              <a:rPr lang="en-US" sz="1300" dirty="0">
                <a:solidFill>
                  <a:srgbClr val="FAF9F5"/>
                </a:solidFill>
                <a:latin typeface="IBM Plex Sans" pitchFamily="34" charset="0"/>
                <a:ea typeface="IBM Plex Sans" pitchFamily="34" charset="-122"/>
                <a:cs typeface="IBM Plex Sans" pitchFamily="34" charset="-120"/>
              </a:rPr>
              <a:t>, không phải chỉ theo từ đơn thuần. Gộp thống kê qua toàn corpus → đúng trọng số </a:t>
            </a:r>
            <a:r>
              <a:rPr lang="en-US" sz="1300" b="1" dirty="0">
                <a:solidFill>
                  <a:srgbClr val="FAF9F5"/>
                </a:solidFill>
                <a:latin typeface="IBM Plex Sans" pitchFamily="34" charset="0"/>
                <a:ea typeface="IBM Plex Sans" pitchFamily="34" charset="-122"/>
                <a:cs typeface="IBM Plex Sans" pitchFamily="34" charset="-120"/>
              </a:rPr>
              <a:t>0,935 / 0,065</a:t>
            </a:r>
            <a:r>
              <a:rPr lang="en-US" sz="1300" dirty="0">
                <a:solidFill>
                  <a:srgbClr val="FAF9F5"/>
                </a:solidFill>
                <a:latin typeface="IBM Plex Sans" pitchFamily="34" charset="0"/>
                <a:ea typeface="IBM Plex Sans" pitchFamily="34" charset="-122"/>
                <a:cs typeface="IBM Plex Sans" pitchFamily="34" charset="-120"/>
              </a:rPr>
              <a:t> đã thấy ở cây taxonomy.</a:t>
            </a:r>
            <a:endParaRPr lang="en-US" sz="1300" dirty="0"/>
          </a:p>
        </p:txBody>
      </p:sp>
      <p:sp>
        <p:nvSpPr>
          <p:cNvPr id="28" name="Text 20"/>
          <p:cNvSpPr/>
          <p:nvPr/>
        </p:nvSpPr>
        <p:spPr>
          <a:xfrm>
            <a:off x="812800" y="6238242"/>
            <a:ext cx="54689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199"/>
                </a:solidFill>
                <a:latin typeface="IBM Plex Sans" pitchFamily="34" charset="0"/>
                <a:ea typeface="IBM Plex Sans" pitchFamily="34" charset="-122"/>
                <a:cs typeface="IBM Plex Sans" pitchFamily="34" charset="-120"/>
              </a:rPr>
              <a:t>18 / 34</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863B"/>
                </a:solidFill>
                <a:latin typeface="IBM Plex Sans" pitchFamily="34" charset="0"/>
                <a:ea typeface="IBM Plex Sans" pitchFamily="34" charset="-122"/>
                <a:cs typeface="IBM Plex Sans" pitchFamily="34" charset="-120"/>
              </a:rPr>
              <a:t>ĐÓNG GÓP DỮ LIỆU</a:t>
            </a:r>
            <a:endParaRPr lang="en-US" sz="1200" dirty="0"/>
          </a:p>
        </p:txBody>
      </p:sp>
      <p:sp>
        <p:nvSpPr>
          <p:cNvPr id="3" name="Text 1"/>
          <p:cNvSpPr/>
          <p:nvPr/>
        </p:nvSpPr>
        <p:spPr>
          <a:xfrm>
            <a:off x="812800" y="1064258"/>
            <a:ext cx="10883392" cy="34671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C2733"/>
                </a:solidFill>
                <a:latin typeface="EB Garamond" pitchFamily="34" charset="0"/>
                <a:ea typeface="EB Garamond" pitchFamily="34" charset="-122"/>
                <a:cs typeface="EB Garamond" pitchFamily="34" charset="-120"/>
              </a:rPr>
              <a:t>fast_align sinh trọng số taxonomy như thế nào</a:t>
            </a:r>
            <a:endParaRPr lang="en-US" sz="2200" dirty="0"/>
          </a:p>
        </p:txBody>
      </p:sp>
      <p:sp>
        <p:nvSpPr>
          <p:cNvPr id="4" name="Text 2"/>
          <p:cNvSpPr/>
          <p:nvPr/>
        </p:nvSpPr>
        <p:spPr>
          <a:xfrm>
            <a:off x="812800" y="1512577"/>
            <a:ext cx="10883392"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4A5568"/>
                </a:solidFill>
                <a:latin typeface="IBM Plex Sans" pitchFamily="34" charset="0"/>
                <a:ea typeface="IBM Plex Sans" pitchFamily="34" charset="-122"/>
                <a:cs typeface="IBM Plex Sans" pitchFamily="34" charset="-120"/>
              </a:rPr>
              <a:t>Giả sử "nhà" xuất hiện trong 10 câu của corpus, được dịch sang 3 từ khác nhau:</a:t>
            </a:r>
            <a:endParaRPr lang="en-US" sz="12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1871987"/>
          <a:ext cx="10556240" cy="1371600"/>
        </p:xfrm>
        <a:graphic>
          <a:graphicData uri="http://schemas.openxmlformats.org/drawingml/2006/table">
            <a:tbl>
              <a:tblPr/>
              <a:tblGrid>
                <a:gridCol w="5278120"/>
                <a:gridCol w="5278120"/>
              </a:tblGrid>
              <a:tr h="342900">
                <a:tc>
                  <a:txBody>
                    <a:bodyPr/>
                    <a:lstStyle/>
                    <a:p>
                      <a:pPr indent="0" marL="0">
                        <a:lnSpc>
                          <a:spcPts val="1820"/>
                        </a:lnSpc>
                        <a:buNone/>
                      </a:pPr>
                      <a:r>
                        <a:rPr lang="en-US" sz="1300" b="1" dirty="0">
                          <a:solidFill>
                            <a:srgbClr val="FAF9F5"/>
                          </a:solidFill>
                          <a:latin typeface="IBM Plex Sans" pitchFamily="34" charset="0"/>
                          <a:ea typeface="IBM Plex Sans" pitchFamily="34" charset="-122"/>
                          <a:cs typeface="IBM Plex Sans" pitchFamily="34" charset="-120"/>
                        </a:rPr>
                        <a:t>Bản dịch cùng "nhà"</a:t>
                      </a:r>
                      <a:endParaRPr lang="en-US" sz="1300" dirty="0">
                        <a:latin typeface="IBM Plex Sans" charset="0"/>
                        <a:ea typeface="IBM Plex Sans" charset="0"/>
                        <a:cs typeface="IBM Plex Sans" charset="0"/>
                      </a:endParaRPr>
                    </a:p>
                  </a:txBody>
                  <a:tcPr marL="101600" marR="101600" marT="50800" marB="50800" anchor="t">
                    <a:lnL w="12700" cap="flat" cmpd="sng" algn="ctr">
                      <a:solidFill>
                        <a:srgbClr val="C7C7C3"/>
                      </a:solidFill>
                      <a:prstDash val="solid"/>
                      <a:round/>
                      <a:headEnd type="none" w="med" len="med"/>
                      <a:tailEnd type="none" w="med" len="med"/>
                    </a:lnL>
                    <a:lnR w="12700" cap="flat" cmpd="sng" algn="ctr">
                      <a:solidFill>
                        <a:srgbClr val="1A232C"/>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1A232C"/>
                      </a:solidFill>
                      <a:prstDash val="solid"/>
                      <a:round/>
                      <a:headEnd type="none" w="med" len="med"/>
                      <a:tailEnd type="none" w="med" len="med"/>
                    </a:lnB>
                    <a:solidFill>
                      <a:srgbClr val="1C2733"/>
                    </a:solidFill>
                  </a:tcPr>
                </a:tc>
                <a:tc>
                  <a:txBody>
                    <a:bodyPr/>
                    <a:lstStyle/>
                    <a:p>
                      <a:pPr algn="r" indent="0" marL="0">
                        <a:lnSpc>
                          <a:spcPts val="1820"/>
                        </a:lnSpc>
                        <a:buNone/>
                      </a:pPr>
                      <a:r>
                        <a:rPr lang="en-US" sz="1300" b="1" dirty="0">
                          <a:solidFill>
                            <a:srgbClr val="FAF9F5"/>
                          </a:solidFill>
                          <a:latin typeface="IBM Plex Sans" pitchFamily="34" charset="0"/>
                          <a:ea typeface="IBM Plex Sans" pitchFamily="34" charset="-122"/>
                          <a:cs typeface="IBM Plex Sans" pitchFamily="34" charset="-120"/>
                        </a:rPr>
                        <a:t>Số câu</a:t>
                      </a:r>
                      <a:endParaRPr lang="en-US" sz="1300" dirty="0">
                        <a:latin typeface="IBM Plex Sans" charset="0"/>
                        <a:ea typeface="IBM Plex Sans" charset="0"/>
                        <a:cs typeface="IBM Plex Sans" charset="0"/>
                      </a:endParaRPr>
                    </a:p>
                  </a:txBody>
                  <a:tcPr marL="101600" marR="101600" marT="50800" marB="50800" anchor="t">
                    <a:lnL w="12700" cap="flat" cmpd="sng" algn="ctr">
                      <a:solidFill>
                        <a:srgbClr val="1A232C"/>
                      </a:solidFill>
                      <a:prstDash val="solid"/>
                      <a:round/>
                      <a:headEnd type="none" w="med" len="med"/>
                      <a:tailEnd type="none" w="med" len="med"/>
                    </a:lnL>
                    <a:lnR w="12700" cap="flat" cmpd="sng" algn="ctr">
                      <a:solidFill>
                        <a:srgbClr val="1A232C"/>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1A232C"/>
                      </a:solidFill>
                      <a:prstDash val="solid"/>
                      <a:round/>
                      <a:headEnd type="none" w="med" len="med"/>
                      <a:tailEnd type="none" w="med" len="med"/>
                    </a:lnB>
                    <a:solidFill>
                      <a:srgbClr val="1C2733"/>
                    </a:solidFill>
                  </a:tcPr>
                </a:tc>
              </a:tr>
              <a:tr h="342900">
                <a:tc>
                  <a:txBody>
                    <a:bodyPr/>
                    <a:lstStyle/>
                    <a:p>
                      <a:pPr indent="0" marL="0">
                        <a:lnSpc>
                          <a:spcPts val="1820"/>
                        </a:lnSpc>
                        <a:buNone/>
                      </a:pPr>
                      <a:r>
                        <a:rPr lang="en-US" sz="1300" dirty="0">
                          <a:solidFill>
                            <a:srgbClr val="1C2733"/>
                          </a:solidFill>
                          <a:latin typeface="IBM Plex Sans" pitchFamily="34" charset="0"/>
                          <a:ea typeface="IBM Plex Sans" pitchFamily="34" charset="-122"/>
                          <a:cs typeface="IBM Plex Sans" pitchFamily="34" charset="-120"/>
                        </a:rPr>
                        <a:t>house</a:t>
                      </a:r>
                      <a:endParaRPr lang="en-US" sz="1300" dirty="0">
                        <a:latin typeface="IBM Plex Sans" charset="0"/>
                        <a:ea typeface="IBM Plex Sans" charset="0"/>
                        <a:cs typeface="IBM Plex Sans" charset="0"/>
                      </a:endParaRPr>
                    </a:p>
                  </a:txBody>
                  <a:tcPr marL="101600" marR="101600" marT="50800" marB="50800" anchor="t">
                    <a:lnL w="12700" cap="flat" cmpd="sng" algn="ctr">
                      <a:solidFill>
                        <a:srgbClr val="C7C7C3"/>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A232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r" indent="0" marL="0">
                        <a:lnSpc>
                          <a:spcPts val="1820"/>
                        </a:lnSpc>
                        <a:buNone/>
                      </a:pPr>
                      <a:r>
                        <a:rPr lang="en-US" sz="1300" dirty="0">
                          <a:solidFill>
                            <a:srgbClr val="1C2733"/>
                          </a:solidFill>
                          <a:latin typeface="IBM Plex Sans" pitchFamily="34" charset="0"/>
                          <a:ea typeface="IBM Plex Sans" pitchFamily="34" charset="-122"/>
                          <a:cs typeface="IBM Plex Sans" pitchFamily="34" charset="-120"/>
                        </a:rPr>
                        <a:t>6</a:t>
                      </a:r>
                      <a:endParaRPr lang="en-US" sz="1300" dirty="0">
                        <a:latin typeface="IBM Plex Sans" charset="0"/>
                        <a:ea typeface="IBM Plex Sans" charset="0"/>
                        <a:cs typeface="IBM Plex Sans" charset="0"/>
                      </a:endParaRPr>
                    </a:p>
                  </a:txBody>
                  <a:tcPr marL="101600" marR="1016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A232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42900">
                <a:tc>
                  <a:txBody>
                    <a:bodyPr/>
                    <a:lstStyle/>
                    <a:p>
                      <a:pPr indent="0" marL="0">
                        <a:lnSpc>
                          <a:spcPts val="1820"/>
                        </a:lnSpc>
                        <a:buNone/>
                      </a:pPr>
                      <a:r>
                        <a:rPr lang="en-US" sz="1300" dirty="0">
                          <a:solidFill>
                            <a:srgbClr val="1C2733"/>
                          </a:solidFill>
                          <a:latin typeface="IBM Plex Sans" pitchFamily="34" charset="0"/>
                          <a:ea typeface="IBM Plex Sans" pitchFamily="34" charset="-122"/>
                          <a:cs typeface="IBM Plex Sans" pitchFamily="34" charset="-120"/>
                        </a:rPr>
                        <a:t>home</a:t>
                      </a:r>
                      <a:endParaRPr lang="en-US" sz="1300" dirty="0">
                        <a:latin typeface="IBM Plex Sans" charset="0"/>
                        <a:ea typeface="IBM Plex Sans" charset="0"/>
                        <a:cs typeface="IBM Plex Sans" charset="0"/>
                      </a:endParaRPr>
                    </a:p>
                  </a:txBody>
                  <a:tcPr marL="101600" marR="101600" marT="50800" marB="50800" anchor="t">
                    <a:lnL w="12700" cap="flat" cmpd="sng" algn="ctr">
                      <a:solidFill>
                        <a:srgbClr val="C7C7C3"/>
                      </a:solidFill>
                      <a:prstDash val="solid"/>
                      <a:round/>
                      <a:headEnd type="none" w="med" len="med"/>
                      <a:tailEnd type="none" w="med" len="med"/>
                    </a:lnL>
                    <a:lnR w="12700" cap="flat" cmpd="sng" algn="ctr">
                      <a:solidFill>
                        <a:srgbClr val="C0BDB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c>
                  <a:txBody>
                    <a:bodyPr/>
                    <a:lstStyle/>
                    <a:p>
                      <a:pPr algn="r" indent="0" marL="0">
                        <a:lnSpc>
                          <a:spcPts val="1820"/>
                        </a:lnSpc>
                        <a:buNone/>
                      </a:pPr>
                      <a:r>
                        <a:rPr lang="en-US" sz="1300" dirty="0">
                          <a:solidFill>
                            <a:srgbClr val="1C2733"/>
                          </a:solidFill>
                          <a:latin typeface="IBM Plex Sans" pitchFamily="34" charset="0"/>
                          <a:ea typeface="IBM Plex Sans" pitchFamily="34" charset="-122"/>
                          <a:cs typeface="IBM Plex Sans" pitchFamily="34" charset="-120"/>
                        </a:rPr>
                        <a:t>3</a:t>
                      </a:r>
                      <a:endParaRPr lang="en-US" sz="1300" dirty="0">
                        <a:latin typeface="IBM Plex Sans" charset="0"/>
                        <a:ea typeface="IBM Plex Sans" charset="0"/>
                        <a:cs typeface="IBM Plex Sans" charset="0"/>
                      </a:endParaRPr>
                    </a:p>
                  </a:txBody>
                  <a:tcPr marL="101600" marR="101600" marT="50800" marB="50800" anchor="t">
                    <a:lnL w="12700" cap="flat" cmpd="sng" algn="ctr">
                      <a:solidFill>
                        <a:srgbClr val="C0BDB7"/>
                      </a:solidFill>
                      <a:prstDash val="solid"/>
                      <a:round/>
                      <a:headEnd type="none" w="med" len="med"/>
                      <a:tailEnd type="none" w="med" len="med"/>
                    </a:lnL>
                    <a:lnR w="12700" cap="flat" cmpd="sng" algn="ctr">
                      <a:solidFill>
                        <a:srgbClr val="C0BDB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r>
              <a:tr h="342900">
                <a:tc>
                  <a:txBody>
                    <a:bodyPr/>
                    <a:lstStyle/>
                    <a:p>
                      <a:pPr indent="0" marL="0">
                        <a:lnSpc>
                          <a:spcPts val="1820"/>
                        </a:lnSpc>
                        <a:buNone/>
                      </a:pPr>
                      <a:r>
                        <a:rPr lang="en-US" sz="1300" dirty="0">
                          <a:solidFill>
                            <a:srgbClr val="1C2733"/>
                          </a:solidFill>
                          <a:latin typeface="IBM Plex Sans" pitchFamily="34" charset="0"/>
                          <a:ea typeface="IBM Plex Sans" pitchFamily="34" charset="-122"/>
                          <a:cs typeface="IBM Plex Sans" pitchFamily="34" charset="-120"/>
                        </a:rPr>
                        <a:t>building</a:t>
                      </a:r>
                      <a:endParaRPr lang="en-US" sz="1300" dirty="0">
                        <a:latin typeface="IBM Plex Sans" charset="0"/>
                        <a:ea typeface="IBM Plex Sans" charset="0"/>
                        <a:cs typeface="IBM Plex Sans" charset="0"/>
                      </a:endParaRPr>
                    </a:p>
                  </a:txBody>
                  <a:tcPr marL="101600" marR="101600" marT="50800" marB="50800" anchor="t">
                    <a:lnL w="12700" cap="flat" cmpd="sng" algn="ctr">
                      <a:solidFill>
                        <a:srgbClr val="C7C7C3"/>
                      </a:solidFill>
                      <a:prstDash val="solid"/>
                      <a:round/>
                      <a:headEnd type="none" w="med" len="med"/>
                      <a:tailEnd type="none" w="med" len="med"/>
                    </a:lnL>
                    <a:lnR w="12700" cap="flat" cmpd="sng" algn="ctr">
                      <a:solidFill>
                        <a:srgbClr val="C8C0B3"/>
                      </a:solidFill>
                      <a:prstDash val="solid"/>
                      <a:round/>
                      <a:headEnd type="none" w="med" len="med"/>
                      <a:tailEnd type="none" w="med" len="med"/>
                    </a:lnR>
                    <a:lnT w="12700" cap="flat" cmpd="sng" algn="ctr">
                      <a:solidFill>
                        <a:srgbClr val="C0BDB7"/>
                      </a:solidFill>
                      <a:prstDash val="solid"/>
                      <a:round/>
                      <a:headEnd type="none" w="med" len="med"/>
                      <a:tailEnd type="none" w="med" len="med"/>
                    </a:lnT>
                    <a:lnB w="12700" cap="flat" cmpd="sng" algn="ctr">
                      <a:solidFill>
                        <a:srgbClr val="C8C0B3"/>
                      </a:solidFill>
                      <a:prstDash val="solid"/>
                      <a:round/>
                      <a:headEnd type="none" w="med" len="med"/>
                      <a:tailEnd type="none" w="med" len="med"/>
                    </a:lnB>
                    <a:solidFill>
                      <a:srgbClr val="FBF1E0"/>
                    </a:solidFill>
                  </a:tcPr>
                </a:tc>
                <a:tc>
                  <a:txBody>
                    <a:bodyPr/>
                    <a:lstStyle/>
                    <a:p>
                      <a:pPr algn="r" indent="0" marL="0">
                        <a:lnSpc>
                          <a:spcPts val="1820"/>
                        </a:lnSpc>
                        <a:buNone/>
                      </a:pPr>
                      <a:r>
                        <a:rPr lang="en-US" sz="1300" dirty="0">
                          <a:solidFill>
                            <a:srgbClr val="1C2733"/>
                          </a:solidFill>
                          <a:latin typeface="IBM Plex Sans" pitchFamily="34" charset="0"/>
                          <a:ea typeface="IBM Plex Sans" pitchFamily="34" charset="-122"/>
                          <a:cs typeface="IBM Plex Sans" pitchFamily="34" charset="-120"/>
                        </a:rPr>
                        <a:t>1</a:t>
                      </a:r>
                      <a:endParaRPr lang="en-US" sz="1300" dirty="0">
                        <a:latin typeface="IBM Plex Sans" charset="0"/>
                        <a:ea typeface="IBM Plex Sans" charset="0"/>
                        <a:cs typeface="IBM Plex Sans" charset="0"/>
                      </a:endParaRPr>
                    </a:p>
                  </a:txBody>
                  <a:tcPr marL="101600" marR="101600" marT="50800" marB="50800" anchor="t">
                    <a:lnL w="12700" cap="flat" cmpd="sng" algn="ctr">
                      <a:solidFill>
                        <a:srgbClr val="C8C0B3"/>
                      </a:solidFill>
                      <a:prstDash val="solid"/>
                      <a:round/>
                      <a:headEnd type="none" w="med" len="med"/>
                      <a:tailEnd type="none" w="med" len="med"/>
                    </a:lnL>
                    <a:lnR w="12700" cap="flat" cmpd="sng" algn="ctr">
                      <a:solidFill>
                        <a:srgbClr val="C8C0B3"/>
                      </a:solidFill>
                      <a:prstDash val="solid"/>
                      <a:round/>
                      <a:headEnd type="none" w="med" len="med"/>
                      <a:tailEnd type="none" w="med" len="med"/>
                    </a:lnR>
                    <a:lnT w="12700" cap="flat" cmpd="sng" algn="ctr">
                      <a:solidFill>
                        <a:srgbClr val="C0BDB7"/>
                      </a:solidFill>
                      <a:prstDash val="solid"/>
                      <a:round/>
                      <a:headEnd type="none" w="med" len="med"/>
                      <a:tailEnd type="none" w="med" len="med"/>
                    </a:lnT>
                    <a:lnB w="12700" cap="flat" cmpd="sng" algn="ctr">
                      <a:solidFill>
                        <a:srgbClr val="C8C0B3"/>
                      </a:solidFill>
                      <a:prstDash val="solid"/>
                      <a:round/>
                      <a:headEnd type="none" w="med" len="med"/>
                      <a:tailEnd type="none" w="med" len="med"/>
                    </a:lnB>
                    <a:solidFill>
                      <a:srgbClr val="FBF1E0"/>
                    </a:solidFill>
                  </a:tcPr>
                </a:tc>
              </a:tr>
            </a:tbl>
          </a:graphicData>
        </a:graphic>
      </p:graphicFrame>
      <p:sp>
        <p:nvSpPr>
          <p:cNvPr id="6" name="Shape 3"/>
          <p:cNvSpPr/>
          <p:nvPr/>
        </p:nvSpPr>
        <p:spPr>
          <a:xfrm>
            <a:off x="815975" y="3373760"/>
            <a:ext cx="3427730" cy="1397000"/>
          </a:xfrm>
          <a:prstGeom prst="roundRect">
            <a:avLst>
              <a:gd name="adj" fmla="val 6136"/>
            </a:avLst>
          </a:prstGeom>
          <a:solidFill>
            <a:srgbClr val="FFFFFF"/>
          </a:solidFill>
          <a:ln w="6350">
            <a:solidFill>
              <a:srgbClr val="E3DDD0"/>
            </a:solidFill>
            <a:prstDash val="solid"/>
          </a:ln>
        </p:spPr>
      </p:sp>
      <p:sp>
        <p:nvSpPr>
          <p:cNvPr id="7" name="Text 4"/>
          <p:cNvSpPr/>
          <p:nvPr/>
        </p:nvSpPr>
        <p:spPr>
          <a:xfrm>
            <a:off x="944880" y="3489958"/>
            <a:ext cx="3265018" cy="220980"/>
          </a:xfrm>
          <a:prstGeom prst="rect">
            <a:avLst/>
          </a:prstGeom>
          <a:noFill/>
          <a:ln/>
        </p:spPr>
        <p:txBody>
          <a:bodyPr wrap="square" lIns="0" tIns="0" rIns="0" bIns="0" rtlCol="0" anchor="t">
            <a:normAutofit/>
          </a:bodyPr>
          <a:lstStyle/>
          <a:p>
            <a:pPr algn="l" indent="0" marL="0">
              <a:lnSpc>
                <a:spcPts val="1540"/>
              </a:lnSpc>
              <a:buNone/>
            </a:pPr>
            <a:r>
              <a:rPr lang="en-US" sz="1100" b="1" dirty="0">
                <a:solidFill>
                  <a:srgbClr val="B8863B"/>
                </a:solidFill>
                <a:latin typeface="IBM Plex Sans" pitchFamily="34" charset="0"/>
                <a:ea typeface="IBM Plex Sans" pitchFamily="34" charset="-122"/>
                <a:cs typeface="IBM Plex Sans" pitchFamily="34" charset="-120"/>
              </a:rPr>
              <a:t>① EM hội tụ ≈ tỉ lệ tần suất</a:t>
            </a:r>
            <a:endParaRPr lang="en-US" sz="1100" dirty="0"/>
          </a:p>
        </p:txBody>
      </p:sp>
      <p:sp>
        <p:nvSpPr>
          <p:cNvPr id="8" name="Text 5"/>
          <p:cNvSpPr/>
          <p:nvPr/>
        </p:nvSpPr>
        <p:spPr>
          <a:xfrm>
            <a:off x="944880" y="3736342"/>
            <a:ext cx="3265018" cy="22987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1C2733"/>
                </a:solidFill>
                <a:latin typeface="IBM Plex Sans" pitchFamily="34" charset="0"/>
                <a:ea typeface="IBM Plex Sans" pitchFamily="34" charset="-122"/>
                <a:cs typeface="IBM Plex Sans" pitchFamily="34" charset="-120"/>
              </a:rPr>
              <a:t>T(house|nhà) ≈ 6/10 = </a:t>
            </a:r>
            <a:r>
              <a:rPr lang="en-US" sz="1150" b="1" dirty="0">
                <a:solidFill>
                  <a:srgbClr val="1C2733"/>
                </a:solidFill>
                <a:latin typeface="IBM Plex Sans" pitchFamily="34" charset="0"/>
                <a:ea typeface="IBM Plex Sans" pitchFamily="34" charset="-122"/>
                <a:cs typeface="IBM Plex Sans" pitchFamily="34" charset="-120"/>
              </a:rPr>
              <a:t>0,6</a:t>
            </a:r>
            <a:endParaRPr lang="en-US" sz="1150" dirty="0"/>
          </a:p>
        </p:txBody>
      </p:sp>
      <p:sp>
        <p:nvSpPr>
          <p:cNvPr id="9" name="Text 6"/>
          <p:cNvSpPr/>
          <p:nvPr/>
        </p:nvSpPr>
        <p:spPr>
          <a:xfrm>
            <a:off x="944880" y="3991608"/>
            <a:ext cx="3265018" cy="22987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1C2733"/>
                </a:solidFill>
                <a:latin typeface="IBM Plex Sans" pitchFamily="34" charset="0"/>
                <a:ea typeface="IBM Plex Sans" pitchFamily="34" charset="-122"/>
                <a:cs typeface="IBM Plex Sans" pitchFamily="34" charset="-120"/>
              </a:rPr>
              <a:t>T(home|nhà) ≈ 3/10 = </a:t>
            </a:r>
            <a:r>
              <a:rPr lang="en-US" sz="1150" b="1" dirty="0">
                <a:solidFill>
                  <a:srgbClr val="1C2733"/>
                </a:solidFill>
                <a:latin typeface="IBM Plex Sans" pitchFamily="34" charset="0"/>
                <a:ea typeface="IBM Plex Sans" pitchFamily="34" charset="-122"/>
                <a:cs typeface="IBM Plex Sans" pitchFamily="34" charset="-120"/>
              </a:rPr>
              <a:t>0,3</a:t>
            </a:r>
            <a:endParaRPr lang="en-US" sz="1150" dirty="0"/>
          </a:p>
        </p:txBody>
      </p:sp>
      <p:sp>
        <p:nvSpPr>
          <p:cNvPr id="10" name="Text 7"/>
          <p:cNvSpPr/>
          <p:nvPr/>
        </p:nvSpPr>
        <p:spPr>
          <a:xfrm>
            <a:off x="944880" y="4246885"/>
            <a:ext cx="3265018" cy="22987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1C2733"/>
                </a:solidFill>
                <a:latin typeface="IBM Plex Sans" pitchFamily="34" charset="0"/>
                <a:ea typeface="IBM Plex Sans" pitchFamily="34" charset="-122"/>
                <a:cs typeface="IBM Plex Sans" pitchFamily="34" charset="-120"/>
              </a:rPr>
              <a:t>T(building|nhà) ≈ 1/10 = </a:t>
            </a:r>
            <a:r>
              <a:rPr lang="en-US" sz="1150" b="1" dirty="0">
                <a:solidFill>
                  <a:srgbClr val="1C2733"/>
                </a:solidFill>
                <a:latin typeface="IBM Plex Sans" pitchFamily="34" charset="0"/>
                <a:ea typeface="IBM Plex Sans" pitchFamily="34" charset="-122"/>
                <a:cs typeface="IBM Plex Sans" pitchFamily="34" charset="-120"/>
              </a:rPr>
              <a:t>0,1</a:t>
            </a:r>
            <a:endParaRPr lang="en-US" sz="1150" dirty="0"/>
          </a:p>
        </p:txBody>
      </p:sp>
      <p:sp>
        <p:nvSpPr>
          <p:cNvPr id="11" name="Shape 8"/>
          <p:cNvSpPr/>
          <p:nvPr/>
        </p:nvSpPr>
        <p:spPr>
          <a:xfrm>
            <a:off x="4377055" y="3373760"/>
            <a:ext cx="3427730" cy="1397000"/>
          </a:xfrm>
          <a:prstGeom prst="roundRect">
            <a:avLst>
              <a:gd name="adj" fmla="val 6136"/>
            </a:avLst>
          </a:prstGeom>
          <a:solidFill>
            <a:srgbClr val="FFFFFF"/>
          </a:solidFill>
          <a:ln w="6350">
            <a:solidFill>
              <a:srgbClr val="E3DDD0"/>
            </a:solidFill>
            <a:prstDash val="solid"/>
          </a:ln>
        </p:spPr>
      </p:sp>
      <p:sp>
        <p:nvSpPr>
          <p:cNvPr id="12" name="Text 9"/>
          <p:cNvSpPr/>
          <p:nvPr/>
        </p:nvSpPr>
        <p:spPr>
          <a:xfrm>
            <a:off x="4505960" y="3489958"/>
            <a:ext cx="3265018" cy="215900"/>
          </a:xfrm>
          <a:prstGeom prst="rect">
            <a:avLst/>
          </a:prstGeom>
          <a:noFill/>
          <a:ln/>
        </p:spPr>
        <p:txBody>
          <a:bodyPr wrap="square" lIns="0" tIns="0" rIns="0" bIns="0" rtlCol="0" anchor="t">
            <a:normAutofit/>
          </a:bodyPr>
          <a:lstStyle/>
          <a:p>
            <a:pPr algn="l" indent="0" marL="0">
              <a:lnSpc>
                <a:spcPts val="1521"/>
              </a:lnSpc>
              <a:buNone/>
            </a:pPr>
            <a:r>
              <a:rPr lang="en-US" sz="1086" b="1" dirty="0">
                <a:solidFill>
                  <a:srgbClr val="B8863B"/>
                </a:solidFill>
                <a:latin typeface="IBM Plex Sans" pitchFamily="34" charset="0"/>
                <a:ea typeface="IBM Plex Sans" pitchFamily="34" charset="-122"/>
                <a:cs typeface="IBM Plex Sans" pitchFamily="34" charset="-120"/>
              </a:rPr>
              <a:t>② Copy thẳng làm trọng số</a:t>
            </a:r>
            <a:endParaRPr lang="en-US" sz="1086" dirty="0"/>
          </a:p>
        </p:txBody>
      </p:sp>
      <p:sp>
        <p:nvSpPr>
          <p:cNvPr id="13" name="Text 10"/>
          <p:cNvSpPr/>
          <p:nvPr/>
        </p:nvSpPr>
        <p:spPr>
          <a:xfrm>
            <a:off x="4505960" y="3731258"/>
            <a:ext cx="3265018" cy="224631"/>
          </a:xfrm>
          <a:prstGeom prst="rect">
            <a:avLst/>
          </a:prstGeom>
          <a:noFill/>
          <a:ln/>
        </p:spPr>
        <p:txBody>
          <a:bodyPr wrap="square" lIns="0" tIns="0" rIns="0" bIns="0" rtlCol="0" anchor="t">
            <a:normAutofit/>
          </a:bodyPr>
          <a:lstStyle/>
          <a:p>
            <a:pPr algn="l" indent="0" marL="0">
              <a:lnSpc>
                <a:spcPts val="1570"/>
              </a:lnSpc>
              <a:buNone/>
            </a:pPr>
            <a:r>
              <a:rPr lang="en-US" sz="1121" dirty="0">
                <a:solidFill>
                  <a:srgbClr val="1C2733"/>
                </a:solidFill>
                <a:latin typeface="IBM Plex Sans" pitchFamily="34" charset="0"/>
                <a:ea typeface="IBM Plex Sans" pitchFamily="34" charset="-122"/>
                <a:cs typeface="IBM Plex Sans" pitchFamily="34" charset="-120"/>
              </a:rPr>
              <a:t>nhà → house  (0,6)</a:t>
            </a:r>
            <a:endParaRPr lang="en-US" sz="1121" dirty="0"/>
          </a:p>
        </p:txBody>
      </p:sp>
      <p:sp>
        <p:nvSpPr>
          <p:cNvPr id="14" name="Text 11"/>
          <p:cNvSpPr/>
          <p:nvPr/>
        </p:nvSpPr>
        <p:spPr>
          <a:xfrm>
            <a:off x="4505960" y="3981289"/>
            <a:ext cx="3265018" cy="224631"/>
          </a:xfrm>
          <a:prstGeom prst="rect">
            <a:avLst/>
          </a:prstGeom>
          <a:noFill/>
          <a:ln/>
        </p:spPr>
        <p:txBody>
          <a:bodyPr wrap="square" lIns="0" tIns="0" rIns="0" bIns="0" rtlCol="0" anchor="t">
            <a:normAutofit/>
          </a:bodyPr>
          <a:lstStyle/>
          <a:p>
            <a:pPr algn="l" indent="0" marL="0">
              <a:lnSpc>
                <a:spcPts val="1570"/>
              </a:lnSpc>
              <a:buNone/>
            </a:pPr>
            <a:r>
              <a:rPr lang="en-US" sz="1121" dirty="0">
                <a:solidFill>
                  <a:srgbClr val="1C2733"/>
                </a:solidFill>
                <a:latin typeface="IBM Plex Sans" pitchFamily="34" charset="0"/>
                <a:ea typeface="IBM Plex Sans" pitchFamily="34" charset="-122"/>
                <a:cs typeface="IBM Plex Sans" pitchFamily="34" charset="-120"/>
              </a:rPr>
              <a:t>nhà → home   (0,3)</a:t>
            </a:r>
            <a:endParaRPr lang="en-US" sz="1121" dirty="0"/>
          </a:p>
        </p:txBody>
      </p:sp>
      <p:sp>
        <p:nvSpPr>
          <p:cNvPr id="15" name="Text 12"/>
          <p:cNvSpPr/>
          <p:nvPr/>
        </p:nvSpPr>
        <p:spPr>
          <a:xfrm>
            <a:off x="4505960" y="4231320"/>
            <a:ext cx="3265018" cy="224631"/>
          </a:xfrm>
          <a:prstGeom prst="rect">
            <a:avLst/>
          </a:prstGeom>
          <a:noFill/>
          <a:ln/>
        </p:spPr>
        <p:txBody>
          <a:bodyPr wrap="square" lIns="0" tIns="0" rIns="0" bIns="0" rtlCol="0" anchor="t">
            <a:normAutofit/>
          </a:bodyPr>
          <a:lstStyle/>
          <a:p>
            <a:pPr algn="l" indent="0" marL="0">
              <a:lnSpc>
                <a:spcPts val="1570"/>
              </a:lnSpc>
              <a:buNone/>
            </a:pPr>
            <a:r>
              <a:rPr lang="en-US" sz="1121" dirty="0">
                <a:solidFill>
                  <a:srgbClr val="1C2733"/>
                </a:solidFill>
                <a:latin typeface="IBM Plex Sans" pitchFamily="34" charset="0"/>
                <a:ea typeface="IBM Plex Sans" pitchFamily="34" charset="-122"/>
                <a:cs typeface="IBM Plex Sans" pitchFamily="34" charset="-120"/>
              </a:rPr>
              <a:t>nhà → building (0,1)</a:t>
            </a:r>
            <a:endParaRPr lang="en-US" sz="1121" dirty="0"/>
          </a:p>
        </p:txBody>
      </p:sp>
      <p:sp>
        <p:nvSpPr>
          <p:cNvPr id="16" name="Text 13"/>
          <p:cNvSpPr/>
          <p:nvPr/>
        </p:nvSpPr>
        <p:spPr>
          <a:xfrm>
            <a:off x="4505960" y="4481351"/>
            <a:ext cx="3265018" cy="198596"/>
          </a:xfrm>
          <a:prstGeom prst="rect">
            <a:avLst/>
          </a:prstGeom>
          <a:noFill/>
          <a:ln/>
        </p:spPr>
        <p:txBody>
          <a:bodyPr wrap="square" lIns="0" tIns="0" rIns="0" bIns="0" rtlCol="0" anchor="t">
            <a:normAutofit/>
          </a:bodyPr>
          <a:lstStyle/>
          <a:p>
            <a:pPr algn="l" indent="0" marL="0">
              <a:lnSpc>
                <a:spcPts val="1374"/>
              </a:lnSpc>
              <a:buNone/>
            </a:pPr>
            <a:r>
              <a:rPr lang="en-US" sz="981" dirty="0">
                <a:solidFill>
                  <a:srgbClr val="8A9199"/>
                </a:solidFill>
                <a:latin typeface="IBM Plex Sans" pitchFamily="34" charset="0"/>
                <a:ea typeface="IBM Plex Sans" pitchFamily="34" charset="-122"/>
                <a:cs typeface="IBM Plex Sans" pitchFamily="34" charset="-120"/>
              </a:rPr>
              <a:t>không tính lại gì thêm</a:t>
            </a:r>
            <a:endParaRPr lang="en-US" sz="981" dirty="0"/>
          </a:p>
        </p:txBody>
      </p:sp>
      <p:sp>
        <p:nvSpPr>
          <p:cNvPr id="17" name="Shape 14"/>
          <p:cNvSpPr/>
          <p:nvPr/>
        </p:nvSpPr>
        <p:spPr>
          <a:xfrm>
            <a:off x="7941310" y="3376935"/>
            <a:ext cx="3431540" cy="1390650"/>
          </a:xfrm>
          <a:prstGeom prst="roundRect">
            <a:avLst>
              <a:gd name="adj" fmla="val 5936"/>
            </a:avLst>
          </a:prstGeom>
          <a:solidFill>
            <a:srgbClr val="FBF1E0"/>
          </a:solidFill>
          <a:ln w="12700">
            <a:solidFill>
              <a:srgbClr val="B8863B"/>
            </a:solidFill>
            <a:prstDash val="solid"/>
          </a:ln>
        </p:spPr>
      </p:sp>
      <p:sp>
        <p:nvSpPr>
          <p:cNvPr id="18" name="Text 15"/>
          <p:cNvSpPr/>
          <p:nvPr/>
        </p:nvSpPr>
        <p:spPr>
          <a:xfrm>
            <a:off x="8072120" y="3495042"/>
            <a:ext cx="3265018" cy="220980"/>
          </a:xfrm>
          <a:prstGeom prst="rect">
            <a:avLst/>
          </a:prstGeom>
          <a:noFill/>
          <a:ln/>
        </p:spPr>
        <p:txBody>
          <a:bodyPr wrap="square" lIns="0" tIns="0" rIns="0" bIns="0" rtlCol="0" anchor="t">
            <a:normAutofit/>
          </a:bodyPr>
          <a:lstStyle/>
          <a:p>
            <a:pPr algn="l" indent="0" marL="0">
              <a:lnSpc>
                <a:spcPts val="1540"/>
              </a:lnSpc>
              <a:buNone/>
            </a:pPr>
            <a:r>
              <a:rPr lang="en-US" sz="1100" b="1" dirty="0">
                <a:solidFill>
                  <a:srgbClr val="8A6A3A"/>
                </a:solidFill>
                <a:latin typeface="IBM Plex Sans" pitchFamily="34" charset="0"/>
                <a:ea typeface="IBM Plex Sans" pitchFamily="34" charset="-122"/>
                <a:cs typeface="IBM Plex Sans" pitchFamily="34" charset="-120"/>
              </a:rPr>
              <a:t>③ Lọc nhiễu</a:t>
            </a:r>
            <a:endParaRPr lang="en-US" sz="1100" dirty="0"/>
          </a:p>
        </p:txBody>
      </p:sp>
      <p:sp>
        <p:nvSpPr>
          <p:cNvPr id="19" name="Text 16"/>
          <p:cNvSpPr/>
          <p:nvPr/>
        </p:nvSpPr>
        <p:spPr>
          <a:xfrm>
            <a:off x="8072120" y="3741427"/>
            <a:ext cx="3265018"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1C2733"/>
                </a:solidFill>
                <a:latin typeface="IBM Plex Sans" pitchFamily="34" charset="0"/>
                <a:ea typeface="IBM Plex Sans" pitchFamily="34" charset="-122"/>
                <a:cs typeface="IBM Plex Sans" pitchFamily="34" charset="-120"/>
              </a:rPr>
              <a:t>MIN_PROB=0,15 · MIN_LINK=2</a:t>
            </a:r>
            <a:endParaRPr lang="en-US" sz="1100" dirty="0"/>
          </a:p>
        </p:txBody>
      </p:sp>
      <p:sp>
        <p:nvSpPr>
          <p:cNvPr id="20" name="Text 17"/>
          <p:cNvSpPr/>
          <p:nvPr/>
        </p:nvSpPr>
        <p:spPr>
          <a:xfrm>
            <a:off x="8072120" y="3987800"/>
            <a:ext cx="3265018" cy="22987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1C2733"/>
                </a:solidFill>
                <a:latin typeface="IBM Plex Sans" pitchFamily="34" charset="0"/>
                <a:ea typeface="IBM Plex Sans" pitchFamily="34" charset="-122"/>
                <a:cs typeface="IBM Plex Sans" pitchFamily="34" charset="-120"/>
              </a:rPr>
              <a:t>house ✓  · home ✓</a:t>
            </a:r>
            <a:endParaRPr lang="en-US" sz="1150" dirty="0"/>
          </a:p>
        </p:txBody>
      </p:sp>
      <p:sp>
        <p:nvSpPr>
          <p:cNvPr id="21" name="Text 18"/>
          <p:cNvSpPr/>
          <p:nvPr/>
        </p:nvSpPr>
        <p:spPr>
          <a:xfrm>
            <a:off x="8072120" y="4243077"/>
            <a:ext cx="3265018" cy="22987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B5502E"/>
                </a:solidFill>
                <a:latin typeface="IBM Plex Sans" pitchFamily="34" charset="0"/>
                <a:ea typeface="IBM Plex Sans" pitchFamily="34" charset="-122"/>
                <a:cs typeface="IBM Plex Sans" pitchFamily="34" charset="-120"/>
              </a:rPr>
              <a:t>building ✗ (0,1&lt;0,15; 1&lt;2)</a:t>
            </a:r>
            <a:endParaRPr lang="en-US" sz="1150" dirty="0"/>
          </a:p>
        </p:txBody>
      </p:sp>
      <p:sp>
        <p:nvSpPr>
          <p:cNvPr id="22" name="Shape 19"/>
          <p:cNvSpPr/>
          <p:nvPr/>
        </p:nvSpPr>
        <p:spPr>
          <a:xfrm>
            <a:off x="812800" y="4900935"/>
            <a:ext cx="10566400" cy="941070"/>
          </a:xfrm>
          <a:prstGeom prst="roundRect">
            <a:avLst>
              <a:gd name="adj" fmla="val 10796"/>
            </a:avLst>
          </a:prstGeom>
          <a:solidFill>
            <a:srgbClr val="1C2733"/>
          </a:solidFill>
          <a:ln/>
        </p:spPr>
      </p:sp>
      <p:sp>
        <p:nvSpPr>
          <p:cNvPr id="23" name="Text 20"/>
          <p:cNvSpPr/>
          <p:nvPr/>
        </p:nvSpPr>
        <p:spPr>
          <a:xfrm>
            <a:off x="990600" y="5027935"/>
            <a:ext cx="10517124"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FAF9F5"/>
                </a:solidFill>
                <a:latin typeface="IBM Plex Sans" pitchFamily="34" charset="0"/>
                <a:ea typeface="IBM Plex Sans" pitchFamily="34" charset="-122"/>
                <a:cs typeface="IBM Plex Sans" pitchFamily="34" charset="-120"/>
              </a:rPr>
              <a:t>Kết quả cuối: </a:t>
            </a:r>
            <a:r>
              <a:rPr lang="en-US" sz="1250" b="1" dirty="0">
                <a:solidFill>
                  <a:srgbClr val="FAF9F5"/>
                </a:solidFill>
                <a:latin typeface="IBM Plex Sans" pitchFamily="34" charset="0"/>
                <a:ea typeface="IBM Plex Sans" pitchFamily="34" charset="-122"/>
                <a:cs typeface="IBM Plex Sans" pitchFamily="34" charset="-120"/>
              </a:rPr>
              <a:t>nhà→house(0,6), nhà→home(0,3)</a:t>
            </a:r>
            <a:r>
              <a:rPr lang="en-US" sz="1250" dirty="0">
                <a:solidFill>
                  <a:srgbClr val="FAF9F5"/>
                </a:solidFill>
                <a:latin typeface="IBM Plex Sans" pitchFamily="34" charset="0"/>
                <a:ea typeface="IBM Plex Sans" pitchFamily="34" charset="-122"/>
                <a:cs typeface="IBM Plex Sans" pitchFamily="34" charset="-120"/>
              </a:rPr>
              <a:t> — tổng chỉ 0,9, không phải 1,0.</a:t>
            </a:r>
            <a:endParaRPr lang="en-US" sz="1250" dirty="0"/>
          </a:p>
        </p:txBody>
      </p:sp>
      <p:sp>
        <p:nvSpPr>
          <p:cNvPr id="24" name="Text 21"/>
          <p:cNvSpPr/>
          <p:nvPr/>
        </p:nvSpPr>
        <p:spPr>
          <a:xfrm>
            <a:off x="990600" y="5288285"/>
            <a:ext cx="1051712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7CDD4"/>
                </a:solidFill>
                <a:latin typeface="IBM Plex Sans" pitchFamily="34" charset="0"/>
                <a:ea typeface="IBM Plex Sans" pitchFamily="34" charset="-122"/>
                <a:cs typeface="IBM Plex Sans" pitchFamily="34" charset="-120"/>
              </a:rPr>
              <a:t>Y hệt hiện tượng đã thấy: </a:t>
            </a:r>
            <a:r>
              <a:rPr lang="en-US" sz="1200" b="1" dirty="0">
                <a:solidFill>
                  <a:srgbClr val="C7CDD4"/>
                </a:solidFill>
                <a:latin typeface="IBM Plex Sans" pitchFamily="34" charset="0"/>
                <a:ea typeface="IBM Plex Sans" pitchFamily="34" charset="-122"/>
                <a:cs typeface="IBM Plex Sans" pitchFamily="34" charset="-120"/>
              </a:rPr>
              <a:t>Chạy→running(0,130)+ran(0,103)=0,233</a:t>
            </a:r>
            <a:r>
              <a:rPr lang="en-US" sz="1200" dirty="0">
                <a:solidFill>
                  <a:srgbClr val="C7CDD4"/>
                </a:solidFill>
                <a:latin typeface="IBM Plex Sans" pitchFamily="34" charset="0"/>
                <a:ea typeface="IBM Plex Sans" pitchFamily="34" charset="-122"/>
                <a:cs typeface="IBM Plex Sans" pitchFamily="34" charset="-120"/>
              </a:rPr>
              <a:t> — phần còn lại là các bản dịch yếu đã bị lọc, chỉ khác ở chỗ Chạy lấy từ ~180.000 câu thật nên ra số lẻ, còn ví dụ này dùng 10 câu tròn cho dễ tính.</a:t>
            </a:r>
            <a:endParaRPr lang="en-US" sz="1200" dirty="0"/>
          </a:p>
        </p:txBody>
      </p:sp>
      <p:sp>
        <p:nvSpPr>
          <p:cNvPr id="25" name="Text 22"/>
          <p:cNvSpPr/>
          <p:nvPr/>
        </p:nvSpPr>
        <p:spPr>
          <a:xfrm>
            <a:off x="812800" y="6238242"/>
            <a:ext cx="54689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199"/>
                </a:solidFill>
                <a:latin typeface="IBM Plex Sans" pitchFamily="34" charset="0"/>
                <a:ea typeface="IBM Plex Sans" pitchFamily="34" charset="-122"/>
                <a:cs typeface="IBM Plex Sans" pitchFamily="34" charset="-120"/>
              </a:rPr>
              <a:t>19 / 34</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863B"/>
                </a:solidFill>
                <a:latin typeface="IBM Plex Sans" pitchFamily="34" charset="0"/>
                <a:ea typeface="IBM Plex Sans" pitchFamily="34" charset="-122"/>
                <a:cs typeface="IBM Plex Sans" pitchFamily="34" charset="-120"/>
              </a:rPr>
              <a:t>ĐÓNG GÓP DỮ LIỆU</a:t>
            </a:r>
            <a:endParaRPr lang="en-US" sz="1200" dirty="0"/>
          </a:p>
        </p:txBody>
      </p:sp>
      <p:sp>
        <p:nvSpPr>
          <p:cNvPr id="3" name="Text 1"/>
          <p:cNvSpPr/>
          <p:nvPr/>
        </p:nvSpPr>
        <p:spPr>
          <a:xfrm>
            <a:off x="812800" y="1102358"/>
            <a:ext cx="10883392" cy="34671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C2733"/>
                </a:solidFill>
                <a:latin typeface="EB Garamond" pitchFamily="34" charset="0"/>
                <a:ea typeface="EB Garamond" pitchFamily="34" charset="-122"/>
                <a:cs typeface="EB Garamond" pitchFamily="34" charset="-120"/>
              </a:rPr>
              <a:t>Ví dụ đầy đủ: một cây taxonomy đa-cha thật</a:t>
            </a:r>
            <a:endParaRPr lang="en-US" sz="2200" dirty="0"/>
          </a:p>
        </p:txBody>
      </p:sp>
      <p:pic>
        <p:nvPicPr>
          <p:cNvPr id="4" name="Image 0" descr="preencoded.png">    </p:cNvPr>
          <p:cNvPicPr>
            <a:picLocks noChangeAspect="1"/>
          </p:cNvPicPr>
          <p:nvPr/>
        </p:nvPicPr>
        <p:blipFill>
          <a:blip r:embed="rId1"/>
          <a:srcRect l="0" r="0" t="-21" b="-21"/>
          <a:stretch/>
        </p:blipFill>
        <p:spPr>
          <a:xfrm>
            <a:off x="2222500" y="1550677"/>
            <a:ext cx="7747000" cy="3175000"/>
          </a:xfrm>
          <a:prstGeom prst="rect">
            <a:avLst/>
          </a:prstGeom>
        </p:spPr>
      </p:pic>
      <p:sp>
        <p:nvSpPr>
          <p:cNvPr id="5" name="Shape 2"/>
          <p:cNvSpPr/>
          <p:nvPr/>
        </p:nvSpPr>
        <p:spPr>
          <a:xfrm>
            <a:off x="2222500" y="2820677"/>
            <a:ext cx="1270000" cy="533400"/>
          </a:xfrm>
          <a:prstGeom prst="roundRect">
            <a:avLst>
              <a:gd name="adj" fmla="val 14286"/>
            </a:avLst>
          </a:prstGeom>
          <a:solidFill>
            <a:srgbClr val="1C2733"/>
          </a:solidFill>
          <a:ln/>
        </p:spPr>
      </p:sp>
      <p:sp>
        <p:nvSpPr>
          <p:cNvPr id="6" name="Text 3"/>
          <p:cNvSpPr/>
          <p:nvPr/>
        </p:nvSpPr>
        <p:spPr>
          <a:xfrm>
            <a:off x="2626439" y="2962908"/>
            <a:ext cx="462121" cy="27432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FAF9F5"/>
                </a:solidFill>
                <a:latin typeface="IBM Plex Sans" pitchFamily="34" charset="0"/>
                <a:ea typeface="IBM Plex Sans" pitchFamily="34" charset="-122"/>
                <a:cs typeface="IBM Plex Sans" pitchFamily="34" charset="-120"/>
              </a:rPr>
              <a:t>Chạy</a:t>
            </a:r>
            <a:endParaRPr lang="en-US" sz="1400" dirty="0"/>
          </a:p>
        </p:txBody>
      </p:sp>
      <p:sp>
        <p:nvSpPr>
          <p:cNvPr id="7" name="Shape 4"/>
          <p:cNvSpPr/>
          <p:nvPr/>
        </p:nvSpPr>
        <p:spPr>
          <a:xfrm>
            <a:off x="5273675" y="1934852"/>
            <a:ext cx="1390650" cy="527050"/>
          </a:xfrm>
          <a:prstGeom prst="roundRect">
            <a:avLst>
              <a:gd name="adj" fmla="val 13855"/>
            </a:avLst>
          </a:prstGeom>
          <a:solidFill>
            <a:srgbClr val="FFFFFF"/>
          </a:solidFill>
          <a:ln w="6350">
            <a:solidFill>
              <a:srgbClr val="E3DDD0"/>
            </a:solidFill>
            <a:prstDash val="solid"/>
          </a:ln>
        </p:spPr>
      </p:sp>
      <p:sp>
        <p:nvSpPr>
          <p:cNvPr id="8" name="Text 5"/>
          <p:cNvSpPr/>
          <p:nvPr/>
        </p:nvSpPr>
        <p:spPr>
          <a:xfrm>
            <a:off x="5674678" y="2082800"/>
            <a:ext cx="639445"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C2733"/>
                </a:solidFill>
                <a:latin typeface="IBM Plex Sans" pitchFamily="34" charset="0"/>
                <a:ea typeface="IBM Plex Sans" pitchFamily="34" charset="-122"/>
                <a:cs typeface="IBM Plex Sans" pitchFamily="34" charset="-120"/>
              </a:rPr>
              <a:t>running</a:t>
            </a:r>
            <a:endParaRPr lang="en-US" sz="1300" dirty="0"/>
          </a:p>
        </p:txBody>
      </p:sp>
      <p:sp>
        <p:nvSpPr>
          <p:cNvPr id="9" name="Shape 6"/>
          <p:cNvSpPr/>
          <p:nvPr/>
        </p:nvSpPr>
        <p:spPr>
          <a:xfrm>
            <a:off x="5273675" y="3712852"/>
            <a:ext cx="1390650" cy="527050"/>
          </a:xfrm>
          <a:prstGeom prst="roundRect">
            <a:avLst>
              <a:gd name="adj" fmla="val 13855"/>
            </a:avLst>
          </a:prstGeom>
          <a:solidFill>
            <a:srgbClr val="FFFFFF"/>
          </a:solidFill>
          <a:ln w="6350">
            <a:solidFill>
              <a:srgbClr val="E3DDD0"/>
            </a:solidFill>
            <a:prstDash val="solid"/>
          </a:ln>
        </p:spPr>
      </p:sp>
      <p:sp>
        <p:nvSpPr>
          <p:cNvPr id="10" name="Text 7"/>
          <p:cNvSpPr/>
          <p:nvPr/>
        </p:nvSpPr>
        <p:spPr>
          <a:xfrm>
            <a:off x="5842714" y="3860800"/>
            <a:ext cx="303292"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C2733"/>
                </a:solidFill>
                <a:latin typeface="IBM Plex Sans" pitchFamily="34" charset="0"/>
                <a:ea typeface="IBM Plex Sans" pitchFamily="34" charset="-122"/>
                <a:cs typeface="IBM Plex Sans" pitchFamily="34" charset="-120"/>
              </a:rPr>
              <a:t>ran</a:t>
            </a:r>
            <a:endParaRPr lang="en-US" sz="1300" dirty="0"/>
          </a:p>
        </p:txBody>
      </p:sp>
      <p:sp>
        <p:nvSpPr>
          <p:cNvPr id="11" name="Shape 8"/>
          <p:cNvSpPr/>
          <p:nvPr/>
        </p:nvSpPr>
        <p:spPr>
          <a:xfrm>
            <a:off x="8385175" y="1934852"/>
            <a:ext cx="1263650" cy="527050"/>
          </a:xfrm>
          <a:prstGeom prst="roundRect">
            <a:avLst>
              <a:gd name="adj" fmla="val 13855"/>
            </a:avLst>
          </a:prstGeom>
          <a:solidFill>
            <a:srgbClr val="FBF1E0"/>
          </a:solidFill>
          <a:ln w="6350">
            <a:solidFill>
              <a:srgbClr val="D9B577"/>
            </a:solidFill>
            <a:prstDash val="solid"/>
          </a:ln>
        </p:spPr>
      </p:sp>
      <p:sp>
        <p:nvSpPr>
          <p:cNvPr id="12" name="Text 9"/>
          <p:cNvSpPr/>
          <p:nvPr/>
        </p:nvSpPr>
        <p:spPr>
          <a:xfrm>
            <a:off x="8689499" y="2087252"/>
            <a:ext cx="705803"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1C2733"/>
                </a:solidFill>
                <a:latin typeface="IBM Plex Sans" pitchFamily="34" charset="0"/>
                <a:ea typeface="IBM Plex Sans" pitchFamily="34" charset="-122"/>
                <a:cs typeface="IBM Plex Sans" pitchFamily="34" charset="-120"/>
              </a:rPr>
              <a:t>running*</a:t>
            </a:r>
            <a:endParaRPr lang="en-US" sz="1250" dirty="0"/>
          </a:p>
        </p:txBody>
      </p:sp>
      <p:sp>
        <p:nvSpPr>
          <p:cNvPr id="13" name="Shape 10"/>
          <p:cNvSpPr/>
          <p:nvPr/>
        </p:nvSpPr>
        <p:spPr>
          <a:xfrm>
            <a:off x="8388350" y="2827027"/>
            <a:ext cx="1257300" cy="520700"/>
          </a:xfrm>
          <a:prstGeom prst="roundRect">
            <a:avLst>
              <a:gd name="adj" fmla="val 13415"/>
            </a:avLst>
          </a:prstGeom>
          <a:solidFill>
            <a:srgbClr val="FBF1E0"/>
          </a:solidFill>
          <a:ln w="12700">
            <a:solidFill>
              <a:srgbClr val="B8863B"/>
            </a:solidFill>
            <a:prstDash val="solid"/>
          </a:ln>
        </p:spPr>
      </p:sp>
      <p:sp>
        <p:nvSpPr>
          <p:cNvPr id="14" name="Text 11"/>
          <p:cNvSpPr/>
          <p:nvPr/>
        </p:nvSpPr>
        <p:spPr>
          <a:xfrm>
            <a:off x="8849519" y="2976252"/>
            <a:ext cx="385763"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1C2733"/>
                </a:solidFill>
                <a:latin typeface="IBM Plex Sans" pitchFamily="34" charset="0"/>
                <a:ea typeface="IBM Plex Sans" pitchFamily="34" charset="-122"/>
                <a:cs typeface="IBM Plex Sans" pitchFamily="34" charset="-120"/>
              </a:rPr>
              <a:t>run*</a:t>
            </a:r>
            <a:endParaRPr lang="en-US" sz="1250" dirty="0"/>
          </a:p>
        </p:txBody>
      </p:sp>
      <p:sp>
        <p:nvSpPr>
          <p:cNvPr id="15" name="Shape 12"/>
          <p:cNvSpPr/>
          <p:nvPr/>
        </p:nvSpPr>
        <p:spPr>
          <a:xfrm>
            <a:off x="4105275" y="2531752"/>
            <a:ext cx="565150" cy="209550"/>
          </a:xfrm>
          <a:prstGeom prst="roundRect">
            <a:avLst>
              <a:gd name="adj" fmla="val 22727"/>
            </a:avLst>
          </a:prstGeom>
          <a:solidFill>
            <a:srgbClr val="FAF9F5"/>
          </a:solidFill>
          <a:ln w="6350">
            <a:solidFill>
              <a:srgbClr val="E3DDD0"/>
            </a:solidFill>
            <a:prstDash val="solid"/>
          </a:ln>
        </p:spPr>
      </p:sp>
      <p:sp>
        <p:nvSpPr>
          <p:cNvPr id="16" name="Text 13"/>
          <p:cNvSpPr/>
          <p:nvPr/>
        </p:nvSpPr>
        <p:spPr>
          <a:xfrm>
            <a:off x="4182110" y="2529842"/>
            <a:ext cx="46220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863B"/>
                </a:solidFill>
                <a:latin typeface="IBM Plex Sans" pitchFamily="34" charset="0"/>
                <a:ea typeface="IBM Plex Sans" pitchFamily="34" charset="-122"/>
                <a:cs typeface="IBM Plex Sans" pitchFamily="34" charset="-120"/>
              </a:rPr>
              <a:t>0,130</a:t>
            </a:r>
            <a:endParaRPr lang="en-US" sz="1200" dirty="0"/>
          </a:p>
        </p:txBody>
      </p:sp>
      <p:sp>
        <p:nvSpPr>
          <p:cNvPr id="17" name="Shape 14"/>
          <p:cNvSpPr/>
          <p:nvPr/>
        </p:nvSpPr>
        <p:spPr>
          <a:xfrm>
            <a:off x="4105275" y="3420752"/>
            <a:ext cx="565150" cy="209550"/>
          </a:xfrm>
          <a:prstGeom prst="roundRect">
            <a:avLst>
              <a:gd name="adj" fmla="val 22727"/>
            </a:avLst>
          </a:prstGeom>
          <a:solidFill>
            <a:srgbClr val="FAF9F5"/>
          </a:solidFill>
          <a:ln w="6350">
            <a:solidFill>
              <a:srgbClr val="E3DDD0"/>
            </a:solidFill>
            <a:prstDash val="solid"/>
          </a:ln>
        </p:spPr>
      </p:sp>
      <p:sp>
        <p:nvSpPr>
          <p:cNvPr id="18" name="Text 15"/>
          <p:cNvSpPr/>
          <p:nvPr/>
        </p:nvSpPr>
        <p:spPr>
          <a:xfrm>
            <a:off x="4182110" y="3418842"/>
            <a:ext cx="46220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863B"/>
                </a:solidFill>
                <a:latin typeface="IBM Plex Sans" pitchFamily="34" charset="0"/>
                <a:ea typeface="IBM Plex Sans" pitchFamily="34" charset="-122"/>
                <a:cs typeface="IBM Plex Sans" pitchFamily="34" charset="-120"/>
              </a:rPr>
              <a:t>0,103</a:t>
            </a:r>
            <a:endParaRPr lang="en-US" sz="1200" dirty="0"/>
          </a:p>
        </p:txBody>
      </p:sp>
      <p:sp>
        <p:nvSpPr>
          <p:cNvPr id="19" name="Shape 16"/>
          <p:cNvSpPr/>
          <p:nvPr/>
        </p:nvSpPr>
        <p:spPr>
          <a:xfrm>
            <a:off x="7248525" y="2087252"/>
            <a:ext cx="565150" cy="209550"/>
          </a:xfrm>
          <a:prstGeom prst="roundRect">
            <a:avLst>
              <a:gd name="adj" fmla="val 22727"/>
            </a:avLst>
          </a:prstGeom>
          <a:solidFill>
            <a:srgbClr val="FAF9F5"/>
          </a:solidFill>
          <a:ln w="6350">
            <a:solidFill>
              <a:srgbClr val="D9B577"/>
            </a:solidFill>
            <a:prstDash val="solid"/>
          </a:ln>
        </p:spPr>
      </p:sp>
      <p:sp>
        <p:nvSpPr>
          <p:cNvPr id="20" name="Text 17"/>
          <p:cNvSpPr/>
          <p:nvPr/>
        </p:nvSpPr>
        <p:spPr>
          <a:xfrm>
            <a:off x="7325360" y="2085342"/>
            <a:ext cx="46220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6A3A"/>
                </a:solidFill>
                <a:latin typeface="IBM Plex Sans" pitchFamily="34" charset="0"/>
                <a:ea typeface="IBM Plex Sans" pitchFamily="34" charset="-122"/>
                <a:cs typeface="IBM Plex Sans" pitchFamily="34" charset="-120"/>
              </a:rPr>
              <a:t>0,065</a:t>
            </a:r>
            <a:endParaRPr lang="en-US" sz="1200" dirty="0"/>
          </a:p>
        </p:txBody>
      </p:sp>
      <p:sp>
        <p:nvSpPr>
          <p:cNvPr id="21" name="Shape 18"/>
          <p:cNvSpPr/>
          <p:nvPr/>
        </p:nvSpPr>
        <p:spPr>
          <a:xfrm>
            <a:off x="7248525" y="2531752"/>
            <a:ext cx="565150" cy="209550"/>
          </a:xfrm>
          <a:prstGeom prst="roundRect">
            <a:avLst>
              <a:gd name="adj" fmla="val 22727"/>
            </a:avLst>
          </a:prstGeom>
          <a:solidFill>
            <a:srgbClr val="FAF9F5"/>
          </a:solidFill>
          <a:ln w="6350">
            <a:solidFill>
              <a:srgbClr val="D9B577"/>
            </a:solidFill>
            <a:prstDash val="solid"/>
          </a:ln>
        </p:spPr>
      </p:sp>
      <p:sp>
        <p:nvSpPr>
          <p:cNvPr id="22" name="Text 19"/>
          <p:cNvSpPr/>
          <p:nvPr/>
        </p:nvSpPr>
        <p:spPr>
          <a:xfrm>
            <a:off x="7325360" y="2529842"/>
            <a:ext cx="46220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6A3A"/>
                </a:solidFill>
                <a:latin typeface="IBM Plex Sans" pitchFamily="34" charset="0"/>
                <a:ea typeface="IBM Plex Sans" pitchFamily="34" charset="-122"/>
                <a:cs typeface="IBM Plex Sans" pitchFamily="34" charset="-120"/>
              </a:rPr>
              <a:t>0,935</a:t>
            </a:r>
            <a:endParaRPr lang="en-US" sz="1200" dirty="0"/>
          </a:p>
        </p:txBody>
      </p:sp>
      <p:sp>
        <p:nvSpPr>
          <p:cNvPr id="23" name="Shape 20"/>
          <p:cNvSpPr/>
          <p:nvPr/>
        </p:nvSpPr>
        <p:spPr>
          <a:xfrm>
            <a:off x="7248525" y="3420752"/>
            <a:ext cx="565150" cy="209550"/>
          </a:xfrm>
          <a:prstGeom prst="roundRect">
            <a:avLst>
              <a:gd name="adj" fmla="val 22727"/>
            </a:avLst>
          </a:prstGeom>
          <a:solidFill>
            <a:srgbClr val="FAF9F5"/>
          </a:solidFill>
          <a:ln w="6350">
            <a:solidFill>
              <a:srgbClr val="D9B577"/>
            </a:solidFill>
            <a:prstDash val="solid"/>
          </a:ln>
        </p:spPr>
      </p:sp>
      <p:sp>
        <p:nvSpPr>
          <p:cNvPr id="24" name="Text 21"/>
          <p:cNvSpPr/>
          <p:nvPr/>
        </p:nvSpPr>
        <p:spPr>
          <a:xfrm>
            <a:off x="7416800" y="3418842"/>
            <a:ext cx="27932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6A3A"/>
                </a:solidFill>
                <a:latin typeface="IBM Plex Sans" pitchFamily="34" charset="0"/>
                <a:ea typeface="IBM Plex Sans" pitchFamily="34" charset="-122"/>
                <a:cs typeface="IBM Plex Sans" pitchFamily="34" charset="-120"/>
              </a:rPr>
              <a:t>1,0</a:t>
            </a:r>
            <a:endParaRPr lang="en-US" sz="1200" dirty="0"/>
          </a:p>
        </p:txBody>
      </p:sp>
      <p:sp>
        <p:nvSpPr>
          <p:cNvPr id="25" name="Shape 22"/>
          <p:cNvSpPr/>
          <p:nvPr/>
        </p:nvSpPr>
        <p:spPr>
          <a:xfrm>
            <a:off x="812800" y="5314950"/>
            <a:ext cx="10566400" cy="527050"/>
          </a:xfrm>
          <a:prstGeom prst="roundRect">
            <a:avLst>
              <a:gd name="adj" fmla="val 19277"/>
            </a:avLst>
          </a:prstGeom>
          <a:solidFill>
            <a:srgbClr val="1C2733"/>
          </a:solidFill>
          <a:ln/>
        </p:spPr>
      </p:sp>
      <p:sp>
        <p:nvSpPr>
          <p:cNvPr id="26" name="Text 23"/>
          <p:cNvSpPr/>
          <p:nvPr/>
        </p:nvSpPr>
        <p:spPr>
          <a:xfrm>
            <a:off x="1016000" y="5467350"/>
            <a:ext cx="10464800"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FAF9F5"/>
                </a:solidFill>
                <a:latin typeface="IBM Plex Sans" pitchFamily="34" charset="0"/>
                <a:ea typeface="IBM Plex Sans" pitchFamily="34" charset="-122"/>
                <a:cs typeface="IBM Plex Sans" pitchFamily="34" charset="-120"/>
              </a:rPr>
              <a:t>"run*" nhận </a:t>
            </a:r>
            <a:r>
              <a:rPr lang="en-US" sz="1250" b="1" dirty="0">
                <a:solidFill>
                  <a:srgbClr val="FAF9F5"/>
                </a:solidFill>
                <a:latin typeface="IBM Plex Sans" pitchFamily="34" charset="0"/>
                <a:ea typeface="IBM Plex Sans" pitchFamily="34" charset="-122"/>
                <a:cs typeface="IBM Plex Sans" pitchFamily="34" charset="-120"/>
              </a:rPr>
              <a:t>2 cạnh hội tụ</a:t>
            </a:r>
            <a:r>
              <a:rPr lang="en-US" sz="1250" dirty="0">
                <a:solidFill>
                  <a:srgbClr val="FAF9F5"/>
                </a:solidFill>
                <a:latin typeface="IBM Plex Sans" pitchFamily="34" charset="0"/>
                <a:ea typeface="IBM Plex Sans" pitchFamily="34" charset="-122"/>
                <a:cs typeface="IBM Plex Sans" pitchFamily="34" charset="-120"/>
              </a:rPr>
              <a:t> — từ "running" (0,935) VÀ từ "ran" (1,0). Cả hai xác suất đều đọc trực tiếp từ chính cây này.</a:t>
            </a:r>
            <a:endParaRPr lang="en-US" sz="1250" dirty="0"/>
          </a:p>
        </p:txBody>
      </p:sp>
      <p:sp>
        <p:nvSpPr>
          <p:cNvPr id="27" name="Text 24"/>
          <p:cNvSpPr/>
          <p:nvPr/>
        </p:nvSpPr>
        <p:spPr>
          <a:xfrm>
            <a:off x="812800" y="6238242"/>
            <a:ext cx="54689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199"/>
                </a:solidFill>
                <a:latin typeface="IBM Plex Sans" pitchFamily="34" charset="0"/>
                <a:ea typeface="IBM Plex Sans" pitchFamily="34" charset="-122"/>
                <a:cs typeface="IBM Plex Sans" pitchFamily="34" charset="-120"/>
              </a:rPr>
              <a:t>20 / 34</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863B"/>
                </a:solidFill>
                <a:latin typeface="IBM Plex Sans" pitchFamily="34" charset="0"/>
                <a:ea typeface="IBM Plex Sans" pitchFamily="34" charset="-122"/>
                <a:cs typeface="IBM Plex Sans" pitchFamily="34" charset="-120"/>
              </a:rPr>
              <a:t>ĐÓNG GÓP DỮ LIỆU</a:t>
            </a:r>
            <a:endParaRPr lang="en-US" sz="1200" dirty="0"/>
          </a:p>
        </p:txBody>
      </p:sp>
      <p:sp>
        <p:nvSpPr>
          <p:cNvPr id="3" name="Text 1"/>
          <p:cNvSpPr/>
          <p:nvPr/>
        </p:nvSpPr>
        <p:spPr>
          <a:xfrm>
            <a:off x="812800" y="1102358"/>
            <a:ext cx="10883392" cy="34671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C2733"/>
                </a:solidFill>
                <a:latin typeface="EB Garamond" pitchFamily="34" charset="0"/>
                <a:ea typeface="EB Garamond" pitchFamily="34" charset="-122"/>
                <a:cs typeface="EB Garamond" pitchFamily="34" charset="-120"/>
              </a:rPr>
              <a:t>Công thức xác suất — tầng Lá → Biến thể</a:t>
            </a:r>
            <a:endParaRPr lang="en-US" sz="2200" dirty="0"/>
          </a:p>
        </p:txBody>
      </p:sp>
      <p:sp>
        <p:nvSpPr>
          <p:cNvPr id="4" name="Shape 2"/>
          <p:cNvSpPr/>
          <p:nvPr/>
        </p:nvSpPr>
        <p:spPr>
          <a:xfrm>
            <a:off x="4114165" y="2648583"/>
            <a:ext cx="3963670" cy="777240"/>
          </a:xfrm>
          <a:prstGeom prst="roundRect">
            <a:avLst>
              <a:gd name="adj" fmla="val 13072"/>
            </a:avLst>
          </a:prstGeom>
          <a:solidFill>
            <a:srgbClr val="1C2733"/>
          </a:solidFill>
          <a:ln/>
        </p:spPr>
      </p:sp>
      <p:sp>
        <p:nvSpPr>
          <p:cNvPr id="5" name="Text 3"/>
          <p:cNvSpPr/>
          <p:nvPr/>
        </p:nvSpPr>
        <p:spPr>
          <a:xfrm>
            <a:off x="4418965" y="2877183"/>
            <a:ext cx="3454692"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FAF9F5"/>
                </a:solidFill>
                <a:latin typeface="EB Garamond" pitchFamily="34" charset="0"/>
                <a:ea typeface="EB Garamond" pitchFamily="34" charset="-122"/>
                <a:cs typeface="EB Garamond" pitchFamily="34" charset="-120"/>
              </a:rPr>
              <a:t>P(en | vi) = bảng dịch ngược fast_align</a:t>
            </a:r>
            <a:endParaRPr lang="en-US" sz="1800" dirty="0"/>
          </a:p>
        </p:txBody>
      </p:sp>
      <p:sp>
        <p:nvSpPr>
          <p:cNvPr id="6" name="Text 4"/>
          <p:cNvSpPr/>
          <p:nvPr/>
        </p:nvSpPr>
        <p:spPr>
          <a:xfrm>
            <a:off x="1844675" y="3603625"/>
            <a:ext cx="8502650" cy="594360"/>
          </a:xfrm>
          <a:prstGeom prst="rect">
            <a:avLst/>
          </a:prstGeom>
          <a:noFill/>
          <a:ln/>
        </p:spPr>
        <p:txBody>
          <a:bodyPr wrap="square" lIns="0" tIns="0" rIns="0" bIns="0" rtlCol="0" anchor="t">
            <a:normAutofit/>
          </a:bodyPr>
          <a:lstStyle/>
          <a:p>
            <a:pPr algn="ctr" indent="0" marL="0">
              <a:lnSpc>
                <a:spcPts val="2240"/>
              </a:lnSpc>
              <a:buNone/>
            </a:pPr>
            <a:r>
              <a:rPr lang="en-US" sz="1400" dirty="0">
                <a:solidFill>
                  <a:srgbClr val="4A5568"/>
                </a:solidFill>
                <a:latin typeface="IBM Plex Sans" pitchFamily="34" charset="0"/>
                <a:ea typeface="IBM Plex Sans" pitchFamily="34" charset="-122"/>
                <a:cs typeface="IBM Plex Sans" pitchFamily="34" charset="-120"/>
              </a:rPr>
              <a:t>Xác suất dịch </a:t>
            </a:r>
            <a:r>
              <a:rPr lang="en-US" sz="1400" b="1" dirty="0">
                <a:solidFill>
                  <a:srgbClr val="4A5568"/>
                </a:solidFill>
                <a:latin typeface="IBM Plex Sans" pitchFamily="34" charset="0"/>
                <a:ea typeface="IBM Plex Sans" pitchFamily="34" charset="-122"/>
                <a:cs typeface="IBM Plex Sans" pitchFamily="34" charset="-120"/>
              </a:rPr>
              <a:t>đo được thật</a:t>
            </a:r>
            <a:r>
              <a:rPr lang="en-US" sz="1400" dirty="0">
                <a:solidFill>
                  <a:srgbClr val="4A5568"/>
                </a:solidFill>
                <a:latin typeface="IBM Plex Sans" pitchFamily="34" charset="0"/>
                <a:ea typeface="IBM Plex Sans" pitchFamily="34" charset="-122"/>
                <a:cs typeface="IBM Plex Sans" pitchFamily="34" charset="-120"/>
              </a:rPr>
              <a:t> từ mô hình IBM alignment — không phải tần suất đồng xuất hiện thô, mà là mức tin cậy dịch thuật đã học qua nhiều vòng E-M, giữa hai ngôn ngữ.</a:t>
            </a:r>
            <a:endParaRPr lang="en-US" sz="1400" dirty="0"/>
          </a:p>
        </p:txBody>
      </p:sp>
      <p:sp>
        <p:nvSpPr>
          <p:cNvPr id="7" name="Shape 5"/>
          <p:cNvSpPr/>
          <p:nvPr/>
        </p:nvSpPr>
        <p:spPr>
          <a:xfrm>
            <a:off x="3234690" y="4353558"/>
            <a:ext cx="5722541" cy="463550"/>
          </a:xfrm>
          <a:prstGeom prst="roundRect">
            <a:avLst>
              <a:gd name="adj" fmla="val 18493"/>
            </a:avLst>
          </a:prstGeom>
          <a:solidFill>
            <a:srgbClr val="FFFFFF"/>
          </a:solidFill>
          <a:ln w="6350">
            <a:solidFill>
              <a:srgbClr val="E3DDD0"/>
            </a:solidFill>
            <a:prstDash val="solid"/>
          </a:ln>
        </p:spPr>
      </p:sp>
      <p:sp>
        <p:nvSpPr>
          <p:cNvPr id="8" name="Text 6"/>
          <p:cNvSpPr/>
          <p:nvPr/>
        </p:nvSpPr>
        <p:spPr>
          <a:xfrm>
            <a:off x="3439795" y="4469767"/>
            <a:ext cx="5471701"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C2733"/>
                </a:solidFill>
                <a:latin typeface="IBM Plex Sans" pitchFamily="34" charset="0"/>
                <a:ea typeface="IBM Plex Sans" pitchFamily="34" charset="-122"/>
                <a:cs typeface="IBM Plex Sans" pitchFamily="34" charset="-120"/>
              </a:rPr>
              <a:t>Ví dụ đã thấy ở cây trước: </a:t>
            </a:r>
            <a:r>
              <a:rPr lang="en-US" sz="1300" b="1" dirty="0">
                <a:solidFill>
                  <a:srgbClr val="1C2733"/>
                </a:solidFill>
                <a:latin typeface="IBM Plex Sans" pitchFamily="34" charset="0"/>
                <a:ea typeface="IBM Plex Sans" pitchFamily="34" charset="-122"/>
                <a:cs typeface="IBM Plex Sans" pitchFamily="34" charset="-120"/>
              </a:rPr>
              <a:t>Chạy→running</a:t>
            </a:r>
            <a:r>
              <a:rPr lang="en-US" sz="1300" dirty="0">
                <a:solidFill>
                  <a:srgbClr val="1C2733"/>
                </a:solidFill>
                <a:latin typeface="IBM Plex Sans" pitchFamily="34" charset="0"/>
                <a:ea typeface="IBM Plex Sans" pitchFamily="34" charset="-122"/>
                <a:cs typeface="IBM Plex Sans" pitchFamily="34" charset="-120"/>
              </a:rPr>
              <a:t> = </a:t>
            </a:r>
            <a:r>
              <a:rPr lang="en-US" sz="1300" b="1" dirty="0">
                <a:solidFill>
                  <a:srgbClr val="1C2733"/>
                </a:solidFill>
                <a:latin typeface="IBM Plex Sans" pitchFamily="34" charset="0"/>
                <a:ea typeface="IBM Plex Sans" pitchFamily="34" charset="-122"/>
                <a:cs typeface="IBM Plex Sans" pitchFamily="34" charset="-120"/>
              </a:rPr>
              <a:t>0,130</a:t>
            </a:r>
            <a:r>
              <a:rPr lang="en-US" sz="1300" dirty="0">
                <a:solidFill>
                  <a:srgbClr val="1C2733"/>
                </a:solidFill>
                <a:latin typeface="IBM Plex Sans" pitchFamily="34" charset="0"/>
                <a:ea typeface="IBM Plex Sans" pitchFamily="34" charset="-122"/>
                <a:cs typeface="IBM Plex Sans" pitchFamily="34" charset="-120"/>
              </a:rPr>
              <a:t>  ·  </a:t>
            </a:r>
            <a:r>
              <a:rPr lang="en-US" sz="1300" b="1" dirty="0">
                <a:solidFill>
                  <a:srgbClr val="1C2733"/>
                </a:solidFill>
                <a:latin typeface="IBM Plex Sans" pitchFamily="34" charset="0"/>
                <a:ea typeface="IBM Plex Sans" pitchFamily="34" charset="-122"/>
                <a:cs typeface="IBM Plex Sans" pitchFamily="34" charset="-120"/>
              </a:rPr>
              <a:t>Chạy→ran</a:t>
            </a:r>
            <a:r>
              <a:rPr lang="en-US" sz="1300" dirty="0">
                <a:solidFill>
                  <a:srgbClr val="1C2733"/>
                </a:solidFill>
                <a:latin typeface="IBM Plex Sans" pitchFamily="34" charset="0"/>
                <a:ea typeface="IBM Plex Sans" pitchFamily="34" charset="-122"/>
                <a:cs typeface="IBM Plex Sans" pitchFamily="34" charset="-120"/>
              </a:rPr>
              <a:t> = </a:t>
            </a:r>
            <a:r>
              <a:rPr lang="en-US" sz="1300" b="1" dirty="0">
                <a:solidFill>
                  <a:srgbClr val="1C2733"/>
                </a:solidFill>
                <a:latin typeface="IBM Plex Sans" pitchFamily="34" charset="0"/>
                <a:ea typeface="IBM Plex Sans" pitchFamily="34" charset="-122"/>
                <a:cs typeface="IBM Plex Sans" pitchFamily="34" charset="-120"/>
              </a:rPr>
              <a:t>0,103</a:t>
            </a:r>
            <a:endParaRPr lang="en-US" sz="1300" dirty="0"/>
          </a:p>
        </p:txBody>
      </p:sp>
      <p:sp>
        <p:nvSpPr>
          <p:cNvPr id="9" name="Text 7"/>
          <p:cNvSpPr/>
          <p:nvPr/>
        </p:nvSpPr>
        <p:spPr>
          <a:xfrm>
            <a:off x="812800" y="6238242"/>
            <a:ext cx="54689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199"/>
                </a:solidFill>
                <a:latin typeface="IBM Plex Sans" pitchFamily="34" charset="0"/>
                <a:ea typeface="IBM Plex Sans" pitchFamily="34" charset="-122"/>
                <a:cs typeface="IBM Plex Sans" pitchFamily="34" charset="-120"/>
              </a:rPr>
              <a:t>21 / 34</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863B"/>
                </a:solidFill>
                <a:latin typeface="IBM Plex Sans" pitchFamily="34" charset="0"/>
                <a:ea typeface="IBM Plex Sans" pitchFamily="34" charset="-122"/>
                <a:cs typeface="IBM Plex Sans" pitchFamily="34" charset="-120"/>
              </a:rPr>
              <a:t>ĐÓNG GÓP DỮ LIỆU</a:t>
            </a:r>
            <a:endParaRPr lang="en-US" sz="1200" dirty="0"/>
          </a:p>
        </p:txBody>
      </p:sp>
      <p:sp>
        <p:nvSpPr>
          <p:cNvPr id="3" name="Text 1"/>
          <p:cNvSpPr/>
          <p:nvPr/>
        </p:nvSpPr>
        <p:spPr>
          <a:xfrm>
            <a:off x="812800" y="1102358"/>
            <a:ext cx="10883392" cy="34671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C2733"/>
                </a:solidFill>
                <a:latin typeface="EB Garamond" pitchFamily="34" charset="0"/>
                <a:ea typeface="EB Garamond" pitchFamily="34" charset="-122"/>
                <a:cs typeface="EB Garamond" pitchFamily="34" charset="-120"/>
              </a:rPr>
              <a:t>Tính xác suất: tầng Biến thể → Lemma</a:t>
            </a:r>
            <a:endParaRPr lang="en-US" sz="2200" dirty="0"/>
          </a:p>
        </p:txBody>
      </p:sp>
      <p:sp>
        <p:nvSpPr>
          <p:cNvPr id="4" name="Shape 2"/>
          <p:cNvSpPr/>
          <p:nvPr/>
        </p:nvSpPr>
        <p:spPr>
          <a:xfrm>
            <a:off x="4011851" y="2657475"/>
            <a:ext cx="4168299" cy="759460"/>
          </a:xfrm>
          <a:prstGeom prst="roundRect">
            <a:avLst>
              <a:gd name="adj" fmla="val 13378"/>
            </a:avLst>
          </a:prstGeom>
          <a:solidFill>
            <a:srgbClr val="1C2733"/>
          </a:solidFill>
          <a:ln/>
        </p:spPr>
      </p:sp>
      <p:sp>
        <p:nvSpPr>
          <p:cNvPr id="5" name="Text 3"/>
          <p:cNvSpPr/>
          <p:nvPr/>
        </p:nvSpPr>
        <p:spPr>
          <a:xfrm>
            <a:off x="4316651" y="2886075"/>
            <a:ext cx="3665460" cy="32766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AF9F5"/>
                </a:solidFill>
                <a:latin typeface="EB Garamond" pitchFamily="34" charset="0"/>
                <a:ea typeface="EB Garamond" pitchFamily="34" charset="-122"/>
                <a:cs typeface="EB Garamond" pitchFamily="34" charset="-120"/>
              </a:rPr>
              <a:t>weight(w→lm) = (count + α) / (total + α·k)</a:t>
            </a:r>
            <a:endParaRPr lang="en-US" sz="1700" dirty="0"/>
          </a:p>
        </p:txBody>
      </p:sp>
      <p:sp>
        <p:nvSpPr>
          <p:cNvPr id="6" name="Text 4"/>
          <p:cNvSpPr/>
          <p:nvPr/>
        </p:nvSpPr>
        <p:spPr>
          <a:xfrm>
            <a:off x="1844675" y="3594733"/>
            <a:ext cx="8502650" cy="594360"/>
          </a:xfrm>
          <a:prstGeom prst="rect">
            <a:avLst/>
          </a:prstGeom>
          <a:noFill/>
          <a:ln/>
        </p:spPr>
        <p:txBody>
          <a:bodyPr wrap="square" lIns="0" tIns="0" rIns="0" bIns="0" rtlCol="0" anchor="t">
            <a:normAutofit/>
          </a:bodyPr>
          <a:lstStyle/>
          <a:p>
            <a:pPr algn="ctr" indent="0" marL="0">
              <a:lnSpc>
                <a:spcPts val="2240"/>
              </a:lnSpc>
              <a:buNone/>
            </a:pPr>
            <a:r>
              <a:rPr lang="en-US" sz="1400" dirty="0">
                <a:solidFill>
                  <a:srgbClr val="4A5568"/>
                </a:solidFill>
                <a:latin typeface="IBM Plex Sans" pitchFamily="34" charset="0"/>
                <a:ea typeface="IBM Plex Sans" pitchFamily="34" charset="-122"/>
                <a:cs typeface="IBM Plex Sans" pitchFamily="34" charset="-120"/>
              </a:rPr>
              <a:t>Laplace smoothing (add-1) trên tần suất lemma qua toàn corpus — </a:t>
            </a:r>
            <a:r>
              <a:rPr lang="en-US" sz="1400" b="1" dirty="0">
                <a:solidFill>
                  <a:srgbClr val="4A5568"/>
                </a:solidFill>
                <a:latin typeface="IBM Plex Sans" pitchFamily="34" charset="0"/>
                <a:ea typeface="IBM Plex Sans" pitchFamily="34" charset="-122"/>
                <a:cs typeface="IBM Plex Sans" pitchFamily="34" charset="-120"/>
              </a:rPr>
              <a:t>giữ cả hai</a:t>
            </a:r>
            <a:r>
              <a:rPr lang="en-US" sz="1400" dirty="0">
                <a:solidFill>
                  <a:srgbClr val="4A5568"/>
                </a:solidFill>
                <a:latin typeface="IBM Plex Sans" pitchFamily="34" charset="0"/>
                <a:ea typeface="IBM Plex Sans" pitchFamily="34" charset="-122"/>
                <a:cs typeface="IBM Plex Sans" pitchFamily="34" charset="-120"/>
              </a:rPr>
              <a:t> lemma khi từ thực sự đa nghĩa theo ngữ cảnh POS-tag, không ép chọn một, không xóa bỏ trường hợp hiếm.</a:t>
            </a:r>
            <a:endParaRPr lang="en-US" sz="1400" dirty="0"/>
          </a:p>
        </p:txBody>
      </p:sp>
      <p:sp>
        <p:nvSpPr>
          <p:cNvPr id="7" name="Shape 5"/>
          <p:cNvSpPr/>
          <p:nvPr/>
        </p:nvSpPr>
        <p:spPr>
          <a:xfrm>
            <a:off x="2105501" y="4344677"/>
            <a:ext cx="7980918" cy="463550"/>
          </a:xfrm>
          <a:prstGeom prst="roundRect">
            <a:avLst>
              <a:gd name="adj" fmla="val 18493"/>
            </a:avLst>
          </a:prstGeom>
          <a:solidFill>
            <a:srgbClr val="FFFFFF"/>
          </a:solidFill>
          <a:ln w="6350">
            <a:solidFill>
              <a:srgbClr val="E3DDD0"/>
            </a:solidFill>
            <a:prstDash val="solid"/>
          </a:ln>
        </p:spPr>
      </p:sp>
      <p:sp>
        <p:nvSpPr>
          <p:cNvPr id="8" name="Text 6"/>
          <p:cNvSpPr/>
          <p:nvPr/>
        </p:nvSpPr>
        <p:spPr>
          <a:xfrm>
            <a:off x="2310606" y="4460875"/>
            <a:ext cx="779783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C2733"/>
                </a:solidFill>
                <a:latin typeface="IBM Plex Sans" pitchFamily="34" charset="0"/>
                <a:ea typeface="IBM Plex Sans" pitchFamily="34" charset="-122"/>
                <a:cs typeface="IBM Plex Sans" pitchFamily="34" charset="-120"/>
              </a:rPr>
              <a:t>Ví dụ đã thấy ở cây trước: </a:t>
            </a:r>
            <a:r>
              <a:rPr lang="en-US" sz="1300" b="1" dirty="0">
                <a:solidFill>
                  <a:srgbClr val="1C2733"/>
                </a:solidFill>
                <a:latin typeface="IBM Plex Sans" pitchFamily="34" charset="0"/>
                <a:ea typeface="IBM Plex Sans" pitchFamily="34" charset="-122"/>
                <a:cs typeface="IBM Plex Sans" pitchFamily="34" charset="-120"/>
              </a:rPr>
              <a:t>running→run</a:t>
            </a:r>
            <a:r>
              <a:rPr lang="en-US" sz="1300" dirty="0">
                <a:solidFill>
                  <a:srgbClr val="1C2733"/>
                </a:solidFill>
                <a:latin typeface="IBM Plex Sans" pitchFamily="34" charset="0"/>
                <a:ea typeface="IBM Plex Sans" pitchFamily="34" charset="-122"/>
                <a:cs typeface="IBM Plex Sans" pitchFamily="34" charset="-120"/>
              </a:rPr>
              <a:t> (động từ) = </a:t>
            </a:r>
            <a:r>
              <a:rPr lang="en-US" sz="1300" b="1" dirty="0">
                <a:solidFill>
                  <a:srgbClr val="1C2733"/>
                </a:solidFill>
                <a:latin typeface="IBM Plex Sans" pitchFamily="34" charset="0"/>
                <a:ea typeface="IBM Plex Sans" pitchFamily="34" charset="-122"/>
                <a:cs typeface="IBM Plex Sans" pitchFamily="34" charset="-120"/>
              </a:rPr>
              <a:t>0,935</a:t>
            </a:r>
            <a:r>
              <a:rPr lang="en-US" sz="1300" dirty="0">
                <a:solidFill>
                  <a:srgbClr val="1C2733"/>
                </a:solidFill>
                <a:latin typeface="IBM Plex Sans" pitchFamily="34" charset="0"/>
                <a:ea typeface="IBM Plex Sans" pitchFamily="34" charset="-122"/>
                <a:cs typeface="IBM Plex Sans" pitchFamily="34" charset="-120"/>
              </a:rPr>
              <a:t>  ·  </a:t>
            </a:r>
            <a:r>
              <a:rPr lang="en-US" sz="1300" b="1" dirty="0">
                <a:solidFill>
                  <a:srgbClr val="1C2733"/>
                </a:solidFill>
                <a:latin typeface="IBM Plex Sans" pitchFamily="34" charset="0"/>
                <a:ea typeface="IBM Plex Sans" pitchFamily="34" charset="-122"/>
                <a:cs typeface="IBM Plex Sans" pitchFamily="34" charset="-120"/>
              </a:rPr>
              <a:t>running→running</a:t>
            </a:r>
            <a:r>
              <a:rPr lang="en-US" sz="1300" dirty="0">
                <a:solidFill>
                  <a:srgbClr val="1C2733"/>
                </a:solidFill>
                <a:latin typeface="IBM Plex Sans" pitchFamily="34" charset="0"/>
                <a:ea typeface="IBM Plex Sans" pitchFamily="34" charset="-122"/>
                <a:cs typeface="IBM Plex Sans" pitchFamily="34" charset="-120"/>
              </a:rPr>
              <a:t> (danh động từ) = </a:t>
            </a:r>
            <a:r>
              <a:rPr lang="en-US" sz="1300" b="1" dirty="0">
                <a:solidFill>
                  <a:srgbClr val="1C2733"/>
                </a:solidFill>
                <a:latin typeface="IBM Plex Sans" pitchFamily="34" charset="0"/>
                <a:ea typeface="IBM Plex Sans" pitchFamily="34" charset="-122"/>
                <a:cs typeface="IBM Plex Sans" pitchFamily="34" charset="-120"/>
              </a:rPr>
              <a:t>0,065</a:t>
            </a:r>
            <a:endParaRPr lang="en-US" sz="1300" dirty="0"/>
          </a:p>
        </p:txBody>
      </p:sp>
      <p:sp>
        <p:nvSpPr>
          <p:cNvPr id="9" name="Text 7"/>
          <p:cNvSpPr/>
          <p:nvPr/>
        </p:nvSpPr>
        <p:spPr>
          <a:xfrm>
            <a:off x="812800" y="6238242"/>
            <a:ext cx="54689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199"/>
                </a:solidFill>
                <a:latin typeface="IBM Plex Sans" pitchFamily="34" charset="0"/>
                <a:ea typeface="IBM Plex Sans" pitchFamily="34" charset="-122"/>
                <a:cs typeface="IBM Plex Sans" pitchFamily="34" charset="-120"/>
              </a:rPr>
              <a:t>22 / 34</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863B"/>
                </a:solidFill>
                <a:latin typeface="IBM Plex Sans" pitchFamily="34" charset="0"/>
                <a:ea typeface="IBM Plex Sans" pitchFamily="34" charset="-122"/>
                <a:cs typeface="IBM Plex Sans" pitchFamily="34" charset="-120"/>
              </a:rPr>
              <a:t>ĐÓNG GÓP DỮ LIỆU</a:t>
            </a:r>
            <a:endParaRPr lang="en-US" sz="1200" dirty="0"/>
          </a:p>
        </p:txBody>
      </p:sp>
      <p:sp>
        <p:nvSpPr>
          <p:cNvPr id="3" name="Text 1"/>
          <p:cNvSpPr/>
          <p:nvPr/>
        </p:nvSpPr>
        <p:spPr>
          <a:xfrm>
            <a:off x="812800" y="1102358"/>
            <a:ext cx="10883392" cy="34671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C2733"/>
                </a:solidFill>
                <a:latin typeface="EB Garamond" pitchFamily="34" charset="0"/>
                <a:ea typeface="EB Garamond" pitchFamily="34" charset="-122"/>
                <a:cs typeface="EB Garamond" pitchFamily="34" charset="-120"/>
              </a:rPr>
              <a:t>Ba bộ dữ liệu thu được</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687837"/>
          <a:ext cx="10556240" cy="2123440"/>
        </p:xfrm>
        <a:graphic>
          <a:graphicData uri="http://schemas.openxmlformats.org/drawingml/2006/table">
            <a:tbl>
              <a:tblPr/>
              <a:tblGrid>
                <a:gridCol w="3589122"/>
                <a:gridCol w="2322373"/>
                <a:gridCol w="1688998"/>
                <a:gridCol w="1477874"/>
                <a:gridCol w="1477874"/>
              </a:tblGrid>
              <a:tr h="530860">
                <a:tc>
                  <a:txBody>
                    <a:bodyPr/>
                    <a:lstStyle/>
                    <a:p>
                      <a:pPr indent="0" marL="0">
                        <a:lnSpc>
                          <a:spcPts val="2100"/>
                        </a:lnSpc>
                        <a:buNone/>
                      </a:pPr>
                      <a:r>
                        <a:rPr lang="en-US" sz="1500" b="1" dirty="0">
                          <a:solidFill>
                            <a:srgbClr val="FAF9F5"/>
                          </a:solidFill>
                          <a:latin typeface="IBM Plex Sans" pitchFamily="34" charset="0"/>
                          <a:ea typeface="IBM Plex Sans" pitchFamily="34" charset="-122"/>
                          <a:cs typeface="IBM Plex Sans" pitchFamily="34" charset="-120"/>
                        </a:rPr>
                        <a:t>Corpus</a:t>
                      </a:r>
                      <a:endParaRPr lang="en-US" sz="1500" dirty="0">
                        <a:latin typeface="IBM Plex Sans" charset="0"/>
                        <a:ea typeface="IBM Plex Sans" charset="0"/>
                        <a:cs typeface="IBM Plex Sans" charset="0"/>
                      </a:endParaRPr>
                    </a:p>
                  </a:txBody>
                  <a:tcPr marL="152400" marR="152400" marT="127000" marB="127000" anchor="t">
                    <a:lnL w="12700" cap="flat" cmpd="sng" algn="ctr">
                      <a:solidFill>
                        <a:srgbClr val="C7C7C3"/>
                      </a:solidFill>
                      <a:prstDash val="solid"/>
                      <a:round/>
                      <a:headEnd type="none" w="med" len="med"/>
                      <a:tailEnd type="none" w="med" len="med"/>
                    </a:lnL>
                    <a:lnR w="12700" cap="flat" cmpd="sng" algn="ctr">
                      <a:solidFill>
                        <a:srgbClr val="1A232C"/>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1A232C"/>
                      </a:solidFill>
                      <a:prstDash val="solid"/>
                      <a:round/>
                      <a:headEnd type="none" w="med" len="med"/>
                      <a:tailEnd type="none" w="med" len="med"/>
                    </a:lnB>
                    <a:solidFill>
                      <a:srgbClr val="1C2733"/>
                    </a:solidFill>
                  </a:tcPr>
                </a:tc>
                <a:tc>
                  <a:txBody>
                    <a:bodyPr/>
                    <a:lstStyle/>
                    <a:p>
                      <a:pPr algn="r" indent="0" marL="0">
                        <a:lnSpc>
                          <a:spcPts val="2100"/>
                        </a:lnSpc>
                        <a:buNone/>
                      </a:pPr>
                      <a:r>
                        <a:rPr lang="en-US" sz="1500" b="1" dirty="0">
                          <a:solidFill>
                            <a:srgbClr val="FAF9F5"/>
                          </a:solidFill>
                          <a:latin typeface="IBM Plex Sans" pitchFamily="34" charset="0"/>
                          <a:ea typeface="IBM Plex Sans" pitchFamily="34" charset="-122"/>
                          <a:cs typeface="IBM Plex Sans" pitchFamily="34" charset="-120"/>
                        </a:rPr>
                        <a:t>Giao dịch</a:t>
                      </a:r>
                      <a:endParaRPr lang="en-US" sz="1500" dirty="0">
                        <a:latin typeface="IBM Plex Sans" charset="0"/>
                        <a:ea typeface="IBM Plex Sans" charset="0"/>
                        <a:cs typeface="IBM Plex Sans" charset="0"/>
                      </a:endParaRPr>
                    </a:p>
                  </a:txBody>
                  <a:tcPr marL="152400" marR="152400" marT="127000" marB="127000" anchor="t">
                    <a:lnL w="12700" cap="flat" cmpd="sng" algn="ctr">
                      <a:solidFill>
                        <a:srgbClr val="1A232C"/>
                      </a:solidFill>
                      <a:prstDash val="solid"/>
                      <a:round/>
                      <a:headEnd type="none" w="med" len="med"/>
                      <a:tailEnd type="none" w="med" len="med"/>
                    </a:lnL>
                    <a:lnR w="12700" cap="flat" cmpd="sng" algn="ctr">
                      <a:solidFill>
                        <a:srgbClr val="1A232C"/>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1A232C"/>
                      </a:solidFill>
                      <a:prstDash val="solid"/>
                      <a:round/>
                      <a:headEnd type="none" w="med" len="med"/>
                      <a:tailEnd type="none" w="med" len="med"/>
                    </a:lnB>
                    <a:solidFill>
                      <a:srgbClr val="1C2733"/>
                    </a:solidFill>
                  </a:tcPr>
                </a:tc>
                <a:tc>
                  <a:txBody>
                    <a:bodyPr/>
                    <a:lstStyle/>
                    <a:p>
                      <a:pPr algn="r" indent="0" marL="0">
                        <a:lnSpc>
                          <a:spcPts val="2100"/>
                        </a:lnSpc>
                        <a:buNone/>
                      </a:pPr>
                      <a:r>
                        <a:rPr lang="en-US" sz="1500" b="1" dirty="0">
                          <a:solidFill>
                            <a:srgbClr val="FAF9F5"/>
                          </a:solidFill>
                          <a:latin typeface="IBM Plex Sans" pitchFamily="34" charset="0"/>
                          <a:ea typeface="IBM Plex Sans" pitchFamily="34" charset="-122"/>
                          <a:cs typeface="IBM Plex Sans" pitchFamily="34" charset="-120"/>
                        </a:rPr>
                        <a:t>Leaf</a:t>
                      </a:r>
                      <a:endParaRPr lang="en-US" sz="1500" dirty="0">
                        <a:latin typeface="IBM Plex Sans" charset="0"/>
                        <a:ea typeface="IBM Plex Sans" charset="0"/>
                        <a:cs typeface="IBM Plex Sans" charset="0"/>
                      </a:endParaRPr>
                    </a:p>
                  </a:txBody>
                  <a:tcPr marL="152400" marR="152400" marT="127000" marB="127000" anchor="t">
                    <a:lnL w="12700" cap="flat" cmpd="sng" algn="ctr">
                      <a:solidFill>
                        <a:srgbClr val="1A232C"/>
                      </a:solidFill>
                      <a:prstDash val="solid"/>
                      <a:round/>
                      <a:headEnd type="none" w="med" len="med"/>
                      <a:tailEnd type="none" w="med" len="med"/>
                    </a:lnL>
                    <a:lnR w="12700" cap="flat" cmpd="sng" algn="ctr">
                      <a:solidFill>
                        <a:srgbClr val="1A232C"/>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1A232C"/>
                      </a:solidFill>
                      <a:prstDash val="solid"/>
                      <a:round/>
                      <a:headEnd type="none" w="med" len="med"/>
                      <a:tailEnd type="none" w="med" len="med"/>
                    </a:lnB>
                    <a:solidFill>
                      <a:srgbClr val="1C2733"/>
                    </a:solidFill>
                  </a:tcPr>
                </a:tc>
                <a:tc>
                  <a:txBody>
                    <a:bodyPr/>
                    <a:lstStyle/>
                    <a:p>
                      <a:pPr algn="r" indent="0" marL="0">
                        <a:lnSpc>
                          <a:spcPts val="2100"/>
                        </a:lnSpc>
                        <a:buNone/>
                      </a:pPr>
                      <a:r>
                        <a:rPr lang="en-US" sz="1500" b="1" dirty="0">
                          <a:solidFill>
                            <a:srgbClr val="FAF9F5"/>
                          </a:solidFill>
                          <a:latin typeface="IBM Plex Sans" pitchFamily="34" charset="0"/>
                          <a:ea typeface="IBM Plex Sans" pitchFamily="34" charset="-122"/>
                          <a:cs typeface="IBM Plex Sans" pitchFamily="34" charset="-120"/>
                        </a:rPr>
                        <a:t>Variant</a:t>
                      </a:r>
                      <a:endParaRPr lang="en-US" sz="1500" dirty="0">
                        <a:latin typeface="IBM Plex Sans" charset="0"/>
                        <a:ea typeface="IBM Plex Sans" charset="0"/>
                        <a:cs typeface="IBM Plex Sans" charset="0"/>
                      </a:endParaRPr>
                    </a:p>
                  </a:txBody>
                  <a:tcPr marL="152400" marR="152400" marT="127000" marB="127000" anchor="t">
                    <a:lnL w="12700" cap="flat" cmpd="sng" algn="ctr">
                      <a:solidFill>
                        <a:srgbClr val="1A232C"/>
                      </a:solidFill>
                      <a:prstDash val="solid"/>
                      <a:round/>
                      <a:headEnd type="none" w="med" len="med"/>
                      <a:tailEnd type="none" w="med" len="med"/>
                    </a:lnL>
                    <a:lnR w="12700" cap="flat" cmpd="sng" algn="ctr">
                      <a:solidFill>
                        <a:srgbClr val="1A232C"/>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1A232C"/>
                      </a:solidFill>
                      <a:prstDash val="solid"/>
                      <a:round/>
                      <a:headEnd type="none" w="med" len="med"/>
                      <a:tailEnd type="none" w="med" len="med"/>
                    </a:lnB>
                    <a:solidFill>
                      <a:srgbClr val="1C2733"/>
                    </a:solidFill>
                  </a:tcPr>
                </a:tc>
                <a:tc>
                  <a:txBody>
                    <a:bodyPr/>
                    <a:lstStyle/>
                    <a:p>
                      <a:pPr algn="r" indent="0" marL="0">
                        <a:lnSpc>
                          <a:spcPts val="2100"/>
                        </a:lnSpc>
                        <a:buNone/>
                      </a:pPr>
                      <a:r>
                        <a:rPr lang="en-US" sz="1500" b="1" dirty="0">
                          <a:solidFill>
                            <a:srgbClr val="FAF9F5"/>
                          </a:solidFill>
                          <a:latin typeface="IBM Plex Sans" pitchFamily="34" charset="0"/>
                          <a:ea typeface="IBM Plex Sans" pitchFamily="34" charset="-122"/>
                          <a:cs typeface="IBM Plex Sans" pitchFamily="34" charset="-120"/>
                        </a:rPr>
                        <a:t>Lemma</a:t>
                      </a:r>
                      <a:endParaRPr lang="en-US" sz="1500" dirty="0">
                        <a:latin typeface="IBM Plex Sans" charset="0"/>
                        <a:ea typeface="IBM Plex Sans" charset="0"/>
                        <a:cs typeface="IBM Plex Sans" charset="0"/>
                      </a:endParaRPr>
                    </a:p>
                  </a:txBody>
                  <a:tcPr marL="152400" marR="152400" marT="127000" marB="127000" anchor="t">
                    <a:lnL w="12700" cap="flat" cmpd="sng" algn="ctr">
                      <a:solidFill>
                        <a:srgbClr val="1A232C"/>
                      </a:solidFill>
                      <a:prstDash val="solid"/>
                      <a:round/>
                      <a:headEnd type="none" w="med" len="med"/>
                      <a:tailEnd type="none" w="med" len="med"/>
                    </a:lnL>
                    <a:lnR w="12700" cap="flat" cmpd="sng" algn="ctr">
                      <a:solidFill>
                        <a:srgbClr val="1A232C"/>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1A232C"/>
                      </a:solidFill>
                      <a:prstDash val="solid"/>
                      <a:round/>
                      <a:headEnd type="none" w="med" len="med"/>
                      <a:tailEnd type="none" w="med" len="med"/>
                    </a:lnB>
                    <a:solidFill>
                      <a:srgbClr val="1C2733"/>
                    </a:solidFill>
                  </a:tcPr>
                </a:tc>
              </a:tr>
              <a:tr h="530860">
                <a:tc>
                  <a:txBody>
                    <a:bodyPr/>
                    <a:lstStyle/>
                    <a:p>
                      <a:pPr indent="0" marL="0">
                        <a:lnSpc>
                          <a:spcPts val="2100"/>
                        </a:lnSpc>
                        <a:buNone/>
                      </a:pPr>
                      <a:r>
                        <a:rPr lang="en-US" sz="1500" dirty="0">
                          <a:solidFill>
                            <a:srgbClr val="1C2733"/>
                          </a:solidFill>
                          <a:latin typeface="IBM Plex Sans" pitchFamily="34" charset="0"/>
                          <a:ea typeface="IBM Plex Sans" pitchFamily="34" charset="-122"/>
                          <a:cs typeface="IBM Plex Sans" pitchFamily="34" charset="-120"/>
                        </a:rPr>
                        <a:t>IWSLT15 (~133k câu)</a:t>
                      </a:r>
                      <a:endParaRPr lang="en-US" sz="1500" dirty="0">
                        <a:latin typeface="IBM Plex Sans" charset="0"/>
                        <a:ea typeface="IBM Plex Sans" charset="0"/>
                        <a:cs typeface="IBM Plex Sans" charset="0"/>
                      </a:endParaRPr>
                    </a:p>
                  </a:txBody>
                  <a:tcPr marL="152400" marR="152400" marT="127000" marB="127000" anchor="t">
                    <a:lnL w="12700" cap="flat" cmpd="sng" algn="ctr">
                      <a:solidFill>
                        <a:srgbClr val="C7C7C3"/>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A232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r" indent="0" marL="0">
                        <a:lnSpc>
                          <a:spcPts val="2100"/>
                        </a:lnSpc>
                        <a:buNone/>
                      </a:pPr>
                      <a:r>
                        <a:rPr lang="en-US" sz="1500" dirty="0">
                          <a:solidFill>
                            <a:srgbClr val="1C2733"/>
                          </a:solidFill>
                          <a:latin typeface="IBM Plex Sans" pitchFamily="34" charset="0"/>
                          <a:ea typeface="IBM Plex Sans" pitchFamily="34" charset="-122"/>
                          <a:cs typeface="IBM Plex Sans" pitchFamily="34" charset="-120"/>
                        </a:rPr>
                        <a:t>125.830</a:t>
                      </a:r>
                      <a:endParaRPr lang="en-US" sz="1500" dirty="0">
                        <a:latin typeface="IBM Plex Sans" charset="0"/>
                        <a:ea typeface="IBM Plex Sans" charset="0"/>
                        <a:cs typeface="IBM Plex Sans" charset="0"/>
                      </a:endParaRPr>
                    </a:p>
                  </a:txBody>
                  <a:tcPr marL="152400" marR="1524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A232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r" indent="0" marL="0">
                        <a:lnSpc>
                          <a:spcPts val="2100"/>
                        </a:lnSpc>
                        <a:buNone/>
                      </a:pPr>
                      <a:r>
                        <a:rPr lang="en-US" sz="1500" dirty="0">
                          <a:solidFill>
                            <a:srgbClr val="1C2733"/>
                          </a:solidFill>
                          <a:latin typeface="IBM Plex Sans" pitchFamily="34" charset="0"/>
                          <a:ea typeface="IBM Plex Sans" pitchFamily="34" charset="-122"/>
                          <a:cs typeface="IBM Plex Sans" pitchFamily="34" charset="-120"/>
                        </a:rPr>
                        <a:t>9.024</a:t>
                      </a:r>
                      <a:endParaRPr lang="en-US" sz="1500" dirty="0">
                        <a:latin typeface="IBM Plex Sans" charset="0"/>
                        <a:ea typeface="IBM Plex Sans" charset="0"/>
                        <a:cs typeface="IBM Plex Sans" charset="0"/>
                      </a:endParaRPr>
                    </a:p>
                  </a:txBody>
                  <a:tcPr marL="152400" marR="1524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A232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r" indent="0" marL="0">
                        <a:lnSpc>
                          <a:spcPts val="2100"/>
                        </a:lnSpc>
                        <a:buNone/>
                      </a:pPr>
                      <a:r>
                        <a:rPr lang="en-US" sz="1500" dirty="0">
                          <a:solidFill>
                            <a:srgbClr val="1C2733"/>
                          </a:solidFill>
                          <a:latin typeface="IBM Plex Sans" pitchFamily="34" charset="0"/>
                          <a:ea typeface="IBM Plex Sans" pitchFamily="34" charset="-122"/>
                          <a:cs typeface="IBM Plex Sans" pitchFamily="34" charset="-120"/>
                        </a:rPr>
                        <a:t>9.363</a:t>
                      </a:r>
                      <a:endParaRPr lang="en-US" sz="1500" dirty="0">
                        <a:latin typeface="IBM Plex Sans" charset="0"/>
                        <a:ea typeface="IBM Plex Sans" charset="0"/>
                        <a:cs typeface="IBM Plex Sans" charset="0"/>
                      </a:endParaRPr>
                    </a:p>
                  </a:txBody>
                  <a:tcPr marL="152400" marR="1524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A232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r" indent="0" marL="0">
                        <a:lnSpc>
                          <a:spcPts val="2100"/>
                        </a:lnSpc>
                        <a:buNone/>
                      </a:pPr>
                      <a:r>
                        <a:rPr lang="en-US" sz="1500" dirty="0">
                          <a:solidFill>
                            <a:srgbClr val="1C2733"/>
                          </a:solidFill>
                          <a:latin typeface="IBM Plex Sans" pitchFamily="34" charset="0"/>
                          <a:ea typeface="IBM Plex Sans" pitchFamily="34" charset="-122"/>
                          <a:cs typeface="IBM Plex Sans" pitchFamily="34" charset="-120"/>
                        </a:rPr>
                        <a:t>8.004</a:t>
                      </a:r>
                      <a:endParaRPr lang="en-US" sz="1500" dirty="0">
                        <a:latin typeface="IBM Plex Sans" charset="0"/>
                        <a:ea typeface="IBM Plex Sans" charset="0"/>
                        <a:cs typeface="IBM Plex Sans" charset="0"/>
                      </a:endParaRPr>
                    </a:p>
                  </a:txBody>
                  <a:tcPr marL="152400" marR="1524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A232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530860">
                <a:tc>
                  <a:txBody>
                    <a:bodyPr/>
                    <a:lstStyle/>
                    <a:p>
                      <a:pPr indent="0" marL="0">
                        <a:lnSpc>
                          <a:spcPts val="2100"/>
                        </a:lnSpc>
                        <a:buNone/>
                      </a:pPr>
                      <a:r>
                        <a:rPr lang="en-US" sz="1500" dirty="0">
                          <a:solidFill>
                            <a:srgbClr val="1C2733"/>
                          </a:solidFill>
                          <a:latin typeface="IBM Plex Sans" pitchFamily="34" charset="0"/>
                          <a:ea typeface="IBM Plex Sans" pitchFamily="34" charset="-122"/>
                          <a:cs typeface="IBM Plex Sans" pitchFamily="34" charset="-120"/>
                        </a:rPr>
                        <a:t>MTet 150k câu</a:t>
                      </a:r>
                      <a:endParaRPr lang="en-US" sz="1500" dirty="0">
                        <a:latin typeface="IBM Plex Sans" charset="0"/>
                        <a:ea typeface="IBM Plex Sans" charset="0"/>
                        <a:cs typeface="IBM Plex Sans" charset="0"/>
                      </a:endParaRPr>
                    </a:p>
                  </a:txBody>
                  <a:tcPr marL="152400" marR="152400" marT="127000" marB="127000" anchor="t">
                    <a:lnL w="12700" cap="flat" cmpd="sng" algn="ctr">
                      <a:solidFill>
                        <a:srgbClr val="C7C7C3"/>
                      </a:solidFill>
                      <a:prstDash val="solid"/>
                      <a:round/>
                      <a:headEnd type="none" w="med" len="med"/>
                      <a:tailEnd type="none" w="med" len="med"/>
                    </a:lnL>
                    <a:lnR w="12700" cap="flat" cmpd="sng" algn="ctr">
                      <a:solidFill>
                        <a:srgbClr val="C0BDB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c>
                  <a:txBody>
                    <a:bodyPr/>
                    <a:lstStyle/>
                    <a:p>
                      <a:pPr algn="r" indent="0" marL="0">
                        <a:lnSpc>
                          <a:spcPts val="2100"/>
                        </a:lnSpc>
                        <a:buNone/>
                      </a:pPr>
                      <a:r>
                        <a:rPr lang="en-US" sz="1500" dirty="0">
                          <a:solidFill>
                            <a:srgbClr val="1C2733"/>
                          </a:solidFill>
                          <a:latin typeface="IBM Plex Sans" pitchFamily="34" charset="0"/>
                          <a:ea typeface="IBM Plex Sans" pitchFamily="34" charset="-122"/>
                          <a:cs typeface="IBM Plex Sans" pitchFamily="34" charset="-120"/>
                        </a:rPr>
                        <a:t>107.887</a:t>
                      </a:r>
                      <a:endParaRPr lang="en-US" sz="1500" dirty="0">
                        <a:latin typeface="IBM Plex Sans" charset="0"/>
                        <a:ea typeface="IBM Plex Sans" charset="0"/>
                        <a:cs typeface="IBM Plex Sans" charset="0"/>
                      </a:endParaRPr>
                    </a:p>
                  </a:txBody>
                  <a:tcPr marL="152400" marR="152400" marT="127000" marB="127000" anchor="t">
                    <a:lnL w="12700" cap="flat" cmpd="sng" algn="ctr">
                      <a:solidFill>
                        <a:srgbClr val="C0BDB7"/>
                      </a:solidFill>
                      <a:prstDash val="solid"/>
                      <a:round/>
                      <a:headEnd type="none" w="med" len="med"/>
                      <a:tailEnd type="none" w="med" len="med"/>
                    </a:lnL>
                    <a:lnR w="12700" cap="flat" cmpd="sng" algn="ctr">
                      <a:solidFill>
                        <a:srgbClr val="C0BDB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c>
                  <a:txBody>
                    <a:bodyPr/>
                    <a:lstStyle/>
                    <a:p>
                      <a:pPr algn="r" indent="0" marL="0">
                        <a:lnSpc>
                          <a:spcPts val="2100"/>
                        </a:lnSpc>
                        <a:buNone/>
                      </a:pPr>
                      <a:r>
                        <a:rPr lang="en-US" sz="1500" dirty="0">
                          <a:solidFill>
                            <a:srgbClr val="1C2733"/>
                          </a:solidFill>
                          <a:latin typeface="IBM Plex Sans" pitchFamily="34" charset="0"/>
                          <a:ea typeface="IBM Plex Sans" pitchFamily="34" charset="-122"/>
                          <a:cs typeface="IBM Plex Sans" pitchFamily="34" charset="-120"/>
                        </a:rPr>
                        <a:t>11.722</a:t>
                      </a:r>
                      <a:endParaRPr lang="en-US" sz="1500" dirty="0">
                        <a:latin typeface="IBM Plex Sans" charset="0"/>
                        <a:ea typeface="IBM Plex Sans" charset="0"/>
                        <a:cs typeface="IBM Plex Sans" charset="0"/>
                      </a:endParaRPr>
                    </a:p>
                  </a:txBody>
                  <a:tcPr marL="152400" marR="152400" marT="127000" marB="127000" anchor="t">
                    <a:lnL w="12700" cap="flat" cmpd="sng" algn="ctr">
                      <a:solidFill>
                        <a:srgbClr val="C0BDB7"/>
                      </a:solidFill>
                      <a:prstDash val="solid"/>
                      <a:round/>
                      <a:headEnd type="none" w="med" len="med"/>
                      <a:tailEnd type="none" w="med" len="med"/>
                    </a:lnL>
                    <a:lnR w="12700" cap="flat" cmpd="sng" algn="ctr">
                      <a:solidFill>
                        <a:srgbClr val="C0BDB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c>
                  <a:txBody>
                    <a:bodyPr/>
                    <a:lstStyle/>
                    <a:p>
                      <a:pPr algn="r" indent="0" marL="0">
                        <a:lnSpc>
                          <a:spcPts val="2100"/>
                        </a:lnSpc>
                        <a:buNone/>
                      </a:pPr>
                      <a:r>
                        <a:rPr lang="en-US" sz="1500" dirty="0">
                          <a:solidFill>
                            <a:srgbClr val="1C2733"/>
                          </a:solidFill>
                          <a:latin typeface="IBM Plex Sans" pitchFamily="34" charset="0"/>
                          <a:ea typeface="IBM Plex Sans" pitchFamily="34" charset="-122"/>
                          <a:cs typeface="IBM Plex Sans" pitchFamily="34" charset="-120"/>
                        </a:rPr>
                        <a:t>10.320</a:t>
                      </a:r>
                      <a:endParaRPr lang="en-US" sz="1500" dirty="0">
                        <a:latin typeface="IBM Plex Sans" charset="0"/>
                        <a:ea typeface="IBM Plex Sans" charset="0"/>
                        <a:cs typeface="IBM Plex Sans" charset="0"/>
                      </a:endParaRPr>
                    </a:p>
                  </a:txBody>
                  <a:tcPr marL="152400" marR="152400" marT="127000" marB="127000" anchor="t">
                    <a:lnL w="12700" cap="flat" cmpd="sng" algn="ctr">
                      <a:solidFill>
                        <a:srgbClr val="C0BDB7"/>
                      </a:solidFill>
                      <a:prstDash val="solid"/>
                      <a:round/>
                      <a:headEnd type="none" w="med" len="med"/>
                      <a:tailEnd type="none" w="med" len="med"/>
                    </a:lnL>
                    <a:lnR w="12700" cap="flat" cmpd="sng" algn="ctr">
                      <a:solidFill>
                        <a:srgbClr val="C0BDB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c>
                  <a:txBody>
                    <a:bodyPr/>
                    <a:lstStyle/>
                    <a:p>
                      <a:pPr algn="r" indent="0" marL="0">
                        <a:lnSpc>
                          <a:spcPts val="2100"/>
                        </a:lnSpc>
                        <a:buNone/>
                      </a:pPr>
                      <a:r>
                        <a:rPr lang="en-US" sz="1500" dirty="0">
                          <a:solidFill>
                            <a:srgbClr val="1C2733"/>
                          </a:solidFill>
                          <a:latin typeface="IBM Plex Sans" pitchFamily="34" charset="0"/>
                          <a:ea typeface="IBM Plex Sans" pitchFamily="34" charset="-122"/>
                          <a:cs typeface="IBM Plex Sans" pitchFamily="34" charset="-120"/>
                        </a:rPr>
                        <a:t>9.366</a:t>
                      </a:r>
                      <a:endParaRPr lang="en-US" sz="1500" dirty="0">
                        <a:latin typeface="IBM Plex Sans" charset="0"/>
                        <a:ea typeface="IBM Plex Sans" charset="0"/>
                        <a:cs typeface="IBM Plex Sans" charset="0"/>
                      </a:endParaRPr>
                    </a:p>
                  </a:txBody>
                  <a:tcPr marL="152400" marR="152400" marT="127000" marB="127000" anchor="t">
                    <a:lnL w="12700" cap="flat" cmpd="sng" algn="ctr">
                      <a:solidFill>
                        <a:srgbClr val="C0BDB7"/>
                      </a:solidFill>
                      <a:prstDash val="solid"/>
                      <a:round/>
                      <a:headEnd type="none" w="med" len="med"/>
                      <a:tailEnd type="none" w="med" len="med"/>
                    </a:lnL>
                    <a:lnR w="12700" cap="flat" cmpd="sng" algn="ctr">
                      <a:solidFill>
                        <a:srgbClr val="C0BDB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r>
              <a:tr h="530860">
                <a:tc>
                  <a:txBody>
                    <a:bodyPr/>
                    <a:lstStyle/>
                    <a:p>
                      <a:pPr indent="0" marL="0">
                        <a:lnSpc>
                          <a:spcPts val="2100"/>
                        </a:lnSpc>
                        <a:buNone/>
                      </a:pPr>
                      <a:r>
                        <a:rPr lang="en-US" sz="1500" dirty="0">
                          <a:solidFill>
                            <a:srgbClr val="1C2733"/>
                          </a:solidFill>
                          <a:latin typeface="IBM Plex Sans" pitchFamily="34" charset="0"/>
                          <a:ea typeface="IBM Plex Sans" pitchFamily="34" charset="-122"/>
                          <a:cs typeface="IBM Plex Sans" pitchFamily="34" charset="-120"/>
                        </a:rPr>
                        <a:t>MTet 250k câu</a:t>
                      </a:r>
                      <a:endParaRPr lang="en-US" sz="1500" dirty="0">
                        <a:latin typeface="IBM Plex Sans" charset="0"/>
                        <a:ea typeface="IBM Plex Sans" charset="0"/>
                        <a:cs typeface="IBM Plex Sans" charset="0"/>
                      </a:endParaRPr>
                    </a:p>
                  </a:txBody>
                  <a:tcPr marL="152400" marR="152400" marT="127000" marB="127000" anchor="t">
                    <a:lnL w="12700" cap="flat" cmpd="sng" algn="ctr">
                      <a:solidFill>
                        <a:srgbClr val="C7C7C3"/>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BDB7"/>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r" indent="0" marL="0">
                        <a:lnSpc>
                          <a:spcPts val="2100"/>
                        </a:lnSpc>
                        <a:buNone/>
                      </a:pPr>
                      <a:r>
                        <a:rPr lang="en-US" sz="1500" dirty="0">
                          <a:solidFill>
                            <a:srgbClr val="1C2733"/>
                          </a:solidFill>
                          <a:latin typeface="IBM Plex Sans" pitchFamily="34" charset="0"/>
                          <a:ea typeface="IBM Plex Sans" pitchFamily="34" charset="-122"/>
                          <a:cs typeface="IBM Plex Sans" pitchFamily="34" charset="-120"/>
                        </a:rPr>
                        <a:t>181.605</a:t>
                      </a:r>
                      <a:endParaRPr lang="en-US" sz="1500" dirty="0">
                        <a:latin typeface="IBM Plex Sans" charset="0"/>
                        <a:ea typeface="IBM Plex Sans" charset="0"/>
                        <a:cs typeface="IBM Plex Sans" charset="0"/>
                      </a:endParaRPr>
                    </a:p>
                  </a:txBody>
                  <a:tcPr marL="152400" marR="1524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BDB7"/>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r" indent="0" marL="0">
                        <a:lnSpc>
                          <a:spcPts val="2100"/>
                        </a:lnSpc>
                        <a:buNone/>
                      </a:pPr>
                      <a:r>
                        <a:rPr lang="en-US" sz="1500" dirty="0">
                          <a:solidFill>
                            <a:srgbClr val="1C2733"/>
                          </a:solidFill>
                          <a:latin typeface="IBM Plex Sans" pitchFamily="34" charset="0"/>
                          <a:ea typeface="IBM Plex Sans" pitchFamily="34" charset="-122"/>
                          <a:cs typeface="IBM Plex Sans" pitchFamily="34" charset="-120"/>
                        </a:rPr>
                        <a:t>16.038</a:t>
                      </a:r>
                      <a:endParaRPr lang="en-US" sz="1500" dirty="0">
                        <a:latin typeface="IBM Plex Sans" charset="0"/>
                        <a:ea typeface="IBM Plex Sans" charset="0"/>
                        <a:cs typeface="IBM Plex Sans" charset="0"/>
                      </a:endParaRPr>
                    </a:p>
                  </a:txBody>
                  <a:tcPr marL="152400" marR="1524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BDB7"/>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r" indent="0" marL="0">
                        <a:lnSpc>
                          <a:spcPts val="2100"/>
                        </a:lnSpc>
                        <a:buNone/>
                      </a:pPr>
                      <a:r>
                        <a:rPr lang="en-US" sz="1500" dirty="0">
                          <a:solidFill>
                            <a:srgbClr val="1C2733"/>
                          </a:solidFill>
                          <a:latin typeface="IBM Plex Sans" pitchFamily="34" charset="0"/>
                          <a:ea typeface="IBM Plex Sans" pitchFamily="34" charset="-122"/>
                          <a:cs typeface="IBM Plex Sans" pitchFamily="34" charset="-120"/>
                        </a:rPr>
                        <a:t>13.309</a:t>
                      </a:r>
                      <a:endParaRPr lang="en-US" sz="1500" dirty="0">
                        <a:latin typeface="IBM Plex Sans" charset="0"/>
                        <a:ea typeface="IBM Plex Sans" charset="0"/>
                        <a:cs typeface="IBM Plex Sans" charset="0"/>
                      </a:endParaRPr>
                    </a:p>
                  </a:txBody>
                  <a:tcPr marL="152400" marR="1524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BDB7"/>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r" indent="0" marL="0">
                        <a:lnSpc>
                          <a:spcPts val="2100"/>
                        </a:lnSpc>
                        <a:buNone/>
                      </a:pPr>
                      <a:r>
                        <a:rPr lang="en-US" sz="1500" dirty="0">
                          <a:solidFill>
                            <a:srgbClr val="1C2733"/>
                          </a:solidFill>
                          <a:latin typeface="IBM Plex Sans" pitchFamily="34" charset="0"/>
                          <a:ea typeface="IBM Plex Sans" pitchFamily="34" charset="-122"/>
                          <a:cs typeface="IBM Plex Sans" pitchFamily="34" charset="-120"/>
                        </a:rPr>
                        <a:t>12.167</a:t>
                      </a:r>
                      <a:endParaRPr lang="en-US" sz="1500" dirty="0">
                        <a:latin typeface="IBM Plex Sans" charset="0"/>
                        <a:ea typeface="IBM Plex Sans" charset="0"/>
                        <a:cs typeface="IBM Plex Sans" charset="0"/>
                      </a:endParaRPr>
                    </a:p>
                  </a:txBody>
                  <a:tcPr marL="152400" marR="1524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BDB7"/>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5" name="Shape 2"/>
          <p:cNvSpPr/>
          <p:nvPr/>
        </p:nvSpPr>
        <p:spPr>
          <a:xfrm>
            <a:off x="812800" y="4065277"/>
            <a:ext cx="10566400" cy="535940"/>
          </a:xfrm>
          <a:prstGeom prst="roundRect">
            <a:avLst>
              <a:gd name="adj" fmla="val 18957"/>
            </a:avLst>
          </a:prstGeom>
          <a:solidFill>
            <a:srgbClr val="1C2733"/>
          </a:solidFill>
          <a:ln/>
        </p:spPr>
      </p:sp>
      <p:sp>
        <p:nvSpPr>
          <p:cNvPr id="6" name="Text 3"/>
          <p:cNvSpPr/>
          <p:nvPr/>
        </p:nvSpPr>
        <p:spPr>
          <a:xfrm>
            <a:off x="1016000" y="4217677"/>
            <a:ext cx="104648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AF9F5"/>
                </a:solidFill>
                <a:latin typeface="IBM Plex Sans" pitchFamily="34" charset="0"/>
                <a:ea typeface="IBM Plex Sans" pitchFamily="34" charset="-122"/>
                <a:cs typeface="IBM Plex Sans" pitchFamily="34" charset="-120"/>
              </a:rPr>
              <a:t>IWSLT15 giữ lại </a:t>
            </a:r>
            <a:r>
              <a:rPr lang="en-US" sz="1300" b="1" dirty="0">
                <a:solidFill>
                  <a:srgbClr val="FAF9F5"/>
                </a:solidFill>
                <a:latin typeface="IBM Plex Sans" pitchFamily="34" charset="0"/>
                <a:ea typeface="IBM Plex Sans" pitchFamily="34" charset="-122"/>
                <a:cs typeface="IBM Plex Sans" pitchFamily="34" charset="-120"/>
              </a:rPr>
              <a:t>~94%</a:t>
            </a:r>
            <a:r>
              <a:rPr lang="en-US" sz="1300" dirty="0">
                <a:solidFill>
                  <a:srgbClr val="FAF9F5"/>
                </a:solidFill>
                <a:latin typeface="IBM Plex Sans" pitchFamily="34" charset="0"/>
                <a:ea typeface="IBM Plex Sans" pitchFamily="34" charset="-122"/>
                <a:cs typeface="IBM Plex Sans" pitchFamily="34" charset="-120"/>
              </a:rPr>
              <a:t> số câu gốc; MTet chỉ giữ </a:t>
            </a:r>
            <a:r>
              <a:rPr lang="en-US" sz="1300" b="1" dirty="0">
                <a:solidFill>
                  <a:srgbClr val="FAF9F5"/>
                </a:solidFill>
                <a:latin typeface="IBM Plex Sans" pitchFamily="34" charset="0"/>
                <a:ea typeface="IBM Plex Sans" pitchFamily="34" charset="-122"/>
                <a:cs typeface="IBM Plex Sans" pitchFamily="34" charset="-120"/>
              </a:rPr>
              <a:t>~72%</a:t>
            </a:r>
            <a:r>
              <a:rPr lang="en-US" sz="1300" dirty="0">
                <a:solidFill>
                  <a:srgbClr val="FAF9F5"/>
                </a:solidFill>
                <a:latin typeface="IBM Plex Sans" pitchFamily="34" charset="0"/>
                <a:ea typeface="IBM Plex Sans" pitchFamily="34" charset="-122"/>
                <a:cs typeface="IBM Plex Sans" pitchFamily="34" charset="-120"/>
              </a:rPr>
              <a:t> — corpus càng lớn, tính đa-cha của taxonomy càng rõ nét hơn.</a:t>
            </a:r>
            <a:endParaRPr lang="en-US" sz="1300" dirty="0"/>
          </a:p>
        </p:txBody>
      </p:sp>
      <p:sp>
        <p:nvSpPr>
          <p:cNvPr id="7" name="Text 4"/>
          <p:cNvSpPr/>
          <p:nvPr/>
        </p:nvSpPr>
        <p:spPr>
          <a:xfrm>
            <a:off x="812800" y="6238242"/>
            <a:ext cx="54689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199"/>
                </a:solidFill>
                <a:latin typeface="IBM Plex Sans" pitchFamily="34" charset="0"/>
                <a:ea typeface="IBM Plex Sans" pitchFamily="34" charset="-122"/>
                <a:cs typeface="IBM Plex Sans" pitchFamily="34" charset="-120"/>
              </a:rPr>
              <a:t>23 / 34</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863B"/>
                </a:solidFill>
                <a:latin typeface="IBM Plex Sans" pitchFamily="34" charset="0"/>
                <a:ea typeface="IBM Plex Sans" pitchFamily="34" charset="-122"/>
                <a:cs typeface="IBM Plex Sans" pitchFamily="34" charset="-120"/>
              </a:rPr>
              <a:t>ĐÓNG GÓP DỮ LIỆU</a:t>
            </a:r>
            <a:endParaRPr lang="en-US" sz="1200" dirty="0"/>
          </a:p>
        </p:txBody>
      </p:sp>
      <p:sp>
        <p:nvSpPr>
          <p:cNvPr id="3" name="Text 1"/>
          <p:cNvSpPr/>
          <p:nvPr/>
        </p:nvSpPr>
        <p:spPr>
          <a:xfrm>
            <a:off x="812800" y="1076958"/>
            <a:ext cx="10883392" cy="34671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C2733"/>
                </a:solidFill>
                <a:latin typeface="EB Garamond" pitchFamily="34" charset="0"/>
                <a:ea typeface="EB Garamond" pitchFamily="34" charset="-122"/>
                <a:cs typeface="EB Garamond" pitchFamily="34" charset="-120"/>
              </a:rPr>
              <a:t>Điểm yếu của dữ liệu đã xây dựng</a:t>
            </a:r>
            <a:endParaRPr lang="en-US" sz="2200" dirty="0"/>
          </a:p>
        </p:txBody>
      </p:sp>
      <p:sp>
        <p:nvSpPr>
          <p:cNvPr id="4" name="Shape 2"/>
          <p:cNvSpPr/>
          <p:nvPr/>
        </p:nvSpPr>
        <p:spPr>
          <a:xfrm>
            <a:off x="815975" y="1528452"/>
            <a:ext cx="10560050" cy="404495"/>
          </a:xfrm>
          <a:prstGeom prst="roundRect">
            <a:avLst>
              <a:gd name="adj" fmla="val 18053"/>
            </a:avLst>
          </a:prstGeom>
          <a:solidFill>
            <a:srgbClr val="FFFFFF"/>
          </a:solidFill>
          <a:ln w="6350">
            <a:solidFill>
              <a:srgbClr val="E3DDD0"/>
            </a:solidFill>
            <a:prstDash val="solid"/>
          </a:ln>
        </p:spPr>
      </p:sp>
      <p:sp>
        <p:nvSpPr>
          <p:cNvPr id="5" name="Text 3"/>
          <p:cNvSpPr/>
          <p:nvPr/>
        </p:nvSpPr>
        <p:spPr>
          <a:xfrm>
            <a:off x="982980" y="1619250"/>
            <a:ext cx="10532821" cy="24828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1C2733"/>
                </a:solidFill>
                <a:latin typeface="IBM Plex Sans" pitchFamily="34" charset="0"/>
                <a:ea typeface="IBM Plex Sans" pitchFamily="34" charset="-122"/>
                <a:cs typeface="IBM Plex Sans" pitchFamily="34" charset="-120"/>
              </a:rPr>
              <a:t>Bất đối xứng ngưỡng lọc 2 tầng</a:t>
            </a:r>
            <a:r>
              <a:rPr lang="en-US" sz="1300" dirty="0">
                <a:solidFill>
                  <a:srgbClr val="1C2733"/>
                </a:solidFill>
                <a:latin typeface="IBM Plex Sans" pitchFamily="34" charset="0"/>
                <a:ea typeface="IBM Plex Sans" pitchFamily="34" charset="-122"/>
                <a:cs typeface="IBM Plex Sans" pitchFamily="34" charset="-120"/>
              </a:rPr>
              <a:t> — Lá→Biến thể có MIN_PROB/MIN_LINK_COUNT, Biến thể→Lemma thì chưa có ngưỡng tương tự</a:t>
            </a:r>
            <a:endParaRPr lang="en-US" sz="1300" dirty="0"/>
          </a:p>
        </p:txBody>
      </p:sp>
      <p:sp>
        <p:nvSpPr>
          <p:cNvPr id="6" name="Shape 4"/>
          <p:cNvSpPr/>
          <p:nvPr/>
        </p:nvSpPr>
        <p:spPr>
          <a:xfrm>
            <a:off x="815975" y="2015492"/>
            <a:ext cx="10560050" cy="404495"/>
          </a:xfrm>
          <a:prstGeom prst="roundRect">
            <a:avLst>
              <a:gd name="adj" fmla="val 18053"/>
            </a:avLst>
          </a:prstGeom>
          <a:solidFill>
            <a:srgbClr val="FFFFFF"/>
          </a:solidFill>
          <a:ln w="6350">
            <a:solidFill>
              <a:srgbClr val="E3DDD0"/>
            </a:solidFill>
            <a:prstDash val="solid"/>
          </a:ln>
        </p:spPr>
      </p:sp>
      <p:sp>
        <p:nvSpPr>
          <p:cNvPr id="7" name="Text 5"/>
          <p:cNvSpPr/>
          <p:nvPr/>
        </p:nvSpPr>
        <p:spPr>
          <a:xfrm>
            <a:off x="982980" y="2106302"/>
            <a:ext cx="10532821" cy="24828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1C2733"/>
                </a:solidFill>
                <a:latin typeface="IBM Plex Sans" pitchFamily="34" charset="0"/>
                <a:ea typeface="IBM Plex Sans" pitchFamily="34" charset="-122"/>
                <a:cs typeface="IBM Plex Sans" pitchFamily="34" charset="-120"/>
              </a:rPr>
              <a:t>Phụ thuộc độ chính xác công cụ nền</a:t>
            </a:r>
            <a:r>
              <a:rPr lang="en-US" sz="1300" dirty="0">
                <a:solidFill>
                  <a:srgbClr val="1C2733"/>
                </a:solidFill>
                <a:latin typeface="IBM Plex Sans" pitchFamily="34" charset="0"/>
                <a:ea typeface="IBM Plex Sans" pitchFamily="34" charset="-122"/>
                <a:cs typeface="IBM Plex Sans" pitchFamily="34" charset="-120"/>
              </a:rPr>
              <a:t> — POS-tagger, fast_align đều là mô hình thống kê xấp xỉ, không phải nhãn tay chuẩn</a:t>
            </a:r>
            <a:endParaRPr lang="en-US" sz="1300" dirty="0"/>
          </a:p>
        </p:txBody>
      </p:sp>
      <p:sp>
        <p:nvSpPr>
          <p:cNvPr id="8" name="Shape 6"/>
          <p:cNvSpPr/>
          <p:nvPr/>
        </p:nvSpPr>
        <p:spPr>
          <a:xfrm>
            <a:off x="815975" y="2502533"/>
            <a:ext cx="10560050" cy="404495"/>
          </a:xfrm>
          <a:prstGeom prst="roundRect">
            <a:avLst>
              <a:gd name="adj" fmla="val 18053"/>
            </a:avLst>
          </a:prstGeom>
          <a:solidFill>
            <a:srgbClr val="FFFFFF"/>
          </a:solidFill>
          <a:ln w="6350">
            <a:solidFill>
              <a:srgbClr val="E3DDD0"/>
            </a:solidFill>
            <a:prstDash val="solid"/>
          </a:ln>
        </p:spPr>
      </p:sp>
      <p:sp>
        <p:nvSpPr>
          <p:cNvPr id="9" name="Text 7"/>
          <p:cNvSpPr/>
          <p:nvPr/>
        </p:nvSpPr>
        <p:spPr>
          <a:xfrm>
            <a:off x="982980" y="2593342"/>
            <a:ext cx="10532821" cy="24828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1C2733"/>
                </a:solidFill>
                <a:latin typeface="IBM Plex Sans" pitchFamily="34" charset="0"/>
                <a:ea typeface="IBM Plex Sans" pitchFamily="34" charset="-122"/>
                <a:cs typeface="IBM Plex Sans" pitchFamily="34" charset="-120"/>
              </a:rPr>
              <a:t>Top-k lẫn nhiều pattern "self-derived"</a:t>
            </a:r>
            <a:r>
              <a:rPr lang="en-US" sz="1300" dirty="0">
                <a:solidFill>
                  <a:srgbClr val="1C2733"/>
                </a:solidFill>
                <a:latin typeface="IBM Plex Sans" pitchFamily="34" charset="0"/>
                <a:ea typeface="IBM Plex Sans" pitchFamily="34" charset="-122"/>
                <a:cs typeface="IBM Plex Sans" pitchFamily="34" charset="-120"/>
              </a:rPr>
              <a:t> — hệ quả cấu trúc đa-cha, không phải ngữ nghĩa thật</a:t>
            </a:r>
            <a:endParaRPr lang="en-US" sz="1300" dirty="0"/>
          </a:p>
        </p:txBody>
      </p:sp>
      <p:sp>
        <p:nvSpPr>
          <p:cNvPr id="10" name="Shape 8"/>
          <p:cNvSpPr/>
          <p:nvPr/>
        </p:nvSpPr>
        <p:spPr>
          <a:xfrm>
            <a:off x="815975" y="2989585"/>
            <a:ext cx="10560050" cy="404495"/>
          </a:xfrm>
          <a:prstGeom prst="roundRect">
            <a:avLst>
              <a:gd name="adj" fmla="val 18053"/>
            </a:avLst>
          </a:prstGeom>
          <a:solidFill>
            <a:srgbClr val="FFFFFF"/>
          </a:solidFill>
          <a:ln w="6350">
            <a:solidFill>
              <a:srgbClr val="E3DDD0"/>
            </a:solidFill>
            <a:prstDash val="solid"/>
          </a:ln>
        </p:spPr>
      </p:sp>
      <p:sp>
        <p:nvSpPr>
          <p:cNvPr id="11" name="Text 9"/>
          <p:cNvSpPr/>
          <p:nvPr/>
        </p:nvSpPr>
        <p:spPr>
          <a:xfrm>
            <a:off x="982980" y="3080383"/>
            <a:ext cx="10532821" cy="24828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1C2733"/>
                </a:solidFill>
                <a:latin typeface="IBM Plex Sans" pitchFamily="34" charset="0"/>
                <a:ea typeface="IBM Plex Sans" pitchFamily="34" charset="-122"/>
                <a:cs typeface="IBM Plex Sans" pitchFamily="34" charset="-120"/>
              </a:rPr>
              <a:t>~8–11% lemma không khớp WordNet</a:t>
            </a:r>
            <a:r>
              <a:rPr lang="en-US" sz="1300" dirty="0">
                <a:solidFill>
                  <a:srgbClr val="1C2733"/>
                </a:solidFill>
                <a:latin typeface="IBM Plex Sans" pitchFamily="34" charset="0"/>
                <a:ea typeface="IBM Plex Sans" pitchFamily="34" charset="-122"/>
                <a:cs typeface="IBM Plex Sans" pitchFamily="34" charset="-120"/>
              </a:rPr>
              <a:t> — chỉ ảnh hưởng tên hiển thị, không ảnh hưởng tính đúng thuật toán</a:t>
            </a:r>
            <a:endParaRPr lang="en-US" sz="1300" dirty="0"/>
          </a:p>
        </p:txBody>
      </p:sp>
      <p:sp>
        <p:nvSpPr>
          <p:cNvPr id="12" name="Shape 10"/>
          <p:cNvSpPr/>
          <p:nvPr/>
        </p:nvSpPr>
        <p:spPr>
          <a:xfrm>
            <a:off x="815975" y="3476625"/>
            <a:ext cx="10560050" cy="404495"/>
          </a:xfrm>
          <a:prstGeom prst="roundRect">
            <a:avLst>
              <a:gd name="adj" fmla="val 18053"/>
            </a:avLst>
          </a:prstGeom>
          <a:solidFill>
            <a:srgbClr val="FFFFFF"/>
          </a:solidFill>
          <a:ln w="6350">
            <a:solidFill>
              <a:srgbClr val="E3DDD0"/>
            </a:solidFill>
            <a:prstDash val="solid"/>
          </a:ln>
        </p:spPr>
      </p:sp>
      <p:sp>
        <p:nvSpPr>
          <p:cNvPr id="13" name="Text 11"/>
          <p:cNvSpPr/>
          <p:nvPr/>
        </p:nvSpPr>
        <p:spPr>
          <a:xfrm>
            <a:off x="982980" y="3567435"/>
            <a:ext cx="10532821" cy="24828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1C2733"/>
                </a:solidFill>
                <a:latin typeface="IBM Plex Sans" pitchFamily="34" charset="0"/>
                <a:ea typeface="IBM Plex Sans" pitchFamily="34" charset="-122"/>
                <a:cs typeface="IBM Plex Sans" pitchFamily="34" charset="-120"/>
              </a:rPr>
              <a:t>Tỉ lệ giữ lại câu sau lọc: 72–94%</a:t>
            </a:r>
            <a:r>
              <a:rPr lang="en-US" sz="1300" dirty="0">
                <a:solidFill>
                  <a:srgbClr val="1C2733"/>
                </a:solidFill>
                <a:latin typeface="IBM Plex Sans" pitchFamily="34" charset="0"/>
                <a:ea typeface="IBM Plex Sans" pitchFamily="34" charset="-122"/>
                <a:cs typeface="IBM Plex Sans" pitchFamily="34" charset="-120"/>
              </a:rPr>
              <a:t> tùy corpus — 1 phần dữ liệu gốc bị loại qua NER/lọc nhiễu</a:t>
            </a:r>
            <a:endParaRPr lang="en-US" sz="1300" dirty="0"/>
          </a:p>
        </p:txBody>
      </p:sp>
      <p:sp>
        <p:nvSpPr>
          <p:cNvPr id="14" name="Shape 12"/>
          <p:cNvSpPr/>
          <p:nvPr/>
        </p:nvSpPr>
        <p:spPr>
          <a:xfrm>
            <a:off x="812800" y="5365750"/>
            <a:ext cx="10566400" cy="476250"/>
          </a:xfrm>
          <a:prstGeom prst="roundRect">
            <a:avLst>
              <a:gd name="adj" fmla="val 21333"/>
            </a:avLst>
          </a:prstGeom>
          <a:solidFill>
            <a:srgbClr val="1C2733"/>
          </a:solidFill>
          <a:ln/>
        </p:spPr>
      </p:sp>
      <p:sp>
        <p:nvSpPr>
          <p:cNvPr id="15" name="Text 13"/>
          <p:cNvSpPr/>
          <p:nvPr/>
        </p:nvSpPr>
        <p:spPr>
          <a:xfrm>
            <a:off x="990600" y="5492750"/>
            <a:ext cx="10517124"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FAF9F5"/>
                </a:solidFill>
                <a:latin typeface="IBM Plex Sans" pitchFamily="34" charset="0"/>
                <a:ea typeface="IBM Plex Sans" pitchFamily="34" charset="-122"/>
                <a:cs typeface="IBM Plex Sans" pitchFamily="34" charset="-120"/>
              </a:rPr>
              <a:t>Không điểm nào làm sai kết quả thuật toán — nhưng đều là chỗ đáng cải thiện, đã ghi nhận trung thực để cải tiến ở hướng phát triển tiếp theo.</a:t>
            </a:r>
            <a:endParaRPr lang="en-US" sz="1250" dirty="0"/>
          </a:p>
        </p:txBody>
      </p:sp>
      <p:sp>
        <p:nvSpPr>
          <p:cNvPr id="16" name="Text 14"/>
          <p:cNvSpPr/>
          <p:nvPr/>
        </p:nvSpPr>
        <p:spPr>
          <a:xfrm>
            <a:off x="812800" y="6238242"/>
            <a:ext cx="54689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199"/>
                </a:solidFill>
                <a:latin typeface="IBM Plex Sans" pitchFamily="34" charset="0"/>
                <a:ea typeface="IBM Plex Sans" pitchFamily="34" charset="-122"/>
                <a:cs typeface="IBM Plex Sans" pitchFamily="34" charset="-120"/>
              </a:rPr>
              <a:t>24 / 34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863B"/>
                </a:solidFill>
                <a:latin typeface="IBM Plex Sans" pitchFamily="34" charset="0"/>
                <a:ea typeface="IBM Plex Sans" pitchFamily="34" charset="-122"/>
                <a:cs typeface="IBM Plex Sans" pitchFamily="34" charset="-120"/>
              </a:rPr>
              <a:t>PHƯƠNG PHÁP ĐỀ XUẤT</a:t>
            </a:r>
            <a:endParaRPr lang="en-US" sz="1200" dirty="0"/>
          </a:p>
        </p:txBody>
      </p:sp>
      <p:sp>
        <p:nvSpPr>
          <p:cNvPr id="3" name="Text 1"/>
          <p:cNvSpPr/>
          <p:nvPr/>
        </p:nvSpPr>
        <p:spPr>
          <a:xfrm>
            <a:off x="812800" y="1102358"/>
            <a:ext cx="10883392" cy="34671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C2733"/>
                </a:solidFill>
                <a:latin typeface="EB Garamond" pitchFamily="34" charset="0"/>
                <a:ea typeface="EB Garamond" pitchFamily="34" charset="-122"/>
                <a:cs typeface="EB Garamond" pitchFamily="34" charset="-120"/>
              </a:rPr>
              <a:t>Kiến trúc thuật toán đề xuất</a:t>
            </a:r>
            <a:endParaRPr lang="en-US" sz="2200" dirty="0"/>
          </a:p>
        </p:txBody>
      </p:sp>
      <p:sp>
        <p:nvSpPr>
          <p:cNvPr id="4" name="Shape 2"/>
          <p:cNvSpPr/>
          <p:nvPr/>
        </p:nvSpPr>
        <p:spPr>
          <a:xfrm>
            <a:off x="815975" y="1680852"/>
            <a:ext cx="3380264" cy="1225550"/>
          </a:xfrm>
          <a:prstGeom prst="roundRect">
            <a:avLst>
              <a:gd name="adj" fmla="val 8031"/>
            </a:avLst>
          </a:prstGeom>
          <a:solidFill>
            <a:srgbClr val="FFFFFF"/>
          </a:solidFill>
          <a:ln w="6350">
            <a:solidFill>
              <a:srgbClr val="E3DDD0"/>
            </a:solidFill>
            <a:prstDash val="solid"/>
          </a:ln>
        </p:spPr>
      </p:sp>
      <p:sp>
        <p:nvSpPr>
          <p:cNvPr id="5" name="Text 3"/>
          <p:cNvSpPr/>
          <p:nvPr/>
        </p:nvSpPr>
        <p:spPr>
          <a:xfrm>
            <a:off x="1046480" y="1911350"/>
            <a:ext cx="300683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863B"/>
                </a:solidFill>
                <a:latin typeface="IBM Plex Sans" pitchFamily="34" charset="0"/>
                <a:ea typeface="IBM Plex Sans" pitchFamily="34" charset="-122"/>
                <a:cs typeface="IBM Plex Sans" pitchFamily="34" charset="-120"/>
              </a:rPr>
              <a:t>Expected GTWU</a:t>
            </a:r>
            <a:endParaRPr lang="en-US" sz="1200" dirty="0"/>
          </a:p>
        </p:txBody>
      </p:sp>
      <p:sp>
        <p:nvSpPr>
          <p:cNvPr id="6" name="Text 4"/>
          <p:cNvSpPr/>
          <p:nvPr/>
        </p:nvSpPr>
        <p:spPr>
          <a:xfrm>
            <a:off x="1046480" y="2213608"/>
            <a:ext cx="3006831"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C2733"/>
                </a:solidFill>
                <a:latin typeface="IBM Plex Sans" pitchFamily="34" charset="0"/>
                <a:ea typeface="IBM Plex Sans" pitchFamily="34" charset="-122"/>
                <a:cs typeface="IBM Plex Sans" pitchFamily="34" charset="-120"/>
              </a:rPr>
              <a:t>Cận toàn cục ban đầu, dùng để khởi tạo ngưỡng minU trước khi khai thác.</a:t>
            </a:r>
            <a:endParaRPr lang="en-US" sz="1300" dirty="0"/>
          </a:p>
        </p:txBody>
      </p:sp>
      <p:sp>
        <p:nvSpPr>
          <p:cNvPr id="7" name="Shape 5"/>
          <p:cNvSpPr/>
          <p:nvPr/>
        </p:nvSpPr>
        <p:spPr>
          <a:xfrm>
            <a:off x="4405789" y="1680852"/>
            <a:ext cx="3380343" cy="1225550"/>
          </a:xfrm>
          <a:prstGeom prst="roundRect">
            <a:avLst>
              <a:gd name="adj" fmla="val 8031"/>
            </a:avLst>
          </a:prstGeom>
          <a:solidFill>
            <a:srgbClr val="FFFFFF"/>
          </a:solidFill>
          <a:ln w="6350">
            <a:solidFill>
              <a:srgbClr val="E3DDD0"/>
            </a:solidFill>
            <a:prstDash val="solid"/>
          </a:ln>
        </p:spPr>
      </p:sp>
      <p:sp>
        <p:nvSpPr>
          <p:cNvPr id="8" name="Text 6"/>
          <p:cNvSpPr/>
          <p:nvPr/>
        </p:nvSpPr>
        <p:spPr>
          <a:xfrm>
            <a:off x="4636294" y="1911350"/>
            <a:ext cx="300691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863B"/>
                </a:solidFill>
                <a:latin typeface="IBM Plex Sans" pitchFamily="34" charset="0"/>
                <a:ea typeface="IBM Plex Sans" pitchFamily="34" charset="-122"/>
                <a:cs typeface="IBM Plex Sans" pitchFamily="34" charset="-120"/>
              </a:rPr>
              <a:t>Expected Local Utility</a:t>
            </a:r>
            <a:endParaRPr lang="en-US" sz="1200" dirty="0"/>
          </a:p>
        </p:txBody>
      </p:sp>
      <p:sp>
        <p:nvSpPr>
          <p:cNvPr id="9" name="Text 7"/>
          <p:cNvSpPr/>
          <p:nvPr/>
        </p:nvSpPr>
        <p:spPr>
          <a:xfrm>
            <a:off x="4636294" y="2213608"/>
            <a:ext cx="3006913"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C2733"/>
                </a:solidFill>
                <a:latin typeface="IBM Plex Sans" pitchFamily="34" charset="0"/>
                <a:ea typeface="IBM Plex Sans" pitchFamily="34" charset="-122"/>
                <a:cs typeface="IBM Plex Sans" pitchFamily="34" charset="-120"/>
              </a:rPr>
              <a:t>Cận cắt tỉa theo từng khoản mục — thừa hưởng và mở rộng từ EFIM.</a:t>
            </a:r>
            <a:endParaRPr lang="en-US" sz="1300" dirty="0"/>
          </a:p>
        </p:txBody>
      </p:sp>
      <p:sp>
        <p:nvSpPr>
          <p:cNvPr id="10" name="Shape 8"/>
          <p:cNvSpPr/>
          <p:nvPr/>
        </p:nvSpPr>
        <p:spPr>
          <a:xfrm>
            <a:off x="7995682" y="1680852"/>
            <a:ext cx="3380343" cy="1225550"/>
          </a:xfrm>
          <a:prstGeom prst="roundRect">
            <a:avLst>
              <a:gd name="adj" fmla="val 8031"/>
            </a:avLst>
          </a:prstGeom>
          <a:solidFill>
            <a:srgbClr val="FFFFFF"/>
          </a:solidFill>
          <a:ln w="6350">
            <a:solidFill>
              <a:srgbClr val="E3DDD0"/>
            </a:solidFill>
            <a:prstDash val="solid"/>
          </a:ln>
        </p:spPr>
      </p:sp>
      <p:sp>
        <p:nvSpPr>
          <p:cNvPr id="11" name="Text 9"/>
          <p:cNvSpPr/>
          <p:nvPr/>
        </p:nvSpPr>
        <p:spPr>
          <a:xfrm>
            <a:off x="8226187" y="1911350"/>
            <a:ext cx="300691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863B"/>
                </a:solidFill>
                <a:latin typeface="IBM Plex Sans" pitchFamily="34" charset="0"/>
                <a:ea typeface="IBM Plex Sans" pitchFamily="34" charset="-122"/>
                <a:cs typeface="IBM Plex Sans" pitchFamily="34" charset="-120"/>
              </a:rPr>
              <a:t>Expected Sub-tree Utility</a:t>
            </a:r>
            <a:endParaRPr lang="en-US" sz="1200" dirty="0"/>
          </a:p>
        </p:txBody>
      </p:sp>
      <p:sp>
        <p:nvSpPr>
          <p:cNvPr id="12" name="Text 10"/>
          <p:cNvSpPr/>
          <p:nvPr/>
        </p:nvSpPr>
        <p:spPr>
          <a:xfrm>
            <a:off x="8226187" y="2213608"/>
            <a:ext cx="3006913"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C2733"/>
                </a:solidFill>
                <a:latin typeface="IBM Plex Sans" pitchFamily="34" charset="0"/>
                <a:ea typeface="IBM Plex Sans" pitchFamily="34" charset="-122"/>
                <a:cs typeface="IBM Plex Sans" pitchFamily="34" charset="-120"/>
              </a:rPr>
              <a:t>Cận cắt tỉa theo toàn bộ cây con — chặt hơn Local Utility.</a:t>
            </a:r>
            <a:endParaRPr lang="en-US" sz="1300" dirty="0"/>
          </a:p>
        </p:txBody>
      </p:sp>
      <p:sp>
        <p:nvSpPr>
          <p:cNvPr id="13" name="Shape 11"/>
          <p:cNvSpPr/>
          <p:nvPr/>
        </p:nvSpPr>
        <p:spPr>
          <a:xfrm>
            <a:off x="812800" y="3163577"/>
            <a:ext cx="10566400" cy="2678430"/>
          </a:xfrm>
          <a:prstGeom prst="roundRect">
            <a:avLst>
              <a:gd name="adj" fmla="val 3793"/>
            </a:avLst>
          </a:prstGeom>
          <a:solidFill>
            <a:srgbClr val="1C2733"/>
          </a:solidFill>
          <a:ln/>
        </p:spPr>
      </p:sp>
      <p:sp>
        <p:nvSpPr>
          <p:cNvPr id="14" name="Text 12"/>
          <p:cNvSpPr/>
          <p:nvPr/>
        </p:nvSpPr>
        <p:spPr>
          <a:xfrm>
            <a:off x="1117600" y="4059560"/>
            <a:ext cx="10255504"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B8863B"/>
                </a:solidFill>
                <a:latin typeface="IBM Plex Sans" pitchFamily="34" charset="0"/>
                <a:ea typeface="IBM Plex Sans" pitchFamily="34" charset="-122"/>
                <a:cs typeface="IBM Plex Sans" pitchFamily="34" charset="-120"/>
              </a:rPr>
              <a:t>CHIẾN LƯỢC NÂNG NGƯỠNG (threshold-raising)</a:t>
            </a:r>
            <a:endParaRPr lang="en-US" sz="1200" dirty="0"/>
          </a:p>
        </p:txBody>
      </p:sp>
      <p:sp>
        <p:nvSpPr>
          <p:cNvPr id="15" name="Text 13"/>
          <p:cNvSpPr/>
          <p:nvPr/>
        </p:nvSpPr>
        <p:spPr>
          <a:xfrm>
            <a:off x="1117600" y="4374517"/>
            <a:ext cx="10255504"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AF9F5"/>
                </a:solidFill>
                <a:latin typeface="IBM Plex Sans" pitchFamily="34" charset="0"/>
                <a:ea typeface="IBM Plex Sans" pitchFamily="34" charset="-122"/>
                <a:cs typeface="IBM Plex Sans" pitchFamily="34" charset="-120"/>
              </a:rPr>
              <a:t>Priority queue giữ </a:t>
            </a:r>
            <a:r>
              <a:rPr lang="en-US" sz="1500" b="1" dirty="0">
                <a:solidFill>
                  <a:srgbClr val="FAF9F5"/>
                </a:solidFill>
                <a:latin typeface="IBM Plex Sans" pitchFamily="34" charset="0"/>
                <a:ea typeface="IBM Plex Sans" pitchFamily="34" charset="-122"/>
                <a:cs typeface="IBM Plex Sans" pitchFamily="34" charset="-120"/>
              </a:rPr>
              <a:t>k</a:t>
            </a:r>
            <a:r>
              <a:rPr lang="en-US" sz="1500" dirty="0">
                <a:solidFill>
                  <a:srgbClr val="FAF9F5"/>
                </a:solidFill>
                <a:latin typeface="IBM Plex Sans" pitchFamily="34" charset="0"/>
                <a:ea typeface="IBM Plex Sans" pitchFamily="34" charset="-122"/>
                <a:cs typeface="IBM Plex Sans" pitchFamily="34" charset="-120"/>
              </a:rPr>
              <a:t> tập mục có EU cao nhất hiện tại → liên tục nâng minU bằng giá trị thấp nhất trong hàng đợi → cắt tỉa không gian tìm kiếm mạnh hơn theo thời gian.</a:t>
            </a:r>
            <a:endParaRPr lang="en-US" sz="1500" dirty="0"/>
          </a:p>
        </p:txBody>
      </p:sp>
      <p:sp>
        <p:nvSpPr>
          <p:cNvPr id="16" name="Text 14"/>
          <p:cNvSpPr/>
          <p:nvPr/>
        </p:nvSpPr>
        <p:spPr>
          <a:xfrm>
            <a:off x="812800" y="6238242"/>
            <a:ext cx="54689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199"/>
                </a:solidFill>
                <a:latin typeface="IBM Plex Sans" pitchFamily="34" charset="0"/>
                <a:ea typeface="IBM Plex Sans" pitchFamily="34" charset="-122"/>
                <a:cs typeface="IBM Plex Sans" pitchFamily="34" charset="-120"/>
              </a:rPr>
              <a:t>25 / 34</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863B"/>
                </a:solidFill>
                <a:latin typeface="IBM Plex Sans" pitchFamily="34" charset="0"/>
                <a:ea typeface="IBM Plex Sans" pitchFamily="34" charset="-122"/>
                <a:cs typeface="IBM Plex Sans" pitchFamily="34" charset="-120"/>
              </a:rPr>
              <a:t>PHƯƠNG PHÁP ĐỀ XUẤT</a:t>
            </a:r>
            <a:endParaRPr lang="en-US" sz="1200" dirty="0"/>
          </a:p>
        </p:txBody>
      </p:sp>
      <p:sp>
        <p:nvSpPr>
          <p:cNvPr id="3" name="Text 1"/>
          <p:cNvSpPr/>
          <p:nvPr/>
        </p:nvSpPr>
        <p:spPr>
          <a:xfrm>
            <a:off x="812800" y="1076958"/>
            <a:ext cx="10883392" cy="34671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C2733"/>
                </a:solidFill>
                <a:latin typeface="EB Garamond" pitchFamily="34" charset="0"/>
                <a:ea typeface="EB Garamond" pitchFamily="34" charset="-122"/>
                <a:cs typeface="EB Garamond" pitchFamily="34" charset="-120"/>
              </a:rPr>
              <a:t>Ví dụ cụ thể: U-TK-MLHUI trên toàn cây</a:t>
            </a:r>
            <a:endParaRPr lang="en-US" sz="2200" dirty="0"/>
          </a:p>
        </p:txBody>
      </p:sp>
      <p:pic>
        <p:nvPicPr>
          <p:cNvPr id="4" name="Image 0" descr="preencoded.png">    </p:cNvPr>
          <p:cNvPicPr>
            <a:picLocks noChangeAspect="1"/>
          </p:cNvPicPr>
          <p:nvPr/>
        </p:nvPicPr>
        <p:blipFill>
          <a:blip r:embed="rId1"/>
          <a:srcRect l="0" r="0" t="0" b="0"/>
          <a:stretch/>
        </p:blipFill>
        <p:spPr>
          <a:xfrm>
            <a:off x="812800" y="1512577"/>
            <a:ext cx="6350000" cy="1244600"/>
          </a:xfrm>
          <a:prstGeom prst="rect">
            <a:avLst/>
          </a:prstGeom>
        </p:spPr>
      </p:pic>
      <p:sp>
        <p:nvSpPr>
          <p:cNvPr id="5" name="Shape 2"/>
          <p:cNvSpPr/>
          <p:nvPr/>
        </p:nvSpPr>
        <p:spPr>
          <a:xfrm>
            <a:off x="812800" y="1639577"/>
            <a:ext cx="889000" cy="355600"/>
          </a:xfrm>
          <a:prstGeom prst="roundRect">
            <a:avLst>
              <a:gd name="adj" fmla="val 17857"/>
            </a:avLst>
          </a:prstGeom>
          <a:solidFill>
            <a:srgbClr val="1C2733"/>
          </a:solidFill>
          <a:ln/>
        </p:spPr>
      </p:sp>
      <p:sp>
        <p:nvSpPr>
          <p:cNvPr id="6" name="Text 3"/>
          <p:cNvSpPr/>
          <p:nvPr/>
        </p:nvSpPr>
        <p:spPr>
          <a:xfrm>
            <a:off x="1081008" y="1710692"/>
            <a:ext cx="40330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AF9F5"/>
                </a:solidFill>
                <a:latin typeface="IBM Plex Sans" pitchFamily="34" charset="0"/>
                <a:ea typeface="IBM Plex Sans" pitchFamily="34" charset="-122"/>
                <a:cs typeface="IBM Plex Sans" pitchFamily="34" charset="-120"/>
              </a:rPr>
              <a:t>Chạy</a:t>
            </a:r>
            <a:endParaRPr lang="en-US" sz="1200" dirty="0"/>
          </a:p>
        </p:txBody>
      </p:sp>
      <p:sp>
        <p:nvSpPr>
          <p:cNvPr id="7" name="Shape 4"/>
          <p:cNvSpPr/>
          <p:nvPr/>
        </p:nvSpPr>
        <p:spPr>
          <a:xfrm>
            <a:off x="812800" y="2274577"/>
            <a:ext cx="889000" cy="355600"/>
          </a:xfrm>
          <a:prstGeom prst="roundRect">
            <a:avLst>
              <a:gd name="adj" fmla="val 17857"/>
            </a:avLst>
          </a:prstGeom>
          <a:solidFill>
            <a:srgbClr val="1C2733"/>
          </a:solidFill>
          <a:ln/>
        </p:spPr>
      </p:sp>
      <p:sp>
        <p:nvSpPr>
          <p:cNvPr id="8" name="Text 5"/>
          <p:cNvSpPr/>
          <p:nvPr/>
        </p:nvSpPr>
        <p:spPr>
          <a:xfrm>
            <a:off x="1142841" y="2345692"/>
            <a:ext cx="27971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AF9F5"/>
                </a:solidFill>
                <a:latin typeface="IBM Plex Sans" pitchFamily="34" charset="0"/>
                <a:ea typeface="IBM Plex Sans" pitchFamily="34" charset="-122"/>
                <a:cs typeface="IBM Plex Sans" pitchFamily="34" charset="-120"/>
              </a:rPr>
              <a:t>Rời</a:t>
            </a:r>
            <a:endParaRPr lang="en-US" sz="1200" dirty="0"/>
          </a:p>
        </p:txBody>
      </p:sp>
      <p:sp>
        <p:nvSpPr>
          <p:cNvPr id="9" name="Shape 6"/>
          <p:cNvSpPr/>
          <p:nvPr/>
        </p:nvSpPr>
        <p:spPr>
          <a:xfrm>
            <a:off x="2619375" y="1515752"/>
            <a:ext cx="946150" cy="349250"/>
          </a:xfrm>
          <a:prstGeom prst="roundRect">
            <a:avLst>
              <a:gd name="adj" fmla="val 17273"/>
            </a:avLst>
          </a:prstGeom>
          <a:solidFill>
            <a:srgbClr val="FFFFFF"/>
          </a:solidFill>
          <a:ln w="6350">
            <a:solidFill>
              <a:srgbClr val="E3DDD0"/>
            </a:solidFill>
            <a:prstDash val="solid"/>
          </a:ln>
        </p:spPr>
      </p:sp>
      <p:sp>
        <p:nvSpPr>
          <p:cNvPr id="10" name="Text 7"/>
          <p:cNvSpPr/>
          <p:nvPr/>
        </p:nvSpPr>
        <p:spPr>
          <a:xfrm>
            <a:off x="2820749" y="1583692"/>
            <a:ext cx="59412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C2733"/>
                </a:solidFill>
                <a:latin typeface="IBM Plex Sans" pitchFamily="34" charset="0"/>
                <a:ea typeface="IBM Plex Sans" pitchFamily="34" charset="-122"/>
                <a:cs typeface="IBM Plex Sans" pitchFamily="34" charset="-120"/>
              </a:rPr>
              <a:t>running</a:t>
            </a:r>
            <a:endParaRPr lang="en-US" sz="1200" dirty="0"/>
          </a:p>
        </p:txBody>
      </p:sp>
      <p:sp>
        <p:nvSpPr>
          <p:cNvPr id="11" name="Shape 8"/>
          <p:cNvSpPr/>
          <p:nvPr/>
        </p:nvSpPr>
        <p:spPr>
          <a:xfrm>
            <a:off x="2619375" y="1960252"/>
            <a:ext cx="946150" cy="349250"/>
          </a:xfrm>
          <a:prstGeom prst="roundRect">
            <a:avLst>
              <a:gd name="adj" fmla="val 17273"/>
            </a:avLst>
          </a:prstGeom>
          <a:solidFill>
            <a:srgbClr val="FFFFFF"/>
          </a:solidFill>
          <a:ln w="6350">
            <a:solidFill>
              <a:srgbClr val="E3DDD0"/>
            </a:solidFill>
            <a:prstDash val="solid"/>
          </a:ln>
        </p:spPr>
      </p:sp>
      <p:sp>
        <p:nvSpPr>
          <p:cNvPr id="12" name="Text 9"/>
          <p:cNvSpPr/>
          <p:nvPr/>
        </p:nvSpPr>
        <p:spPr>
          <a:xfrm>
            <a:off x="2975927" y="2028192"/>
            <a:ext cx="28384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C2733"/>
                </a:solidFill>
                <a:latin typeface="IBM Plex Sans" pitchFamily="34" charset="0"/>
                <a:ea typeface="IBM Plex Sans" pitchFamily="34" charset="-122"/>
                <a:cs typeface="IBM Plex Sans" pitchFamily="34" charset="-120"/>
              </a:rPr>
              <a:t>ran</a:t>
            </a:r>
            <a:endParaRPr lang="en-US" sz="1200" dirty="0"/>
          </a:p>
        </p:txBody>
      </p:sp>
      <p:sp>
        <p:nvSpPr>
          <p:cNvPr id="13" name="Shape 10"/>
          <p:cNvSpPr/>
          <p:nvPr/>
        </p:nvSpPr>
        <p:spPr>
          <a:xfrm>
            <a:off x="2619375" y="2404752"/>
            <a:ext cx="946150" cy="349250"/>
          </a:xfrm>
          <a:prstGeom prst="roundRect">
            <a:avLst>
              <a:gd name="adj" fmla="val 17273"/>
            </a:avLst>
          </a:prstGeom>
          <a:solidFill>
            <a:srgbClr val="FFFFFF"/>
          </a:solidFill>
          <a:ln w="6350">
            <a:solidFill>
              <a:srgbClr val="E3DDD0"/>
            </a:solidFill>
            <a:prstDash val="solid"/>
          </a:ln>
        </p:spPr>
      </p:sp>
      <p:sp>
        <p:nvSpPr>
          <p:cNvPr id="14" name="Text 11"/>
          <p:cNvSpPr/>
          <p:nvPr/>
        </p:nvSpPr>
        <p:spPr>
          <a:xfrm>
            <a:off x="2972356" y="2472692"/>
            <a:ext cx="29098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C2733"/>
                </a:solidFill>
                <a:latin typeface="IBM Plex Sans" pitchFamily="34" charset="0"/>
                <a:ea typeface="IBM Plex Sans" pitchFamily="34" charset="-122"/>
                <a:cs typeface="IBM Plex Sans" pitchFamily="34" charset="-120"/>
              </a:rPr>
              <a:t>left</a:t>
            </a:r>
            <a:endParaRPr lang="en-US" sz="1200" dirty="0"/>
          </a:p>
        </p:txBody>
      </p:sp>
      <p:sp>
        <p:nvSpPr>
          <p:cNvPr id="15" name="Shape 12"/>
          <p:cNvSpPr/>
          <p:nvPr/>
        </p:nvSpPr>
        <p:spPr>
          <a:xfrm>
            <a:off x="4587875" y="1642752"/>
            <a:ext cx="946150" cy="349250"/>
          </a:xfrm>
          <a:prstGeom prst="roundRect">
            <a:avLst>
              <a:gd name="adj" fmla="val 17273"/>
            </a:avLst>
          </a:prstGeom>
          <a:solidFill>
            <a:srgbClr val="FBF1E0"/>
          </a:solidFill>
          <a:ln w="6350">
            <a:solidFill>
              <a:srgbClr val="D9B577"/>
            </a:solidFill>
            <a:prstDash val="solid"/>
          </a:ln>
        </p:spPr>
      </p:sp>
      <p:sp>
        <p:nvSpPr>
          <p:cNvPr id="16" name="Text 13"/>
          <p:cNvSpPr/>
          <p:nvPr/>
        </p:nvSpPr>
        <p:spPr>
          <a:xfrm>
            <a:off x="4906804" y="1715133"/>
            <a:ext cx="359013" cy="229870"/>
          </a:xfrm>
          <a:prstGeom prst="rect">
            <a:avLst/>
          </a:prstGeom>
          <a:noFill/>
          <a:ln/>
        </p:spPr>
        <p:txBody>
          <a:bodyPr wrap="square" lIns="0" tIns="0" rIns="0" bIns="0" rtlCol="0" anchor="t">
            <a:normAutofit/>
          </a:bodyPr>
          <a:lstStyle/>
          <a:p>
            <a:pPr algn="l" indent="0" marL="0">
              <a:lnSpc>
                <a:spcPts val="1610"/>
              </a:lnSpc>
              <a:buNone/>
            </a:pPr>
            <a:r>
              <a:rPr lang="en-US" sz="1150" b="1" dirty="0">
                <a:solidFill>
                  <a:srgbClr val="1C2733"/>
                </a:solidFill>
                <a:latin typeface="IBM Plex Sans" pitchFamily="34" charset="0"/>
                <a:ea typeface="IBM Plex Sans" pitchFamily="34" charset="-122"/>
                <a:cs typeface="IBM Plex Sans" pitchFamily="34" charset="-120"/>
              </a:rPr>
              <a:t>run*</a:t>
            </a:r>
            <a:endParaRPr lang="en-US" sz="1150" dirty="0"/>
          </a:p>
        </p:txBody>
      </p:sp>
      <p:sp>
        <p:nvSpPr>
          <p:cNvPr id="17" name="Shape 14"/>
          <p:cNvSpPr/>
          <p:nvPr/>
        </p:nvSpPr>
        <p:spPr>
          <a:xfrm>
            <a:off x="4587875" y="2087252"/>
            <a:ext cx="946150" cy="349250"/>
          </a:xfrm>
          <a:prstGeom prst="roundRect">
            <a:avLst>
              <a:gd name="adj" fmla="val 17273"/>
            </a:avLst>
          </a:prstGeom>
          <a:solidFill>
            <a:srgbClr val="FBF1E0"/>
          </a:solidFill>
          <a:ln w="6350">
            <a:solidFill>
              <a:srgbClr val="D9B577"/>
            </a:solidFill>
            <a:prstDash val="solid"/>
          </a:ln>
        </p:spPr>
      </p:sp>
      <p:sp>
        <p:nvSpPr>
          <p:cNvPr id="18" name="Text 15"/>
          <p:cNvSpPr/>
          <p:nvPr/>
        </p:nvSpPr>
        <p:spPr>
          <a:xfrm>
            <a:off x="4759642" y="2159633"/>
            <a:ext cx="653415" cy="229870"/>
          </a:xfrm>
          <a:prstGeom prst="rect">
            <a:avLst/>
          </a:prstGeom>
          <a:noFill/>
          <a:ln/>
        </p:spPr>
        <p:txBody>
          <a:bodyPr wrap="square" lIns="0" tIns="0" rIns="0" bIns="0" rtlCol="0" anchor="t">
            <a:normAutofit/>
          </a:bodyPr>
          <a:lstStyle/>
          <a:p>
            <a:pPr algn="l" indent="0" marL="0">
              <a:lnSpc>
                <a:spcPts val="1610"/>
              </a:lnSpc>
              <a:buNone/>
            </a:pPr>
            <a:r>
              <a:rPr lang="en-US" sz="1150" b="1" dirty="0">
                <a:solidFill>
                  <a:srgbClr val="1C2733"/>
                </a:solidFill>
                <a:latin typeface="IBM Plex Sans" pitchFamily="34" charset="0"/>
                <a:ea typeface="IBM Plex Sans" pitchFamily="34" charset="-122"/>
                <a:cs typeface="IBM Plex Sans" pitchFamily="34" charset="-120"/>
              </a:rPr>
              <a:t>running*</a:t>
            </a:r>
            <a:endParaRPr lang="en-US" sz="1150" dirty="0"/>
          </a:p>
        </p:txBody>
      </p:sp>
      <p:sp>
        <p:nvSpPr>
          <p:cNvPr id="19" name="Text 16"/>
          <p:cNvSpPr/>
          <p:nvPr/>
        </p:nvSpPr>
        <p:spPr>
          <a:xfrm>
            <a:off x="6019800" y="1728477"/>
            <a:ext cx="224077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199"/>
                </a:solidFill>
                <a:latin typeface="IBM Plex Sans" pitchFamily="34" charset="0"/>
                <a:ea typeface="IBM Plex Sans" pitchFamily="34" charset="-122"/>
                <a:cs typeface="IBM Plex Sans" pitchFamily="34" charset="-120"/>
              </a:rPr>
              <a:t>← trọng số đúng như slide trước</a:t>
            </a:r>
            <a:endParaRPr lang="en-US" sz="1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822960" y="2881637"/>
          <a:ext cx="5158740" cy="1336040"/>
        </p:xfrm>
        <a:graphic>
          <a:graphicData uri="http://schemas.openxmlformats.org/drawingml/2006/table">
            <a:tbl>
              <a:tblPr/>
              <a:tblGrid>
                <a:gridCol w="2579370"/>
                <a:gridCol w="2579370"/>
              </a:tblGrid>
              <a:tr h="334010">
                <a:tc>
                  <a:txBody>
                    <a:bodyPr/>
                    <a:lstStyle/>
                    <a:p>
                      <a:pPr indent="0" marL="0">
                        <a:lnSpc>
                          <a:spcPts val="1750"/>
                        </a:lnSpc>
                        <a:buNone/>
                      </a:pPr>
                      <a:r>
                        <a:rPr lang="en-US" sz="1250" b="1" dirty="0">
                          <a:solidFill>
                            <a:srgbClr val="FAF9F5"/>
                          </a:solidFill>
                          <a:latin typeface="IBM Plex Sans" pitchFamily="34" charset="0"/>
                          <a:ea typeface="IBM Plex Sans" pitchFamily="34" charset="-122"/>
                          <a:cs typeface="IBM Plex Sans" pitchFamily="34" charset="-120"/>
                        </a:rPr>
                        <a:t>GD</a:t>
                      </a:r>
                      <a:endParaRPr lang="en-US" sz="1250" dirty="0">
                        <a:latin typeface="IBM Plex Sans" charset="0"/>
                        <a:ea typeface="IBM Plex Sans" charset="0"/>
                        <a:cs typeface="IBM Plex Sans" charset="0"/>
                      </a:endParaRPr>
                    </a:p>
                  </a:txBody>
                  <a:tcPr marL="88900" marR="88900" marT="50800" marB="50800" anchor="t">
                    <a:lnL w="12700" cap="flat" cmpd="sng" algn="ctr">
                      <a:solidFill>
                        <a:srgbClr val="C7C7C3"/>
                      </a:solidFill>
                      <a:prstDash val="solid"/>
                      <a:round/>
                      <a:headEnd type="none" w="med" len="med"/>
                      <a:tailEnd type="none" w="med" len="med"/>
                    </a:lnL>
                    <a:lnR w="12700" cap="flat" cmpd="sng" algn="ctr">
                      <a:solidFill>
                        <a:srgbClr val="1A232C"/>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1A232C"/>
                      </a:solidFill>
                      <a:prstDash val="solid"/>
                      <a:round/>
                      <a:headEnd type="none" w="med" len="med"/>
                      <a:tailEnd type="none" w="med" len="med"/>
                    </a:lnB>
                    <a:solidFill>
                      <a:srgbClr val="1C2733"/>
                    </a:solidFill>
                  </a:tcPr>
                </a:tc>
                <a:tc>
                  <a:txBody>
                    <a:bodyPr/>
                    <a:lstStyle/>
                    <a:p>
                      <a:pPr indent="0" marL="0">
                        <a:lnSpc>
                          <a:spcPts val="1750"/>
                        </a:lnSpc>
                        <a:buNone/>
                      </a:pPr>
                      <a:r>
                        <a:rPr lang="en-US" sz="1250" b="1" dirty="0">
                          <a:solidFill>
                            <a:srgbClr val="FAF9F5"/>
                          </a:solidFill>
                          <a:latin typeface="IBM Plex Sans" pitchFamily="34" charset="0"/>
                          <a:ea typeface="IBM Plex Sans" pitchFamily="34" charset="-122"/>
                          <a:cs typeface="IBM Plex Sans" pitchFamily="34" charset="-120"/>
                        </a:rPr>
                        <a:t>Khoản mục lá (EU)</a:t>
                      </a:r>
                      <a:endParaRPr lang="en-US" sz="1250" dirty="0">
                        <a:latin typeface="IBM Plex Sans" charset="0"/>
                        <a:ea typeface="IBM Plex Sans" charset="0"/>
                        <a:cs typeface="IBM Plex Sans" charset="0"/>
                      </a:endParaRPr>
                    </a:p>
                  </a:txBody>
                  <a:tcPr marL="88900" marR="88900" marT="50800" marB="50800" anchor="t">
                    <a:lnL w="12700" cap="flat" cmpd="sng" algn="ctr">
                      <a:solidFill>
                        <a:srgbClr val="1A232C"/>
                      </a:solidFill>
                      <a:prstDash val="solid"/>
                      <a:round/>
                      <a:headEnd type="none" w="med" len="med"/>
                      <a:tailEnd type="none" w="med" len="med"/>
                    </a:lnL>
                    <a:lnR w="12700" cap="flat" cmpd="sng" algn="ctr">
                      <a:solidFill>
                        <a:srgbClr val="1A232C"/>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1A232C"/>
                      </a:solidFill>
                      <a:prstDash val="solid"/>
                      <a:round/>
                      <a:headEnd type="none" w="med" len="med"/>
                      <a:tailEnd type="none" w="med" len="med"/>
                    </a:lnB>
                    <a:solidFill>
                      <a:srgbClr val="1C2733"/>
                    </a:solidFill>
                  </a:tcPr>
                </a:tc>
              </a:tr>
              <a:tr h="334010">
                <a:tc>
                  <a:txBody>
                    <a:bodyPr/>
                    <a:lstStyle/>
                    <a:p>
                      <a:pPr indent="0" marL="0">
                        <a:lnSpc>
                          <a:spcPts val="1750"/>
                        </a:lnSpc>
                        <a:buNone/>
                      </a:pPr>
                      <a:r>
                        <a:rPr lang="en-US" sz="1250" dirty="0">
                          <a:solidFill>
                            <a:srgbClr val="1C2733"/>
                          </a:solidFill>
                          <a:latin typeface="IBM Plex Sans" pitchFamily="34" charset="0"/>
                          <a:ea typeface="IBM Plex Sans" pitchFamily="34" charset="-122"/>
                          <a:cs typeface="IBM Plex Sans" pitchFamily="34" charset="-120"/>
                        </a:rPr>
                        <a:t>T1</a:t>
                      </a:r>
                      <a:endParaRPr lang="en-US" sz="1250" dirty="0">
                        <a:latin typeface="IBM Plex Sans" charset="0"/>
                        <a:ea typeface="IBM Plex Sans" charset="0"/>
                        <a:cs typeface="IBM Plex Sans" charset="0"/>
                      </a:endParaRPr>
                    </a:p>
                  </a:txBody>
                  <a:tcPr marL="88900" marR="88900" marT="50800" marB="50800" anchor="t">
                    <a:lnL w="12700" cap="flat" cmpd="sng" algn="ctr">
                      <a:solidFill>
                        <a:srgbClr val="C7C7C3"/>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A232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750"/>
                        </a:lnSpc>
                        <a:buNone/>
                      </a:pPr>
                      <a:r>
                        <a:rPr lang="en-US" sz="1250" dirty="0">
                          <a:solidFill>
                            <a:srgbClr val="1C2733"/>
                          </a:solidFill>
                          <a:latin typeface="IBM Plex Sans" pitchFamily="34" charset="0"/>
                          <a:ea typeface="IBM Plex Sans" pitchFamily="34" charset="-122"/>
                          <a:cs typeface="IBM Plex Sans" pitchFamily="34" charset="-120"/>
                        </a:rPr>
                        <a:t>Chạy(10), Rời(8)</a:t>
                      </a:r>
                      <a:endParaRPr lang="en-US" sz="1250" dirty="0">
                        <a:latin typeface="IBM Plex Sans" charset="0"/>
                        <a:ea typeface="IBM Plex Sans" charset="0"/>
                        <a:cs typeface="IBM Plex Sans" charset="0"/>
                      </a:endParaRPr>
                    </a:p>
                  </a:txBody>
                  <a:tcPr marL="88900" marR="889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A232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34010">
                <a:tc>
                  <a:txBody>
                    <a:bodyPr/>
                    <a:lstStyle/>
                    <a:p>
                      <a:pPr indent="0" marL="0">
                        <a:lnSpc>
                          <a:spcPts val="1750"/>
                        </a:lnSpc>
                        <a:buNone/>
                      </a:pPr>
                      <a:r>
                        <a:rPr lang="en-US" sz="1250" dirty="0">
                          <a:solidFill>
                            <a:srgbClr val="1C2733"/>
                          </a:solidFill>
                          <a:latin typeface="IBM Plex Sans" pitchFamily="34" charset="0"/>
                          <a:ea typeface="IBM Plex Sans" pitchFamily="34" charset="-122"/>
                          <a:cs typeface="IBM Plex Sans" pitchFamily="34" charset="-120"/>
                        </a:rPr>
                        <a:t>T2</a:t>
                      </a:r>
                      <a:endParaRPr lang="en-US" sz="1250" dirty="0">
                        <a:latin typeface="IBM Plex Sans" charset="0"/>
                        <a:ea typeface="IBM Plex Sans" charset="0"/>
                        <a:cs typeface="IBM Plex Sans" charset="0"/>
                      </a:endParaRPr>
                    </a:p>
                  </a:txBody>
                  <a:tcPr marL="88900" marR="88900" marT="50800" marB="50800" anchor="t">
                    <a:lnL w="12700" cap="flat" cmpd="sng" algn="ctr">
                      <a:solidFill>
                        <a:srgbClr val="C7C7C3"/>
                      </a:solidFill>
                      <a:prstDash val="solid"/>
                      <a:round/>
                      <a:headEnd type="none" w="med" len="med"/>
                      <a:tailEnd type="none" w="med" len="med"/>
                    </a:lnL>
                    <a:lnR w="12700" cap="flat" cmpd="sng" algn="ctr">
                      <a:solidFill>
                        <a:srgbClr val="C0BDB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c>
                  <a:txBody>
                    <a:bodyPr/>
                    <a:lstStyle/>
                    <a:p>
                      <a:pPr indent="0" marL="0">
                        <a:lnSpc>
                          <a:spcPts val="1750"/>
                        </a:lnSpc>
                        <a:buNone/>
                      </a:pPr>
                      <a:r>
                        <a:rPr lang="en-US" sz="1250" dirty="0">
                          <a:solidFill>
                            <a:srgbClr val="1C2733"/>
                          </a:solidFill>
                          <a:latin typeface="IBM Plex Sans" pitchFamily="34" charset="0"/>
                          <a:ea typeface="IBM Plex Sans" pitchFamily="34" charset="-122"/>
                          <a:cs typeface="IBM Plex Sans" pitchFamily="34" charset="-120"/>
                        </a:rPr>
                        <a:t>Chạy(6)</a:t>
                      </a:r>
                      <a:endParaRPr lang="en-US" sz="1250" dirty="0">
                        <a:latin typeface="IBM Plex Sans" charset="0"/>
                        <a:ea typeface="IBM Plex Sans" charset="0"/>
                        <a:cs typeface="IBM Plex Sans" charset="0"/>
                      </a:endParaRPr>
                    </a:p>
                  </a:txBody>
                  <a:tcPr marL="88900" marR="88900" marT="50800" marB="50800" anchor="t">
                    <a:lnL w="12700" cap="flat" cmpd="sng" algn="ctr">
                      <a:solidFill>
                        <a:srgbClr val="C0BDB7"/>
                      </a:solidFill>
                      <a:prstDash val="solid"/>
                      <a:round/>
                      <a:headEnd type="none" w="med" len="med"/>
                      <a:tailEnd type="none" w="med" len="med"/>
                    </a:lnL>
                    <a:lnR w="12700" cap="flat" cmpd="sng" algn="ctr">
                      <a:solidFill>
                        <a:srgbClr val="C0BDB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r>
              <a:tr h="334010">
                <a:tc>
                  <a:txBody>
                    <a:bodyPr/>
                    <a:lstStyle/>
                    <a:p>
                      <a:pPr indent="0" marL="0">
                        <a:lnSpc>
                          <a:spcPts val="1750"/>
                        </a:lnSpc>
                        <a:buNone/>
                      </a:pPr>
                      <a:r>
                        <a:rPr lang="en-US" sz="1250" dirty="0">
                          <a:solidFill>
                            <a:srgbClr val="1C2733"/>
                          </a:solidFill>
                          <a:latin typeface="IBM Plex Sans" pitchFamily="34" charset="0"/>
                          <a:ea typeface="IBM Plex Sans" pitchFamily="34" charset="-122"/>
                          <a:cs typeface="IBM Plex Sans" pitchFamily="34" charset="-120"/>
                        </a:rPr>
                        <a:t>T3</a:t>
                      </a:r>
                      <a:endParaRPr lang="en-US" sz="1250" dirty="0">
                        <a:latin typeface="IBM Plex Sans" charset="0"/>
                        <a:ea typeface="IBM Plex Sans" charset="0"/>
                        <a:cs typeface="IBM Plex Sans" charset="0"/>
                      </a:endParaRPr>
                    </a:p>
                  </a:txBody>
                  <a:tcPr marL="88900" marR="88900" marT="50800" marB="50800" anchor="t">
                    <a:lnL w="12700" cap="flat" cmpd="sng" algn="ctr">
                      <a:solidFill>
                        <a:srgbClr val="C7C7C3"/>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BDB7"/>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750"/>
                        </a:lnSpc>
                        <a:buNone/>
                      </a:pPr>
                      <a:r>
                        <a:rPr lang="en-US" sz="1250" dirty="0">
                          <a:solidFill>
                            <a:srgbClr val="1C2733"/>
                          </a:solidFill>
                          <a:latin typeface="IBM Plex Sans" pitchFamily="34" charset="0"/>
                          <a:ea typeface="IBM Plex Sans" pitchFamily="34" charset="-122"/>
                          <a:cs typeface="IBM Plex Sans" pitchFamily="34" charset="-120"/>
                        </a:rPr>
                        <a:t>Rời(9)</a:t>
                      </a:r>
                      <a:endParaRPr lang="en-US" sz="1250" dirty="0">
                        <a:latin typeface="IBM Plex Sans" charset="0"/>
                        <a:ea typeface="IBM Plex Sans" charset="0"/>
                        <a:cs typeface="IBM Plex Sans" charset="0"/>
                      </a:endParaRPr>
                    </a:p>
                  </a:txBody>
                  <a:tcPr marL="88900" marR="889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BDB7"/>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21" name="Text 17"/>
          <p:cNvSpPr/>
          <p:nvPr/>
        </p:nvSpPr>
        <p:spPr>
          <a:xfrm>
            <a:off x="812800" y="4306577"/>
            <a:ext cx="5323967" cy="43434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4A5568"/>
                </a:solidFill>
                <a:latin typeface="IBM Plex Sans" pitchFamily="34" charset="0"/>
                <a:ea typeface="IBM Plex Sans" pitchFamily="34" charset="-122"/>
                <a:cs typeface="IBM Plex Sans" pitchFamily="34" charset="-120"/>
              </a:rPr>
              <a:t>EU cuộn lên tầng biến thể theo trọng số taxonomy, VD EU(running,T1)=10×0,130=1,30; EU(left,T1)=8×1,0=8.</a:t>
            </a:r>
            <a:endParaRPr lang="en-US" sz="1150" dirty="0"/>
          </a:p>
        </p:txBody>
      </p:sp>
      <p:sp>
        <p:nvSpPr>
          <p:cNvPr id="22" name="Text 18"/>
          <p:cNvSpPr/>
          <p:nvPr/>
        </p:nvSpPr>
        <p:spPr>
          <a:xfrm>
            <a:off x="6210300" y="2871477"/>
            <a:ext cx="5323967" cy="229870"/>
          </a:xfrm>
          <a:prstGeom prst="rect">
            <a:avLst/>
          </a:prstGeom>
          <a:noFill/>
          <a:ln/>
        </p:spPr>
        <p:txBody>
          <a:bodyPr wrap="square" lIns="0" tIns="0" rIns="0" bIns="0" rtlCol="0" anchor="t">
            <a:normAutofit/>
          </a:bodyPr>
          <a:lstStyle/>
          <a:p>
            <a:pPr algn="l" indent="0" marL="0">
              <a:lnSpc>
                <a:spcPts val="1610"/>
              </a:lnSpc>
              <a:buNone/>
            </a:pPr>
            <a:r>
              <a:rPr lang="en-US" sz="1150" b="1" spc="50" kern="0" dirty="0">
                <a:solidFill>
                  <a:srgbClr val="8A9199"/>
                </a:solidFill>
                <a:latin typeface="IBM Plex Sans" pitchFamily="34" charset="0"/>
                <a:ea typeface="IBM Plex Sans" pitchFamily="34" charset="-122"/>
                <a:cs typeface="IBM Plex Sans" pitchFamily="34" charset="-120"/>
              </a:rPr>
              <a:t>TOP-3 (k=3) — SAU KHI CUỘN EU</a:t>
            </a:r>
            <a:endParaRPr lang="en-US" sz="1150" dirty="0"/>
          </a:p>
        </p:txBody>
      </p:sp>
      <p:sp>
        <p:nvSpPr>
          <p:cNvPr id="23" name="Shape 19"/>
          <p:cNvSpPr/>
          <p:nvPr/>
        </p:nvSpPr>
        <p:spPr>
          <a:xfrm>
            <a:off x="6210300" y="3139442"/>
            <a:ext cx="5168900" cy="408940"/>
          </a:xfrm>
          <a:prstGeom prst="roundRect">
            <a:avLst>
              <a:gd name="adj" fmla="val 18634"/>
            </a:avLst>
          </a:prstGeom>
          <a:solidFill>
            <a:srgbClr val="1C2733"/>
          </a:solidFill>
          <a:ln/>
        </p:spPr>
      </p:sp>
      <p:sp>
        <p:nvSpPr>
          <p:cNvPr id="24" name="Text 20"/>
          <p:cNvSpPr/>
          <p:nvPr/>
        </p:nvSpPr>
        <p:spPr>
          <a:xfrm>
            <a:off x="6362700" y="3228342"/>
            <a:ext cx="172466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AF9F5"/>
                </a:solidFill>
                <a:latin typeface="IBM Plex Sans" pitchFamily="34" charset="0"/>
                <a:ea typeface="IBM Plex Sans" pitchFamily="34" charset="-122"/>
                <a:cs typeface="IBM Plex Sans" pitchFamily="34" charset="-120"/>
              </a:rPr>
              <a:t>(1) {Chạy, Rời} </a:t>
            </a:r>
            <a:r>
              <a:rPr lang="en-US" sz="1300" dirty="0">
                <a:solidFill>
                  <a:srgbClr val="8A9199"/>
                </a:solidFill>
                <a:latin typeface="IBM Plex Sans" pitchFamily="34" charset="0"/>
                <a:ea typeface="IBM Plex Sans" pitchFamily="34" charset="-122"/>
                <a:cs typeface="IBM Plex Sans" pitchFamily="34" charset="-120"/>
              </a:rPr>
              <a:t>· tầng lá</a:t>
            </a:r>
            <a:endParaRPr lang="en-US" sz="1300" dirty="0"/>
          </a:p>
        </p:txBody>
      </p:sp>
      <p:sp>
        <p:nvSpPr>
          <p:cNvPr id="25" name="Text 21"/>
          <p:cNvSpPr/>
          <p:nvPr/>
        </p:nvSpPr>
        <p:spPr>
          <a:xfrm>
            <a:off x="10781189" y="3228342"/>
            <a:ext cx="496411"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AF9F5"/>
                </a:solidFill>
                <a:latin typeface="IBM Plex Sans" pitchFamily="34" charset="0"/>
                <a:ea typeface="IBM Plex Sans" pitchFamily="34" charset="-122"/>
                <a:cs typeface="IBM Plex Sans" pitchFamily="34" charset="-120"/>
              </a:rPr>
              <a:t>18,00</a:t>
            </a:r>
            <a:endParaRPr lang="en-US" sz="1300" dirty="0"/>
          </a:p>
        </p:txBody>
      </p:sp>
      <p:sp>
        <p:nvSpPr>
          <p:cNvPr id="26" name="Shape 22"/>
          <p:cNvSpPr/>
          <p:nvPr/>
        </p:nvSpPr>
        <p:spPr>
          <a:xfrm>
            <a:off x="6216650" y="3618235"/>
            <a:ext cx="5156200" cy="416560"/>
          </a:xfrm>
          <a:prstGeom prst="roundRect">
            <a:avLst>
              <a:gd name="adj" fmla="val 16768"/>
            </a:avLst>
          </a:prstGeom>
          <a:solidFill>
            <a:srgbClr val="1C2733"/>
          </a:solidFill>
          <a:ln w="12700">
            <a:solidFill>
              <a:srgbClr val="B8863B"/>
            </a:solidFill>
            <a:prstDash val="solid"/>
          </a:ln>
        </p:spPr>
      </p:sp>
      <p:sp>
        <p:nvSpPr>
          <p:cNvPr id="27" name="Text 23"/>
          <p:cNvSpPr/>
          <p:nvPr/>
        </p:nvSpPr>
        <p:spPr>
          <a:xfrm>
            <a:off x="6372860" y="3710942"/>
            <a:ext cx="2433884"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AF9F5"/>
                </a:solidFill>
                <a:latin typeface="IBM Plex Sans" pitchFamily="34" charset="0"/>
                <a:ea typeface="IBM Plex Sans" pitchFamily="34" charset="-122"/>
                <a:cs typeface="IBM Plex Sans" pitchFamily="34" charset="-120"/>
              </a:rPr>
              <a:t>(2) {running, left} </a:t>
            </a:r>
            <a:r>
              <a:rPr lang="en-US" sz="1300" dirty="0">
                <a:solidFill>
                  <a:srgbClr val="B8863B"/>
                </a:solidFill>
                <a:latin typeface="IBM Plex Sans" pitchFamily="34" charset="0"/>
                <a:ea typeface="IBM Plex Sans" pitchFamily="34" charset="-122"/>
                <a:cs typeface="IBM Plex Sans" pitchFamily="34" charset="-120"/>
              </a:rPr>
              <a:t>· tầng biến thể</a:t>
            </a:r>
            <a:endParaRPr lang="en-US" sz="1300" dirty="0"/>
          </a:p>
        </p:txBody>
      </p:sp>
      <p:sp>
        <p:nvSpPr>
          <p:cNvPr id="28" name="Text 24"/>
          <p:cNvSpPr/>
          <p:nvPr/>
        </p:nvSpPr>
        <p:spPr>
          <a:xfrm>
            <a:off x="10870089" y="3710942"/>
            <a:ext cx="397351"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863B"/>
                </a:solidFill>
                <a:latin typeface="IBM Plex Sans" pitchFamily="34" charset="0"/>
                <a:ea typeface="IBM Plex Sans" pitchFamily="34" charset="-122"/>
                <a:cs typeface="IBM Plex Sans" pitchFamily="34" charset="-120"/>
              </a:rPr>
              <a:t>9,30</a:t>
            </a:r>
            <a:endParaRPr lang="en-US" sz="1300" dirty="0"/>
          </a:p>
        </p:txBody>
      </p:sp>
      <p:sp>
        <p:nvSpPr>
          <p:cNvPr id="29" name="Shape 25"/>
          <p:cNvSpPr/>
          <p:nvPr/>
        </p:nvSpPr>
        <p:spPr>
          <a:xfrm>
            <a:off x="6216650" y="4110992"/>
            <a:ext cx="5156200" cy="416560"/>
          </a:xfrm>
          <a:prstGeom prst="roundRect">
            <a:avLst>
              <a:gd name="adj" fmla="val 16768"/>
            </a:avLst>
          </a:prstGeom>
          <a:solidFill>
            <a:srgbClr val="1C2733"/>
          </a:solidFill>
          <a:ln w="12700">
            <a:solidFill>
              <a:srgbClr val="B8863B"/>
            </a:solidFill>
            <a:prstDash val="solid"/>
          </a:ln>
        </p:spPr>
      </p:sp>
      <p:sp>
        <p:nvSpPr>
          <p:cNvPr id="30" name="Text 26"/>
          <p:cNvSpPr/>
          <p:nvPr/>
        </p:nvSpPr>
        <p:spPr>
          <a:xfrm>
            <a:off x="6372860" y="4203700"/>
            <a:ext cx="2099746"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AF9F5"/>
                </a:solidFill>
                <a:latin typeface="IBM Plex Sans" pitchFamily="34" charset="0"/>
                <a:ea typeface="IBM Plex Sans" pitchFamily="34" charset="-122"/>
                <a:cs typeface="IBM Plex Sans" pitchFamily="34" charset="-120"/>
              </a:rPr>
              <a:t>(3) {ran, left} </a:t>
            </a:r>
            <a:r>
              <a:rPr lang="en-US" sz="1300" dirty="0">
                <a:solidFill>
                  <a:srgbClr val="B8863B"/>
                </a:solidFill>
                <a:latin typeface="IBM Plex Sans" pitchFamily="34" charset="0"/>
                <a:ea typeface="IBM Plex Sans" pitchFamily="34" charset="-122"/>
                <a:cs typeface="IBM Plex Sans" pitchFamily="34" charset="-120"/>
              </a:rPr>
              <a:t>· tầng biến thể</a:t>
            </a:r>
            <a:endParaRPr lang="en-US" sz="1300" dirty="0"/>
          </a:p>
        </p:txBody>
      </p:sp>
      <p:sp>
        <p:nvSpPr>
          <p:cNvPr id="31" name="Text 27"/>
          <p:cNvSpPr/>
          <p:nvPr/>
        </p:nvSpPr>
        <p:spPr>
          <a:xfrm>
            <a:off x="10870089" y="4203700"/>
            <a:ext cx="397351"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863B"/>
                </a:solidFill>
                <a:latin typeface="IBM Plex Sans" pitchFamily="34" charset="0"/>
                <a:ea typeface="IBM Plex Sans" pitchFamily="34" charset="-122"/>
                <a:cs typeface="IBM Plex Sans" pitchFamily="34" charset="-120"/>
              </a:rPr>
              <a:t>9,03</a:t>
            </a:r>
            <a:endParaRPr lang="en-US" sz="1300" dirty="0"/>
          </a:p>
        </p:txBody>
      </p:sp>
      <p:sp>
        <p:nvSpPr>
          <p:cNvPr id="32" name="Text 28"/>
          <p:cNvSpPr/>
          <p:nvPr/>
        </p:nvSpPr>
        <p:spPr>
          <a:xfrm>
            <a:off x="6210300" y="4597400"/>
            <a:ext cx="5323967" cy="402590"/>
          </a:xfrm>
          <a:prstGeom prst="rect">
            <a:avLst/>
          </a:prstGeom>
          <a:noFill/>
          <a:ln/>
        </p:spPr>
        <p:txBody>
          <a:bodyPr wrap="square" lIns="0" tIns="0" rIns="0" bIns="0" rtlCol="0" anchor="t">
            <a:normAutofit/>
          </a:bodyPr>
          <a:lstStyle/>
          <a:p>
            <a:pPr algn="l" indent="0" marL="0">
              <a:lnSpc>
                <a:spcPts val="1485"/>
              </a:lnSpc>
              <a:buNone/>
            </a:pPr>
            <a:r>
              <a:rPr lang="en-US" sz="1100" dirty="0">
                <a:solidFill>
                  <a:srgbClr val="8A9199"/>
                </a:solidFill>
                <a:latin typeface="IBM Plex Sans" pitchFamily="34" charset="0"/>
                <a:ea typeface="IBM Plex Sans" pitchFamily="34" charset="-122"/>
                <a:cs typeface="IBM Plex Sans" pitchFamily="34" charset="-120"/>
              </a:rPr>
              <a:t>2/3 kết quả là pattern tầng biến thể — TK-MLHUI đơn-cha không thể sinh ra "left" độc lập với "leaving" theo đúng tỉ lệ thật này.</a:t>
            </a:r>
            <a:endParaRPr lang="en-US" sz="1100" dirty="0"/>
          </a:p>
        </p:txBody>
      </p:sp>
      <p:sp>
        <p:nvSpPr>
          <p:cNvPr id="33" name="Text 29"/>
          <p:cNvSpPr/>
          <p:nvPr/>
        </p:nvSpPr>
        <p:spPr>
          <a:xfrm>
            <a:off x="812800" y="6238242"/>
            <a:ext cx="54689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199"/>
                </a:solidFill>
                <a:latin typeface="IBM Plex Sans" pitchFamily="34" charset="0"/>
                <a:ea typeface="IBM Plex Sans" pitchFamily="34" charset="-122"/>
                <a:cs typeface="IBM Plex Sans" pitchFamily="34" charset="-120"/>
              </a:rPr>
              <a:t>26 / 34</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863B"/>
                </a:solidFill>
                <a:latin typeface="IBM Plex Sans" pitchFamily="34" charset="0"/>
                <a:ea typeface="IBM Plex Sans" pitchFamily="34" charset="-122"/>
                <a:cs typeface="IBM Plex Sans" pitchFamily="34" charset="-120"/>
              </a:rPr>
              <a:t>THỰC NGHIỆM</a:t>
            </a:r>
            <a:endParaRPr lang="en-US" sz="1200" dirty="0"/>
          </a:p>
        </p:txBody>
      </p:sp>
      <p:sp>
        <p:nvSpPr>
          <p:cNvPr id="3" name="Text 1"/>
          <p:cNvSpPr/>
          <p:nvPr/>
        </p:nvSpPr>
        <p:spPr>
          <a:xfrm>
            <a:off x="812800" y="1076958"/>
            <a:ext cx="10883392" cy="34671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C2733"/>
                </a:solidFill>
                <a:latin typeface="EB Garamond" pitchFamily="34" charset="0"/>
                <a:ea typeface="EB Garamond" pitchFamily="34" charset="-122"/>
                <a:cs typeface="EB Garamond" pitchFamily="34" charset="-120"/>
              </a:rPr>
              <a:t>Thiết kế thực nghiệm — các biến thể cụ thể</a:t>
            </a:r>
            <a:endParaRPr lang="en-US" sz="2200" dirty="0"/>
          </a:p>
        </p:txBody>
      </p:sp>
      <p:sp>
        <p:nvSpPr>
          <p:cNvPr id="4" name="Shape 2"/>
          <p:cNvSpPr/>
          <p:nvPr/>
        </p:nvSpPr>
        <p:spPr>
          <a:xfrm>
            <a:off x="815975" y="1515752"/>
            <a:ext cx="3419237" cy="4323080"/>
          </a:xfrm>
          <a:prstGeom prst="roundRect">
            <a:avLst>
              <a:gd name="adj" fmla="val 2879"/>
            </a:avLst>
          </a:prstGeom>
          <a:solidFill>
            <a:srgbClr val="FFFFFF"/>
          </a:solidFill>
          <a:ln w="6350">
            <a:solidFill>
              <a:srgbClr val="E3DDD0"/>
            </a:solidFill>
            <a:prstDash val="solid"/>
          </a:ln>
        </p:spPr>
      </p:sp>
      <p:sp>
        <p:nvSpPr>
          <p:cNvPr id="5" name="Text 3"/>
          <p:cNvSpPr/>
          <p:nvPr/>
        </p:nvSpPr>
        <p:spPr>
          <a:xfrm>
            <a:off x="970280" y="1670050"/>
            <a:ext cx="3203946" cy="220980"/>
          </a:xfrm>
          <a:prstGeom prst="rect">
            <a:avLst/>
          </a:prstGeom>
          <a:noFill/>
          <a:ln/>
        </p:spPr>
        <p:txBody>
          <a:bodyPr wrap="square" lIns="0" tIns="0" rIns="0" bIns="0" rtlCol="0" anchor="t">
            <a:normAutofit/>
          </a:bodyPr>
          <a:lstStyle/>
          <a:p>
            <a:pPr algn="l" indent="0" marL="0">
              <a:lnSpc>
                <a:spcPts val="1540"/>
              </a:lnSpc>
              <a:buNone/>
            </a:pPr>
            <a:r>
              <a:rPr lang="en-US" sz="1100" b="1" spc="50" kern="0" dirty="0">
                <a:solidFill>
                  <a:srgbClr val="8A9199"/>
                </a:solidFill>
                <a:latin typeface="IBM Plex Sans" pitchFamily="34" charset="0"/>
                <a:ea typeface="IBM Plex Sans" pitchFamily="34" charset="-122"/>
                <a:cs typeface="IBM Plex Sans" pitchFamily="34" charset="-120"/>
              </a:rPr>
              <a:t>mlTKO (Fruithut/Chess/Accidents)</a:t>
            </a:r>
            <a:endParaRPr lang="en-US" sz="1100" dirty="0"/>
          </a:p>
        </p:txBody>
      </p:sp>
      <p:sp>
        <p:nvSpPr>
          <p:cNvPr id="6" name="Shape 4"/>
          <p:cNvSpPr/>
          <p:nvPr/>
        </p:nvSpPr>
        <p:spPr>
          <a:xfrm>
            <a:off x="970280" y="1929135"/>
            <a:ext cx="3110627" cy="331470"/>
          </a:xfrm>
          <a:prstGeom prst="roundRect">
            <a:avLst>
              <a:gd name="adj" fmla="val 15326"/>
            </a:avLst>
          </a:prstGeom>
          <a:solidFill>
            <a:srgbClr val="F0EDE5"/>
          </a:solidFill>
          <a:ln/>
        </p:spPr>
      </p:sp>
      <p:sp>
        <p:nvSpPr>
          <p:cNvPr id="7" name="Text 5"/>
          <p:cNvSpPr/>
          <p:nvPr/>
        </p:nvSpPr>
        <p:spPr>
          <a:xfrm>
            <a:off x="1059180" y="1992635"/>
            <a:ext cx="3020812" cy="229870"/>
          </a:xfrm>
          <a:prstGeom prst="rect">
            <a:avLst/>
          </a:prstGeom>
          <a:noFill/>
          <a:ln/>
        </p:spPr>
        <p:txBody>
          <a:bodyPr wrap="square" lIns="0" tIns="0" rIns="0" bIns="0" rtlCol="0" anchor="t">
            <a:normAutofit/>
          </a:bodyPr>
          <a:lstStyle/>
          <a:p>
            <a:pPr algn="l" indent="0" marL="0">
              <a:lnSpc>
                <a:spcPts val="1610"/>
              </a:lnSpc>
              <a:buNone/>
            </a:pPr>
            <a:r>
              <a:rPr lang="en-US" sz="1150" b="1" dirty="0">
                <a:solidFill>
                  <a:srgbClr val="1C2733"/>
                </a:solidFill>
                <a:latin typeface="IBM Plex Sans" pitchFamily="34" charset="0"/>
                <a:ea typeface="IBM Plex Sans" pitchFamily="34" charset="-122"/>
                <a:cs typeface="IBM Plex Sans" pitchFamily="34" charset="-120"/>
              </a:rPr>
              <a:t>mltko</a:t>
            </a:r>
            <a:r>
              <a:rPr lang="en-US" sz="1150" dirty="0">
                <a:solidFill>
                  <a:srgbClr val="1C2733"/>
                </a:solidFill>
                <a:latin typeface="IBM Plex Sans" pitchFamily="34" charset="0"/>
                <a:ea typeface="IBM Plex Sans" pitchFamily="34" charset="-122"/>
                <a:cs typeface="IBM Plex Sans" pitchFamily="34" charset="-120"/>
              </a:rPr>
              <a:t> — EUCP ✓ · merge ✓</a:t>
            </a:r>
            <a:endParaRPr lang="en-US" sz="1150" dirty="0"/>
          </a:p>
        </p:txBody>
      </p:sp>
      <p:sp>
        <p:nvSpPr>
          <p:cNvPr id="8" name="Shape 6"/>
          <p:cNvSpPr/>
          <p:nvPr/>
        </p:nvSpPr>
        <p:spPr>
          <a:xfrm>
            <a:off x="970280" y="2324100"/>
            <a:ext cx="3110627" cy="331470"/>
          </a:xfrm>
          <a:prstGeom prst="roundRect">
            <a:avLst>
              <a:gd name="adj" fmla="val 15326"/>
            </a:avLst>
          </a:prstGeom>
          <a:solidFill>
            <a:srgbClr val="F0EDE5"/>
          </a:solidFill>
          <a:ln/>
        </p:spPr>
      </p:sp>
      <p:sp>
        <p:nvSpPr>
          <p:cNvPr id="9" name="Text 7"/>
          <p:cNvSpPr/>
          <p:nvPr/>
        </p:nvSpPr>
        <p:spPr>
          <a:xfrm>
            <a:off x="1059180" y="2387600"/>
            <a:ext cx="3020812" cy="229870"/>
          </a:xfrm>
          <a:prstGeom prst="rect">
            <a:avLst/>
          </a:prstGeom>
          <a:noFill/>
          <a:ln/>
        </p:spPr>
        <p:txBody>
          <a:bodyPr wrap="square" lIns="0" tIns="0" rIns="0" bIns="0" rtlCol="0" anchor="t">
            <a:normAutofit/>
          </a:bodyPr>
          <a:lstStyle/>
          <a:p>
            <a:pPr algn="l" indent="0" marL="0">
              <a:lnSpc>
                <a:spcPts val="1610"/>
              </a:lnSpc>
              <a:buNone/>
            </a:pPr>
            <a:r>
              <a:rPr lang="en-US" sz="1150" b="1" dirty="0">
                <a:solidFill>
                  <a:srgbClr val="1C2733"/>
                </a:solidFill>
                <a:latin typeface="IBM Plex Sans" pitchFamily="34" charset="0"/>
                <a:ea typeface="IBM Plex Sans" pitchFamily="34" charset="-122"/>
                <a:cs typeface="IBM Plex Sans" pitchFamily="34" charset="-120"/>
              </a:rPr>
              <a:t>mltko-nop</a:t>
            </a:r>
            <a:r>
              <a:rPr lang="en-US" sz="1150" dirty="0">
                <a:solidFill>
                  <a:srgbClr val="1C2733"/>
                </a:solidFill>
                <a:latin typeface="IBM Plex Sans" pitchFamily="34" charset="0"/>
                <a:ea typeface="IBM Plex Sans" pitchFamily="34" charset="-122"/>
                <a:cs typeface="IBM Plex Sans" pitchFamily="34" charset="-120"/>
              </a:rPr>
              <a:t> — EUCP ✗ · merge ✓</a:t>
            </a:r>
            <a:endParaRPr lang="en-US" sz="1150" dirty="0"/>
          </a:p>
        </p:txBody>
      </p:sp>
      <p:sp>
        <p:nvSpPr>
          <p:cNvPr id="10" name="Shape 8"/>
          <p:cNvSpPr/>
          <p:nvPr/>
        </p:nvSpPr>
        <p:spPr>
          <a:xfrm>
            <a:off x="970280" y="2719077"/>
            <a:ext cx="3110627" cy="331470"/>
          </a:xfrm>
          <a:prstGeom prst="roundRect">
            <a:avLst>
              <a:gd name="adj" fmla="val 15326"/>
            </a:avLst>
          </a:prstGeom>
          <a:solidFill>
            <a:srgbClr val="F0EDE5"/>
          </a:solidFill>
          <a:ln/>
        </p:spPr>
      </p:sp>
      <p:sp>
        <p:nvSpPr>
          <p:cNvPr id="11" name="Text 9"/>
          <p:cNvSpPr/>
          <p:nvPr/>
        </p:nvSpPr>
        <p:spPr>
          <a:xfrm>
            <a:off x="1059180" y="2782577"/>
            <a:ext cx="3020812" cy="229870"/>
          </a:xfrm>
          <a:prstGeom prst="rect">
            <a:avLst/>
          </a:prstGeom>
          <a:noFill/>
          <a:ln/>
        </p:spPr>
        <p:txBody>
          <a:bodyPr wrap="square" lIns="0" tIns="0" rIns="0" bIns="0" rtlCol="0" anchor="t">
            <a:normAutofit/>
          </a:bodyPr>
          <a:lstStyle/>
          <a:p>
            <a:pPr algn="l" indent="0" marL="0">
              <a:lnSpc>
                <a:spcPts val="1610"/>
              </a:lnSpc>
              <a:buNone/>
            </a:pPr>
            <a:r>
              <a:rPr lang="en-US" sz="1150" b="1" dirty="0">
                <a:solidFill>
                  <a:srgbClr val="1C2733"/>
                </a:solidFill>
                <a:latin typeface="IBM Plex Sans" pitchFamily="34" charset="0"/>
                <a:ea typeface="IBM Plex Sans" pitchFamily="34" charset="-122"/>
                <a:cs typeface="IBM Plex Sans" pitchFamily="34" charset="-120"/>
              </a:rPr>
              <a:t>mltko-wo-merge</a:t>
            </a:r>
            <a:r>
              <a:rPr lang="en-US" sz="1150" dirty="0">
                <a:solidFill>
                  <a:srgbClr val="1C2733"/>
                </a:solidFill>
                <a:latin typeface="IBM Plex Sans" pitchFamily="34" charset="0"/>
                <a:ea typeface="IBM Plex Sans" pitchFamily="34" charset="-122"/>
                <a:cs typeface="IBM Plex Sans" pitchFamily="34" charset="-120"/>
              </a:rPr>
              <a:t> — EUCP ✓ · merge ✗</a:t>
            </a:r>
            <a:endParaRPr lang="en-US" sz="1150" dirty="0"/>
          </a:p>
        </p:txBody>
      </p:sp>
      <p:sp>
        <p:nvSpPr>
          <p:cNvPr id="12" name="Shape 10"/>
          <p:cNvSpPr/>
          <p:nvPr/>
        </p:nvSpPr>
        <p:spPr>
          <a:xfrm>
            <a:off x="4381262" y="1515752"/>
            <a:ext cx="3419316" cy="4323080"/>
          </a:xfrm>
          <a:prstGeom prst="roundRect">
            <a:avLst>
              <a:gd name="adj" fmla="val 2878"/>
            </a:avLst>
          </a:prstGeom>
          <a:solidFill>
            <a:srgbClr val="FFFFFF"/>
          </a:solidFill>
          <a:ln w="6350">
            <a:solidFill>
              <a:srgbClr val="E3DDD0"/>
            </a:solidFill>
            <a:prstDash val="solid"/>
          </a:ln>
        </p:spPr>
      </p:sp>
      <p:sp>
        <p:nvSpPr>
          <p:cNvPr id="13" name="Text 11"/>
          <p:cNvSpPr/>
          <p:nvPr/>
        </p:nvSpPr>
        <p:spPr>
          <a:xfrm>
            <a:off x="4535567" y="1670050"/>
            <a:ext cx="3204027" cy="220980"/>
          </a:xfrm>
          <a:prstGeom prst="rect">
            <a:avLst/>
          </a:prstGeom>
          <a:noFill/>
          <a:ln/>
        </p:spPr>
        <p:txBody>
          <a:bodyPr wrap="square" lIns="0" tIns="0" rIns="0" bIns="0" rtlCol="0" anchor="t">
            <a:normAutofit/>
          </a:bodyPr>
          <a:lstStyle/>
          <a:p>
            <a:pPr algn="l" indent="0" marL="0">
              <a:lnSpc>
                <a:spcPts val="1540"/>
              </a:lnSpc>
              <a:buNone/>
            </a:pPr>
            <a:r>
              <a:rPr lang="en-US" sz="1100" b="1" spc="50" kern="0" dirty="0">
                <a:solidFill>
                  <a:srgbClr val="8A9199"/>
                </a:solidFill>
                <a:latin typeface="IBM Plex Sans" pitchFamily="34" charset="0"/>
                <a:ea typeface="IBM Plex Sans" pitchFamily="34" charset="-122"/>
                <a:cs typeface="IBM Plex Sans" pitchFamily="34" charset="-120"/>
              </a:rPr>
              <a:t>TK-MLHUI (cùng 3 bộ)</a:t>
            </a:r>
            <a:endParaRPr lang="en-US" sz="1100" dirty="0"/>
          </a:p>
        </p:txBody>
      </p:sp>
      <p:sp>
        <p:nvSpPr>
          <p:cNvPr id="14" name="Shape 12"/>
          <p:cNvSpPr/>
          <p:nvPr/>
        </p:nvSpPr>
        <p:spPr>
          <a:xfrm>
            <a:off x="4535567" y="1929135"/>
            <a:ext cx="3110706" cy="331470"/>
          </a:xfrm>
          <a:prstGeom prst="roundRect">
            <a:avLst>
              <a:gd name="adj" fmla="val 15326"/>
            </a:avLst>
          </a:prstGeom>
          <a:solidFill>
            <a:srgbClr val="F0EDE5"/>
          </a:solidFill>
          <a:ln/>
        </p:spPr>
      </p:sp>
      <p:sp>
        <p:nvSpPr>
          <p:cNvPr id="15" name="Text 13"/>
          <p:cNvSpPr/>
          <p:nvPr/>
        </p:nvSpPr>
        <p:spPr>
          <a:xfrm>
            <a:off x="4624467" y="1992635"/>
            <a:ext cx="3020893" cy="229870"/>
          </a:xfrm>
          <a:prstGeom prst="rect">
            <a:avLst/>
          </a:prstGeom>
          <a:noFill/>
          <a:ln/>
        </p:spPr>
        <p:txBody>
          <a:bodyPr wrap="square" lIns="0" tIns="0" rIns="0" bIns="0" rtlCol="0" anchor="t">
            <a:normAutofit/>
          </a:bodyPr>
          <a:lstStyle/>
          <a:p>
            <a:pPr algn="l" indent="0" marL="0">
              <a:lnSpc>
                <a:spcPts val="1610"/>
              </a:lnSpc>
              <a:buNone/>
            </a:pPr>
            <a:r>
              <a:rPr lang="en-US" sz="1150" b="1" dirty="0">
                <a:solidFill>
                  <a:srgbClr val="1C2733"/>
                </a:solidFill>
                <a:latin typeface="IBM Plex Sans" pitchFamily="34" charset="0"/>
                <a:ea typeface="IBM Plex Sans" pitchFamily="34" charset="-122"/>
                <a:cs typeface="IBM Plex Sans" pitchFamily="34" charset="-120"/>
              </a:rPr>
              <a:t>TK-MLHUI</a:t>
            </a:r>
            <a:r>
              <a:rPr lang="en-US" sz="1150" dirty="0">
                <a:solidFill>
                  <a:srgbClr val="1C2733"/>
                </a:solidFill>
                <a:latin typeface="IBM Plex Sans" pitchFamily="34" charset="0"/>
                <a:ea typeface="IBM Plex Sans" pitchFamily="34" charset="-122"/>
                <a:cs typeface="IBM Plex Sans" pitchFamily="34" charset="-120"/>
              </a:rPr>
              <a:t> — 4 chiến lược ✓ hết</a:t>
            </a:r>
            <a:endParaRPr lang="en-US" sz="1150" dirty="0"/>
          </a:p>
        </p:txBody>
      </p:sp>
      <p:sp>
        <p:nvSpPr>
          <p:cNvPr id="16" name="Shape 14"/>
          <p:cNvSpPr/>
          <p:nvPr/>
        </p:nvSpPr>
        <p:spPr>
          <a:xfrm>
            <a:off x="4535567" y="2324100"/>
            <a:ext cx="3110706" cy="535940"/>
          </a:xfrm>
          <a:prstGeom prst="roundRect">
            <a:avLst>
              <a:gd name="adj" fmla="val 9479"/>
            </a:avLst>
          </a:prstGeom>
          <a:solidFill>
            <a:srgbClr val="F0EDE5"/>
          </a:solidFill>
          <a:ln/>
        </p:spPr>
      </p:sp>
      <p:sp>
        <p:nvSpPr>
          <p:cNvPr id="17" name="Text 15"/>
          <p:cNvSpPr/>
          <p:nvPr/>
        </p:nvSpPr>
        <p:spPr>
          <a:xfrm>
            <a:off x="4624467" y="2387600"/>
            <a:ext cx="3020893" cy="434340"/>
          </a:xfrm>
          <a:prstGeom prst="rect">
            <a:avLst/>
          </a:prstGeom>
          <a:noFill/>
          <a:ln/>
        </p:spPr>
        <p:txBody>
          <a:bodyPr wrap="square" lIns="0" tIns="0" rIns="0" bIns="0" rtlCol="0" anchor="t">
            <a:normAutofit/>
          </a:bodyPr>
          <a:lstStyle/>
          <a:p>
            <a:pPr algn="l" indent="0" marL="0">
              <a:lnSpc>
                <a:spcPts val="1610"/>
              </a:lnSpc>
              <a:buNone/>
            </a:pPr>
            <a:r>
              <a:rPr lang="en-US" sz="1150" b="1" dirty="0">
                <a:solidFill>
                  <a:srgbClr val="1C2733"/>
                </a:solidFill>
                <a:latin typeface="IBM Plex Sans" pitchFamily="34" charset="0"/>
                <a:ea typeface="IBM Plex Sans" pitchFamily="34" charset="-122"/>
                <a:cs typeface="IBM Plex Sans" pitchFamily="34" charset="-120"/>
              </a:rPr>
              <a:t>TK-MLHUI-wo-merge</a:t>
            </a:r>
            <a:r>
              <a:rPr lang="en-US" sz="1150" dirty="0">
                <a:solidFill>
                  <a:srgbClr val="1C2733"/>
                </a:solidFill>
                <a:latin typeface="IBM Plex Sans" pitchFamily="34" charset="0"/>
                <a:ea typeface="IBM Plex Sans" pitchFamily="34" charset="-122"/>
                <a:cs typeface="IBM Plex Sans" pitchFamily="34" charset="-120"/>
              </a:rPr>
              <a:t> — chiến lược 4 (gộp) ✗</a:t>
            </a:r>
            <a:endParaRPr lang="en-US" sz="1150" dirty="0"/>
          </a:p>
        </p:txBody>
      </p:sp>
      <p:sp>
        <p:nvSpPr>
          <p:cNvPr id="18" name="Text 16"/>
          <p:cNvSpPr/>
          <p:nvPr/>
        </p:nvSpPr>
        <p:spPr>
          <a:xfrm>
            <a:off x="4535567" y="2923542"/>
            <a:ext cx="3204027" cy="203200"/>
          </a:xfrm>
          <a:prstGeom prst="rect">
            <a:avLst/>
          </a:prstGeom>
          <a:noFill/>
          <a:ln/>
        </p:spPr>
        <p:txBody>
          <a:bodyPr wrap="square" lIns="0" tIns="0" rIns="0" bIns="0" rtlCol="0" anchor="t">
            <a:normAutofit/>
          </a:bodyPr>
          <a:lstStyle/>
          <a:p>
            <a:pPr algn="l" indent="0" marL="0">
              <a:lnSpc>
                <a:spcPts val="1400"/>
              </a:lnSpc>
              <a:buNone/>
            </a:pPr>
            <a:r>
              <a:rPr lang="en-US" sz="1000" dirty="0">
                <a:solidFill>
                  <a:srgbClr val="8A9199"/>
                </a:solidFill>
                <a:latin typeface="IBM Plex Sans" pitchFamily="34" charset="0"/>
                <a:ea typeface="IBM Plex Sans" pitchFamily="34" charset="-122"/>
                <a:cs typeface="IBM Plex Sans" pitchFamily="34" charset="-120"/>
              </a:rPr>
              <a:t>2/3 biến thể code hỗ trợ — đủ để xác thực cài đặt</a:t>
            </a:r>
            <a:endParaRPr lang="en-US" sz="1000" dirty="0"/>
          </a:p>
        </p:txBody>
      </p:sp>
      <p:sp>
        <p:nvSpPr>
          <p:cNvPr id="19" name="Shape 17"/>
          <p:cNvSpPr/>
          <p:nvPr/>
        </p:nvSpPr>
        <p:spPr>
          <a:xfrm>
            <a:off x="7949803" y="1518927"/>
            <a:ext cx="3423047" cy="4316730"/>
          </a:xfrm>
          <a:prstGeom prst="roundRect">
            <a:avLst>
              <a:gd name="adj" fmla="val 2783"/>
            </a:avLst>
          </a:prstGeom>
          <a:solidFill>
            <a:srgbClr val="FFFFFF"/>
          </a:solidFill>
          <a:ln w="12700">
            <a:solidFill>
              <a:srgbClr val="B8863B"/>
            </a:solidFill>
            <a:prstDash val="solid"/>
          </a:ln>
        </p:spPr>
      </p:sp>
      <p:sp>
        <p:nvSpPr>
          <p:cNvPr id="20" name="Text 18"/>
          <p:cNvSpPr/>
          <p:nvPr/>
        </p:nvSpPr>
        <p:spPr>
          <a:xfrm>
            <a:off x="8106013" y="1675135"/>
            <a:ext cx="3203946" cy="220980"/>
          </a:xfrm>
          <a:prstGeom prst="rect">
            <a:avLst/>
          </a:prstGeom>
          <a:noFill/>
          <a:ln/>
        </p:spPr>
        <p:txBody>
          <a:bodyPr wrap="square" lIns="0" tIns="0" rIns="0" bIns="0" rtlCol="0" anchor="t">
            <a:normAutofit/>
          </a:bodyPr>
          <a:lstStyle/>
          <a:p>
            <a:pPr algn="l" indent="0" marL="0">
              <a:lnSpc>
                <a:spcPts val="1540"/>
              </a:lnSpc>
              <a:buNone/>
            </a:pPr>
            <a:r>
              <a:rPr lang="en-US" sz="1100" b="1" spc="50" kern="0" dirty="0">
                <a:solidFill>
                  <a:srgbClr val="B8863B"/>
                </a:solidFill>
                <a:latin typeface="IBM Plex Sans" pitchFamily="34" charset="0"/>
                <a:ea typeface="IBM Plex Sans" pitchFamily="34" charset="-122"/>
                <a:cs typeface="IBM Plex Sans" pitchFamily="34" charset="-120"/>
              </a:rPr>
              <a:t>U-TK-MLHUI (IWSLT15/MTet 150k/250k)</a:t>
            </a:r>
            <a:endParaRPr lang="en-US" sz="1100" dirty="0"/>
          </a:p>
        </p:txBody>
      </p:sp>
      <p:sp>
        <p:nvSpPr>
          <p:cNvPr id="21" name="Shape 19"/>
          <p:cNvSpPr/>
          <p:nvPr/>
        </p:nvSpPr>
        <p:spPr>
          <a:xfrm>
            <a:off x="8106013" y="1934208"/>
            <a:ext cx="3110627" cy="331470"/>
          </a:xfrm>
          <a:prstGeom prst="roundRect">
            <a:avLst>
              <a:gd name="adj" fmla="val 15326"/>
            </a:avLst>
          </a:prstGeom>
          <a:solidFill>
            <a:srgbClr val="FBF1E0"/>
          </a:solidFill>
          <a:ln/>
        </p:spPr>
      </p:sp>
      <p:sp>
        <p:nvSpPr>
          <p:cNvPr id="22" name="Text 20"/>
          <p:cNvSpPr/>
          <p:nvPr/>
        </p:nvSpPr>
        <p:spPr>
          <a:xfrm>
            <a:off x="8194913" y="1997708"/>
            <a:ext cx="3020812" cy="229870"/>
          </a:xfrm>
          <a:prstGeom prst="rect">
            <a:avLst/>
          </a:prstGeom>
          <a:noFill/>
          <a:ln/>
        </p:spPr>
        <p:txBody>
          <a:bodyPr wrap="square" lIns="0" tIns="0" rIns="0" bIns="0" rtlCol="0" anchor="t">
            <a:normAutofit/>
          </a:bodyPr>
          <a:lstStyle/>
          <a:p>
            <a:pPr algn="l" indent="0" marL="0">
              <a:lnSpc>
                <a:spcPts val="1610"/>
              </a:lnSpc>
              <a:buNone/>
            </a:pPr>
            <a:r>
              <a:rPr lang="en-US" sz="1150" b="1" dirty="0">
                <a:solidFill>
                  <a:srgbClr val="1C2733"/>
                </a:solidFill>
                <a:latin typeface="IBM Plex Sans" pitchFamily="34" charset="0"/>
                <a:ea typeface="IBM Plex Sans" pitchFamily="34" charset="-122"/>
                <a:cs typeface="IBM Plex Sans" pitchFamily="34" charset="-120"/>
              </a:rPr>
              <a:t>A = U-TK-MLHUI</a:t>
            </a:r>
            <a:r>
              <a:rPr lang="en-US" sz="1150" dirty="0">
                <a:solidFill>
                  <a:srgbClr val="1C2733"/>
                </a:solidFill>
                <a:latin typeface="IBM Plex Sans" pitchFamily="34" charset="0"/>
                <a:ea typeface="IBM Plex Sans" pitchFamily="34" charset="-122"/>
                <a:cs typeface="IBM Plex Sans" pitchFamily="34" charset="-120"/>
              </a:rPr>
              <a:t> — Elu ✓ Esu ✓ merge ✓</a:t>
            </a:r>
            <a:endParaRPr lang="en-US" sz="1150" dirty="0"/>
          </a:p>
        </p:txBody>
      </p:sp>
      <p:sp>
        <p:nvSpPr>
          <p:cNvPr id="23" name="Shape 21"/>
          <p:cNvSpPr/>
          <p:nvPr/>
        </p:nvSpPr>
        <p:spPr>
          <a:xfrm>
            <a:off x="8106013" y="2329185"/>
            <a:ext cx="3110627" cy="331470"/>
          </a:xfrm>
          <a:prstGeom prst="roundRect">
            <a:avLst>
              <a:gd name="adj" fmla="val 15326"/>
            </a:avLst>
          </a:prstGeom>
          <a:solidFill>
            <a:srgbClr val="FBF1E0"/>
          </a:solidFill>
          <a:ln/>
        </p:spPr>
      </p:sp>
      <p:sp>
        <p:nvSpPr>
          <p:cNvPr id="24" name="Text 22"/>
          <p:cNvSpPr/>
          <p:nvPr/>
        </p:nvSpPr>
        <p:spPr>
          <a:xfrm>
            <a:off x="8194913" y="2392685"/>
            <a:ext cx="3020812" cy="229870"/>
          </a:xfrm>
          <a:prstGeom prst="rect">
            <a:avLst/>
          </a:prstGeom>
          <a:noFill/>
          <a:ln/>
        </p:spPr>
        <p:txBody>
          <a:bodyPr wrap="square" lIns="0" tIns="0" rIns="0" bIns="0" rtlCol="0" anchor="t">
            <a:normAutofit/>
          </a:bodyPr>
          <a:lstStyle/>
          <a:p>
            <a:pPr algn="l" indent="0" marL="0">
              <a:lnSpc>
                <a:spcPts val="1610"/>
              </a:lnSpc>
              <a:buNone/>
            </a:pPr>
            <a:r>
              <a:rPr lang="en-US" sz="1150" b="1" dirty="0">
                <a:solidFill>
                  <a:srgbClr val="1C2733"/>
                </a:solidFill>
                <a:latin typeface="IBM Plex Sans" pitchFamily="34" charset="0"/>
                <a:ea typeface="IBM Plex Sans" pitchFamily="34" charset="-122"/>
                <a:cs typeface="IBM Plex Sans" pitchFamily="34" charset="-120"/>
              </a:rPr>
              <a:t>B = wo-Elu</a:t>
            </a:r>
            <a:r>
              <a:rPr lang="en-US" sz="1150" dirty="0">
                <a:solidFill>
                  <a:srgbClr val="1C2733"/>
                </a:solidFill>
                <a:latin typeface="IBM Plex Sans" pitchFamily="34" charset="0"/>
                <a:ea typeface="IBM Plex Sans" pitchFamily="34" charset="-122"/>
                <a:cs typeface="IBM Plex Sans" pitchFamily="34" charset="-120"/>
              </a:rPr>
              <a:t> — chỉ tắt Elu</a:t>
            </a:r>
            <a:endParaRPr lang="en-US" sz="1150" dirty="0"/>
          </a:p>
        </p:txBody>
      </p:sp>
      <p:sp>
        <p:nvSpPr>
          <p:cNvPr id="25" name="Shape 23"/>
          <p:cNvSpPr/>
          <p:nvPr/>
        </p:nvSpPr>
        <p:spPr>
          <a:xfrm>
            <a:off x="8106013" y="2724150"/>
            <a:ext cx="3110627" cy="331470"/>
          </a:xfrm>
          <a:prstGeom prst="roundRect">
            <a:avLst>
              <a:gd name="adj" fmla="val 15326"/>
            </a:avLst>
          </a:prstGeom>
          <a:solidFill>
            <a:srgbClr val="FBF1E0"/>
          </a:solidFill>
          <a:ln/>
        </p:spPr>
      </p:sp>
      <p:sp>
        <p:nvSpPr>
          <p:cNvPr id="26" name="Text 24"/>
          <p:cNvSpPr/>
          <p:nvPr/>
        </p:nvSpPr>
        <p:spPr>
          <a:xfrm>
            <a:off x="8194913" y="2787650"/>
            <a:ext cx="3020812" cy="229870"/>
          </a:xfrm>
          <a:prstGeom prst="rect">
            <a:avLst/>
          </a:prstGeom>
          <a:noFill/>
          <a:ln/>
        </p:spPr>
        <p:txBody>
          <a:bodyPr wrap="square" lIns="0" tIns="0" rIns="0" bIns="0" rtlCol="0" anchor="t">
            <a:normAutofit/>
          </a:bodyPr>
          <a:lstStyle/>
          <a:p>
            <a:pPr algn="l" indent="0" marL="0">
              <a:lnSpc>
                <a:spcPts val="1610"/>
              </a:lnSpc>
              <a:buNone/>
            </a:pPr>
            <a:r>
              <a:rPr lang="en-US" sz="1150" b="1" dirty="0">
                <a:solidFill>
                  <a:srgbClr val="1C2733"/>
                </a:solidFill>
                <a:latin typeface="IBM Plex Sans" pitchFamily="34" charset="0"/>
                <a:ea typeface="IBM Plex Sans" pitchFamily="34" charset="-122"/>
                <a:cs typeface="IBM Plex Sans" pitchFamily="34" charset="-120"/>
              </a:rPr>
              <a:t>C = wo-Esu</a:t>
            </a:r>
            <a:r>
              <a:rPr lang="en-US" sz="1150" dirty="0">
                <a:solidFill>
                  <a:srgbClr val="1C2733"/>
                </a:solidFill>
                <a:latin typeface="IBM Plex Sans" pitchFamily="34" charset="0"/>
                <a:ea typeface="IBM Plex Sans" pitchFamily="34" charset="-122"/>
                <a:cs typeface="IBM Plex Sans" pitchFamily="34" charset="-120"/>
              </a:rPr>
              <a:t> — chỉ tắt Esu</a:t>
            </a:r>
            <a:endParaRPr lang="en-US" sz="1150" dirty="0"/>
          </a:p>
        </p:txBody>
      </p:sp>
      <p:sp>
        <p:nvSpPr>
          <p:cNvPr id="27" name="Shape 25"/>
          <p:cNvSpPr/>
          <p:nvPr/>
        </p:nvSpPr>
        <p:spPr>
          <a:xfrm>
            <a:off x="8106013" y="3119127"/>
            <a:ext cx="3110627" cy="331470"/>
          </a:xfrm>
          <a:prstGeom prst="roundRect">
            <a:avLst>
              <a:gd name="adj" fmla="val 15326"/>
            </a:avLst>
          </a:prstGeom>
          <a:solidFill>
            <a:srgbClr val="FBF1E0"/>
          </a:solidFill>
          <a:ln/>
        </p:spPr>
      </p:sp>
      <p:sp>
        <p:nvSpPr>
          <p:cNvPr id="28" name="Text 26"/>
          <p:cNvSpPr/>
          <p:nvPr/>
        </p:nvSpPr>
        <p:spPr>
          <a:xfrm>
            <a:off x="8194913" y="3182627"/>
            <a:ext cx="3020812" cy="229870"/>
          </a:xfrm>
          <a:prstGeom prst="rect">
            <a:avLst/>
          </a:prstGeom>
          <a:noFill/>
          <a:ln/>
        </p:spPr>
        <p:txBody>
          <a:bodyPr wrap="square" lIns="0" tIns="0" rIns="0" bIns="0" rtlCol="0" anchor="t">
            <a:normAutofit/>
          </a:bodyPr>
          <a:lstStyle/>
          <a:p>
            <a:pPr algn="l" indent="0" marL="0">
              <a:lnSpc>
                <a:spcPts val="1610"/>
              </a:lnSpc>
              <a:buNone/>
            </a:pPr>
            <a:r>
              <a:rPr lang="en-US" sz="1150" b="1" dirty="0">
                <a:solidFill>
                  <a:srgbClr val="1C2733"/>
                </a:solidFill>
                <a:latin typeface="IBM Plex Sans" pitchFamily="34" charset="0"/>
                <a:ea typeface="IBM Plex Sans" pitchFamily="34" charset="-122"/>
                <a:cs typeface="IBM Plex Sans" pitchFamily="34" charset="-120"/>
              </a:rPr>
              <a:t>D = wo-merge</a:t>
            </a:r>
            <a:r>
              <a:rPr lang="en-US" sz="1150" dirty="0">
                <a:solidFill>
                  <a:srgbClr val="1C2733"/>
                </a:solidFill>
                <a:latin typeface="IBM Plex Sans" pitchFamily="34" charset="0"/>
                <a:ea typeface="IBM Plex Sans" pitchFamily="34" charset="-122"/>
                <a:cs typeface="IBM Plex Sans" pitchFamily="34" charset="-120"/>
              </a:rPr>
              <a:t> — chỉ tắt merge</a:t>
            </a:r>
            <a:endParaRPr lang="en-US" sz="1150" dirty="0"/>
          </a:p>
        </p:txBody>
      </p:sp>
      <p:sp>
        <p:nvSpPr>
          <p:cNvPr id="29" name="Text 27"/>
          <p:cNvSpPr/>
          <p:nvPr/>
        </p:nvSpPr>
        <p:spPr>
          <a:xfrm>
            <a:off x="812800" y="6238242"/>
            <a:ext cx="54689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199"/>
                </a:solidFill>
                <a:latin typeface="IBM Plex Sans" pitchFamily="34" charset="0"/>
                <a:ea typeface="IBM Plex Sans" pitchFamily="34" charset="-122"/>
                <a:cs typeface="IBM Plex Sans" pitchFamily="34" charset="-120"/>
              </a:rPr>
              <a:t>27 / 34</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863B"/>
                </a:solidFill>
                <a:latin typeface="IBM Plex Sans" pitchFamily="34" charset="0"/>
                <a:ea typeface="IBM Plex Sans" pitchFamily="34" charset="-122"/>
                <a:cs typeface="IBM Plex Sans" pitchFamily="34" charset="-120"/>
              </a:rPr>
              <a:t>KẾT QUẢ THỰC NGHIỆM</a:t>
            </a:r>
            <a:endParaRPr lang="en-US" sz="1200" dirty="0"/>
          </a:p>
        </p:txBody>
      </p:sp>
      <p:sp>
        <p:nvSpPr>
          <p:cNvPr id="3" name="Text 1"/>
          <p:cNvSpPr/>
          <p:nvPr/>
        </p:nvSpPr>
        <p:spPr>
          <a:xfrm>
            <a:off x="812800" y="1089658"/>
            <a:ext cx="10883392" cy="34671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C2733"/>
                </a:solidFill>
                <a:latin typeface="EB Garamond" pitchFamily="34" charset="0"/>
                <a:ea typeface="EB Garamond" pitchFamily="34" charset="-122"/>
                <a:cs typeface="EB Garamond" pitchFamily="34" charset="-120"/>
              </a:rPr>
              <a:t>Kết quả: TK-MLHUI so với mlTKO</a:t>
            </a:r>
            <a:endParaRPr lang="en-US" sz="2200" dirty="0"/>
          </a:p>
        </p:txBody>
      </p:sp>
      <p:sp>
        <p:nvSpPr>
          <p:cNvPr id="4" name="Shape 2"/>
          <p:cNvSpPr/>
          <p:nvPr/>
        </p:nvSpPr>
        <p:spPr>
          <a:xfrm>
            <a:off x="815975" y="2422525"/>
            <a:ext cx="3803650" cy="2560320"/>
          </a:xfrm>
          <a:prstGeom prst="roundRect">
            <a:avLst>
              <a:gd name="adj" fmla="val 3844"/>
            </a:avLst>
          </a:prstGeom>
          <a:solidFill>
            <a:srgbClr val="FFFFFF"/>
          </a:solidFill>
          <a:ln w="6350">
            <a:solidFill>
              <a:srgbClr val="E3DDD0"/>
            </a:solidFill>
            <a:prstDash val="solid"/>
          </a:ln>
        </p:spPr>
      </p:sp>
      <p:pic>
        <p:nvPicPr>
          <p:cNvPr id="5" name="Image 0" descr="Biểu đồ thời gian thực thi mlTKO so với TK-MLHUI trên 3 bộ dữ liệu Fruithut, Chess, Accidents">    </p:cNvPr>
          <p:cNvPicPr>
            <a:picLocks noChangeAspect="1"/>
          </p:cNvPicPr>
          <p:nvPr/>
        </p:nvPicPr>
        <p:blipFill>
          <a:blip r:embed="rId1"/>
          <a:srcRect l="-1" r="-1" t="0" b="0"/>
          <a:stretch/>
        </p:blipFill>
        <p:spPr>
          <a:xfrm>
            <a:off x="919480" y="2526035"/>
            <a:ext cx="3596640" cy="2353310"/>
          </a:xfrm>
          <a:prstGeom prst="rect">
            <a:avLst/>
          </a:prstGeom>
        </p:spPr>
      </p:pic>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861560" y="2595243"/>
          <a:ext cx="6517640" cy="1689100"/>
        </p:xfrm>
        <a:graphic>
          <a:graphicData uri="http://schemas.openxmlformats.org/drawingml/2006/table">
            <a:tbl>
              <a:tblPr/>
              <a:tblGrid>
                <a:gridCol w="1629410"/>
                <a:gridCol w="1629410"/>
                <a:gridCol w="1629410"/>
                <a:gridCol w="1629410"/>
              </a:tblGrid>
              <a:tr h="337820">
                <a:tc>
                  <a:txBody>
                    <a:bodyPr/>
                    <a:lstStyle/>
                    <a:p>
                      <a:pPr indent="0" marL="0">
                        <a:lnSpc>
                          <a:spcPts val="1680"/>
                        </a:lnSpc>
                        <a:buNone/>
                      </a:pPr>
                      <a:r>
                        <a:rPr lang="en-US" sz="1200" b="1" dirty="0">
                          <a:solidFill>
                            <a:srgbClr val="FAF9F5"/>
                          </a:solidFill>
                          <a:latin typeface="IBM Plex Sans" pitchFamily="34" charset="0"/>
                          <a:ea typeface="IBM Plex Sans" pitchFamily="34" charset="-122"/>
                          <a:cs typeface="IBM Plex Sans" pitchFamily="34" charset="-120"/>
                        </a:rPr>
                        <a:t>Bộ dữ liệu (k)</a:t>
                      </a:r>
                      <a:endParaRPr lang="en-US" sz="1200" dirty="0">
                        <a:latin typeface="IBM Plex Sans" charset="0"/>
                        <a:ea typeface="IBM Plex Sans" charset="0"/>
                        <a:cs typeface="IBM Plex Sans" charset="0"/>
                      </a:endParaRPr>
                    </a:p>
                  </a:txBody>
                  <a:tcPr marL="76200" marR="76200" marT="57150" marB="57150" anchor="t">
                    <a:lnL w="12700" cap="flat" cmpd="sng" algn="ctr">
                      <a:solidFill>
                        <a:srgbClr val="C7C7C3"/>
                      </a:solidFill>
                      <a:prstDash val="solid"/>
                      <a:round/>
                      <a:headEnd type="none" w="med" len="med"/>
                      <a:tailEnd type="none" w="med" len="med"/>
                    </a:lnL>
                    <a:lnR w="12700" cap="flat" cmpd="sng" algn="ctr">
                      <a:solidFill>
                        <a:srgbClr val="1A232C"/>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1A232C"/>
                      </a:solidFill>
                      <a:prstDash val="solid"/>
                      <a:round/>
                      <a:headEnd type="none" w="med" len="med"/>
                      <a:tailEnd type="none" w="med" len="med"/>
                    </a:lnB>
                    <a:solidFill>
                      <a:srgbClr val="1C2733"/>
                    </a:solidFill>
                  </a:tcPr>
                </a:tc>
                <a:tc>
                  <a:txBody>
                    <a:bodyPr/>
                    <a:lstStyle/>
                    <a:p>
                      <a:pPr algn="r" indent="0" marL="0">
                        <a:lnSpc>
                          <a:spcPts val="1680"/>
                        </a:lnSpc>
                        <a:buNone/>
                      </a:pPr>
                      <a:r>
                        <a:rPr lang="en-US" sz="1200" b="1" dirty="0">
                          <a:solidFill>
                            <a:srgbClr val="FAF9F5"/>
                          </a:solidFill>
                          <a:latin typeface="IBM Plex Sans" pitchFamily="34" charset="0"/>
                          <a:ea typeface="IBM Plex Sans" pitchFamily="34" charset="-122"/>
                          <a:cs typeface="IBM Plex Sans" pitchFamily="34" charset="-120"/>
                        </a:rPr>
                        <a:t>Thời gian</a:t>
                      </a:r>
                      <a:endParaRPr lang="en-US" sz="1200" dirty="0">
                        <a:latin typeface="IBM Plex Sans" charset="0"/>
                        <a:ea typeface="IBM Plex Sans" charset="0"/>
                        <a:cs typeface="IBM Plex Sans" charset="0"/>
                      </a:endParaRPr>
                    </a:p>
                  </a:txBody>
                  <a:tcPr marL="76200" marR="76200" marT="57150" marB="57150" anchor="t">
                    <a:lnL w="12700" cap="flat" cmpd="sng" algn="ctr">
                      <a:solidFill>
                        <a:srgbClr val="1A232C"/>
                      </a:solidFill>
                      <a:prstDash val="solid"/>
                      <a:round/>
                      <a:headEnd type="none" w="med" len="med"/>
                      <a:tailEnd type="none" w="med" len="med"/>
                    </a:lnL>
                    <a:lnR w="12700" cap="flat" cmpd="sng" algn="ctr">
                      <a:solidFill>
                        <a:srgbClr val="1A232C"/>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1A232C"/>
                      </a:solidFill>
                      <a:prstDash val="solid"/>
                      <a:round/>
                      <a:headEnd type="none" w="med" len="med"/>
                      <a:tailEnd type="none" w="med" len="med"/>
                    </a:lnB>
                    <a:solidFill>
                      <a:srgbClr val="1C2733"/>
                    </a:solidFill>
                  </a:tcPr>
                </a:tc>
                <a:tc>
                  <a:txBody>
                    <a:bodyPr/>
                    <a:lstStyle/>
                    <a:p>
                      <a:pPr algn="r" indent="0" marL="0">
                        <a:lnSpc>
                          <a:spcPts val="1680"/>
                        </a:lnSpc>
                        <a:buNone/>
                      </a:pPr>
                      <a:r>
                        <a:rPr lang="en-US" sz="1200" b="1" dirty="0">
                          <a:solidFill>
                            <a:srgbClr val="FAF9F5"/>
                          </a:solidFill>
                          <a:latin typeface="IBM Plex Sans" pitchFamily="34" charset="0"/>
                          <a:ea typeface="IBM Plex Sans" pitchFamily="34" charset="-122"/>
                          <a:cs typeface="IBM Plex Sans" pitchFamily="34" charset="-120"/>
                        </a:rPr>
                        <a:t>Bộ nhớ</a:t>
                      </a:r>
                      <a:endParaRPr lang="en-US" sz="1200" dirty="0">
                        <a:latin typeface="IBM Plex Sans" charset="0"/>
                        <a:ea typeface="IBM Plex Sans" charset="0"/>
                        <a:cs typeface="IBM Plex Sans" charset="0"/>
                      </a:endParaRPr>
                    </a:p>
                  </a:txBody>
                  <a:tcPr marL="76200" marR="76200" marT="57150" marB="57150" anchor="t">
                    <a:lnL w="12700" cap="flat" cmpd="sng" algn="ctr">
                      <a:solidFill>
                        <a:srgbClr val="1A232C"/>
                      </a:solidFill>
                      <a:prstDash val="solid"/>
                      <a:round/>
                      <a:headEnd type="none" w="med" len="med"/>
                      <a:tailEnd type="none" w="med" len="med"/>
                    </a:lnL>
                    <a:lnR w="12700" cap="flat" cmpd="sng" algn="ctr">
                      <a:solidFill>
                        <a:srgbClr val="1A232C"/>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1A232C"/>
                      </a:solidFill>
                      <a:prstDash val="solid"/>
                      <a:round/>
                      <a:headEnd type="none" w="med" len="med"/>
                      <a:tailEnd type="none" w="med" len="med"/>
                    </a:lnB>
                    <a:solidFill>
                      <a:srgbClr val="1C2733"/>
                    </a:solidFill>
                  </a:tcPr>
                </a:tc>
                <a:tc>
                  <a:txBody>
                    <a:bodyPr/>
                    <a:lstStyle/>
                    <a:p>
                      <a:pPr algn="r" indent="0" marL="0">
                        <a:lnSpc>
                          <a:spcPts val="1680"/>
                        </a:lnSpc>
                        <a:buNone/>
                      </a:pPr>
                      <a:r>
                        <a:rPr lang="en-US" sz="1200" b="1" dirty="0">
                          <a:solidFill>
                            <a:srgbClr val="FAF9F5"/>
                          </a:solidFill>
                          <a:latin typeface="IBM Plex Sans" pitchFamily="34" charset="0"/>
                          <a:ea typeface="IBM Plex Sans" pitchFamily="34" charset="-122"/>
                          <a:cs typeface="IBM Plex Sans" pitchFamily="34" charset="-120"/>
                        </a:rPr>
                        <a:t>Candid.</a:t>
                      </a:r>
                      <a:endParaRPr lang="en-US" sz="1200" dirty="0">
                        <a:latin typeface="IBM Plex Sans" charset="0"/>
                        <a:ea typeface="IBM Plex Sans" charset="0"/>
                        <a:cs typeface="IBM Plex Sans" charset="0"/>
                      </a:endParaRPr>
                    </a:p>
                  </a:txBody>
                  <a:tcPr marL="76200" marR="76200" marT="57150" marB="57150" anchor="t">
                    <a:lnL w="12700" cap="flat" cmpd="sng" algn="ctr">
                      <a:solidFill>
                        <a:srgbClr val="1A232C"/>
                      </a:solidFill>
                      <a:prstDash val="solid"/>
                      <a:round/>
                      <a:headEnd type="none" w="med" len="med"/>
                      <a:tailEnd type="none" w="med" len="med"/>
                    </a:lnL>
                    <a:lnR w="12700" cap="flat" cmpd="sng" algn="ctr">
                      <a:solidFill>
                        <a:srgbClr val="1A232C"/>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1A232C"/>
                      </a:solidFill>
                      <a:prstDash val="solid"/>
                      <a:round/>
                      <a:headEnd type="none" w="med" len="med"/>
                      <a:tailEnd type="none" w="med" len="med"/>
                    </a:lnB>
                    <a:solidFill>
                      <a:srgbClr val="1C2733"/>
                    </a:solidFill>
                  </a:tcPr>
                </a:tc>
              </a:tr>
              <a:tr h="337820">
                <a:tc>
                  <a:txBody>
                    <a:bodyPr/>
                    <a:lstStyle/>
                    <a:p>
                      <a:pPr indent="0" marL="0">
                        <a:lnSpc>
                          <a:spcPts val="1680"/>
                        </a:lnSpc>
                        <a:buNone/>
                      </a:pPr>
                      <a:r>
                        <a:rPr lang="en-US" sz="1200" dirty="0">
                          <a:solidFill>
                            <a:srgbClr val="1C2733"/>
                          </a:solidFill>
                          <a:latin typeface="IBM Plex Sans" pitchFamily="34" charset="0"/>
                          <a:ea typeface="IBM Plex Sans" pitchFamily="34" charset="-122"/>
                          <a:cs typeface="IBM Plex Sans" pitchFamily="34" charset="-120"/>
                        </a:rPr>
                        <a:t>Fruithut (100k)</a:t>
                      </a:r>
                      <a:endParaRPr lang="en-US" sz="1200" dirty="0">
                        <a:latin typeface="IBM Plex Sans" charset="0"/>
                        <a:ea typeface="IBM Plex Sans" charset="0"/>
                        <a:cs typeface="IBM Plex Sans" charset="0"/>
                      </a:endParaRPr>
                    </a:p>
                  </a:txBody>
                  <a:tcPr marL="76200" marR="76200" marT="57150" marB="57150" anchor="t">
                    <a:lnL w="12700" cap="flat" cmpd="sng" algn="ctr">
                      <a:solidFill>
                        <a:srgbClr val="C7C7C3"/>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A232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r" indent="0" marL="0">
                        <a:lnSpc>
                          <a:spcPts val="1680"/>
                        </a:lnSpc>
                        <a:buNone/>
                      </a:pPr>
                      <a:r>
                        <a:rPr lang="en-US" sz="1200" dirty="0">
                          <a:solidFill>
                            <a:srgbClr val="1C2733"/>
                          </a:solidFill>
                          <a:latin typeface="IBM Plex Sans" pitchFamily="34" charset="0"/>
                          <a:ea typeface="IBM Plex Sans" pitchFamily="34" charset="-122"/>
                          <a:cs typeface="IBM Plex Sans" pitchFamily="34" charset="-120"/>
                        </a:rPr>
                        <a:t>2,1×</a:t>
                      </a:r>
                      <a:endParaRPr lang="en-US" sz="1200" dirty="0">
                        <a:latin typeface="IBM Plex Sans" charset="0"/>
                        <a:ea typeface="IBM Plex Sans" charset="0"/>
                        <a:cs typeface="IBM Plex Sans" charset="0"/>
                      </a:endParaRPr>
                    </a:p>
                  </a:txBody>
                  <a:tcPr marL="76200" marR="76200" marT="57150" marB="5715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A232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r" indent="0" marL="0">
                        <a:lnSpc>
                          <a:spcPts val="1680"/>
                        </a:lnSpc>
                        <a:buNone/>
                      </a:pPr>
                      <a:r>
                        <a:rPr lang="en-US" sz="1200" dirty="0">
                          <a:solidFill>
                            <a:srgbClr val="1C2733"/>
                          </a:solidFill>
                          <a:latin typeface="IBM Plex Sans" pitchFamily="34" charset="0"/>
                          <a:ea typeface="IBM Plex Sans" pitchFamily="34" charset="-122"/>
                          <a:cs typeface="IBM Plex Sans" pitchFamily="34" charset="-120"/>
                        </a:rPr>
                        <a:t>1,1×</a:t>
                      </a:r>
                      <a:endParaRPr lang="en-US" sz="1200" dirty="0">
                        <a:latin typeface="IBM Plex Sans" charset="0"/>
                        <a:ea typeface="IBM Plex Sans" charset="0"/>
                        <a:cs typeface="IBM Plex Sans" charset="0"/>
                      </a:endParaRPr>
                    </a:p>
                  </a:txBody>
                  <a:tcPr marL="76200" marR="76200" marT="57150" marB="5715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A232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r" indent="0" marL="0">
                        <a:lnSpc>
                          <a:spcPts val="1680"/>
                        </a:lnSpc>
                        <a:buNone/>
                      </a:pPr>
                      <a:r>
                        <a:rPr lang="en-US" sz="1200" dirty="0">
                          <a:solidFill>
                            <a:srgbClr val="1C2733"/>
                          </a:solidFill>
                          <a:latin typeface="IBM Plex Sans" pitchFamily="34" charset="0"/>
                          <a:ea typeface="IBM Plex Sans" pitchFamily="34" charset="-122"/>
                          <a:cs typeface="IBM Plex Sans" pitchFamily="34" charset="-120"/>
                        </a:rPr>
                        <a:t>1,7×</a:t>
                      </a:r>
                      <a:endParaRPr lang="en-US" sz="1200" dirty="0">
                        <a:latin typeface="IBM Plex Sans" charset="0"/>
                        <a:ea typeface="IBM Plex Sans" charset="0"/>
                        <a:cs typeface="IBM Plex Sans" charset="0"/>
                      </a:endParaRPr>
                    </a:p>
                  </a:txBody>
                  <a:tcPr marL="76200" marR="76200" marT="57150" marB="5715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A232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37820">
                <a:tc>
                  <a:txBody>
                    <a:bodyPr/>
                    <a:lstStyle/>
                    <a:p>
                      <a:pPr indent="0" marL="0">
                        <a:lnSpc>
                          <a:spcPts val="1680"/>
                        </a:lnSpc>
                        <a:buNone/>
                      </a:pPr>
                      <a:r>
                        <a:rPr lang="en-US" sz="1200" dirty="0">
                          <a:solidFill>
                            <a:srgbClr val="1C2733"/>
                          </a:solidFill>
                          <a:latin typeface="IBM Plex Sans" pitchFamily="34" charset="0"/>
                          <a:ea typeface="IBM Plex Sans" pitchFamily="34" charset="-122"/>
                          <a:cs typeface="IBM Plex Sans" pitchFamily="34" charset="-120"/>
                        </a:rPr>
                        <a:t>Chess (400)</a:t>
                      </a:r>
                      <a:endParaRPr lang="en-US" sz="1200" dirty="0">
                        <a:latin typeface="IBM Plex Sans" charset="0"/>
                        <a:ea typeface="IBM Plex Sans" charset="0"/>
                        <a:cs typeface="IBM Plex Sans" charset="0"/>
                      </a:endParaRPr>
                    </a:p>
                  </a:txBody>
                  <a:tcPr marL="76200" marR="76200" marT="57150" marB="57150" anchor="t">
                    <a:lnL w="12700" cap="flat" cmpd="sng" algn="ctr">
                      <a:solidFill>
                        <a:srgbClr val="C7C7C3"/>
                      </a:solidFill>
                      <a:prstDash val="solid"/>
                      <a:round/>
                      <a:headEnd type="none" w="med" len="med"/>
                      <a:tailEnd type="none" w="med" len="med"/>
                    </a:lnL>
                    <a:lnR w="12700" cap="flat" cmpd="sng" algn="ctr">
                      <a:solidFill>
                        <a:srgbClr val="C0BDB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c>
                  <a:txBody>
                    <a:bodyPr/>
                    <a:lstStyle/>
                    <a:p>
                      <a:pPr algn="r" indent="0" marL="0">
                        <a:lnSpc>
                          <a:spcPts val="1680"/>
                        </a:lnSpc>
                        <a:buNone/>
                      </a:pPr>
                      <a:r>
                        <a:rPr lang="en-US" sz="1200" dirty="0">
                          <a:solidFill>
                            <a:srgbClr val="1C2733"/>
                          </a:solidFill>
                          <a:latin typeface="IBM Plex Sans" pitchFamily="34" charset="0"/>
                          <a:ea typeface="IBM Plex Sans" pitchFamily="34" charset="-122"/>
                          <a:cs typeface="IBM Plex Sans" pitchFamily="34" charset="-120"/>
                        </a:rPr>
                        <a:t>32,8×</a:t>
                      </a:r>
                      <a:endParaRPr lang="en-US" sz="1200" dirty="0">
                        <a:latin typeface="IBM Plex Sans" charset="0"/>
                        <a:ea typeface="IBM Plex Sans" charset="0"/>
                        <a:cs typeface="IBM Plex Sans" charset="0"/>
                      </a:endParaRPr>
                    </a:p>
                  </a:txBody>
                  <a:tcPr marL="76200" marR="76200" marT="57150" marB="57150" anchor="t">
                    <a:lnL w="12700" cap="flat" cmpd="sng" algn="ctr">
                      <a:solidFill>
                        <a:srgbClr val="C0BDB7"/>
                      </a:solidFill>
                      <a:prstDash val="solid"/>
                      <a:round/>
                      <a:headEnd type="none" w="med" len="med"/>
                      <a:tailEnd type="none" w="med" len="med"/>
                    </a:lnL>
                    <a:lnR w="12700" cap="flat" cmpd="sng" algn="ctr">
                      <a:solidFill>
                        <a:srgbClr val="C0BDB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c>
                  <a:txBody>
                    <a:bodyPr/>
                    <a:lstStyle/>
                    <a:p>
                      <a:pPr algn="r" indent="0" marL="0">
                        <a:lnSpc>
                          <a:spcPts val="1680"/>
                        </a:lnSpc>
                        <a:buNone/>
                      </a:pPr>
                      <a:r>
                        <a:rPr lang="en-US" sz="1200" dirty="0">
                          <a:solidFill>
                            <a:srgbClr val="1C2733"/>
                          </a:solidFill>
                          <a:latin typeface="IBM Plex Sans" pitchFamily="34" charset="0"/>
                          <a:ea typeface="IBM Plex Sans" pitchFamily="34" charset="-122"/>
                          <a:cs typeface="IBM Plex Sans" pitchFamily="34" charset="-120"/>
                        </a:rPr>
                        <a:t>3,1×</a:t>
                      </a:r>
                      <a:endParaRPr lang="en-US" sz="1200" dirty="0">
                        <a:latin typeface="IBM Plex Sans" charset="0"/>
                        <a:ea typeface="IBM Plex Sans" charset="0"/>
                        <a:cs typeface="IBM Plex Sans" charset="0"/>
                      </a:endParaRPr>
                    </a:p>
                  </a:txBody>
                  <a:tcPr marL="76200" marR="76200" marT="57150" marB="57150" anchor="t">
                    <a:lnL w="12700" cap="flat" cmpd="sng" algn="ctr">
                      <a:solidFill>
                        <a:srgbClr val="C0BDB7"/>
                      </a:solidFill>
                      <a:prstDash val="solid"/>
                      <a:round/>
                      <a:headEnd type="none" w="med" len="med"/>
                      <a:tailEnd type="none" w="med" len="med"/>
                    </a:lnL>
                    <a:lnR w="12700" cap="flat" cmpd="sng" algn="ctr">
                      <a:solidFill>
                        <a:srgbClr val="C0BDB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c>
                  <a:txBody>
                    <a:bodyPr/>
                    <a:lstStyle/>
                    <a:p>
                      <a:pPr algn="r" indent="0" marL="0">
                        <a:lnSpc>
                          <a:spcPts val="1680"/>
                        </a:lnSpc>
                        <a:buNone/>
                      </a:pPr>
                      <a:r>
                        <a:rPr lang="en-US" sz="1200" dirty="0">
                          <a:solidFill>
                            <a:srgbClr val="1C2733"/>
                          </a:solidFill>
                          <a:latin typeface="IBM Plex Sans" pitchFamily="34" charset="0"/>
                          <a:ea typeface="IBM Plex Sans" pitchFamily="34" charset="-122"/>
                          <a:cs typeface="IBM Plex Sans" pitchFamily="34" charset="-120"/>
                        </a:rPr>
                        <a:t>3,1×</a:t>
                      </a:r>
                      <a:endParaRPr lang="en-US" sz="1200" dirty="0">
                        <a:latin typeface="IBM Plex Sans" charset="0"/>
                        <a:ea typeface="IBM Plex Sans" charset="0"/>
                        <a:cs typeface="IBM Plex Sans" charset="0"/>
                      </a:endParaRPr>
                    </a:p>
                  </a:txBody>
                  <a:tcPr marL="76200" marR="76200" marT="57150" marB="57150" anchor="t">
                    <a:lnL w="12700" cap="flat" cmpd="sng" algn="ctr">
                      <a:solidFill>
                        <a:srgbClr val="C0BDB7"/>
                      </a:solidFill>
                      <a:prstDash val="solid"/>
                      <a:round/>
                      <a:headEnd type="none" w="med" len="med"/>
                      <a:tailEnd type="none" w="med" len="med"/>
                    </a:lnL>
                    <a:lnR w="12700" cap="flat" cmpd="sng" algn="ctr">
                      <a:solidFill>
                        <a:srgbClr val="C0BDB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r>
              <a:tr h="337820">
                <a:tc>
                  <a:txBody>
                    <a:bodyPr/>
                    <a:lstStyle/>
                    <a:p>
                      <a:pPr indent="0" marL="0">
                        <a:lnSpc>
                          <a:spcPts val="1680"/>
                        </a:lnSpc>
                        <a:buNone/>
                      </a:pPr>
                      <a:r>
                        <a:rPr lang="en-US" sz="1200" dirty="0">
                          <a:solidFill>
                            <a:srgbClr val="1C2733"/>
                          </a:solidFill>
                          <a:latin typeface="IBM Plex Sans" pitchFamily="34" charset="0"/>
                          <a:ea typeface="IBM Plex Sans" pitchFamily="34" charset="-122"/>
                          <a:cs typeface="IBM Plex Sans" pitchFamily="34" charset="-120"/>
                        </a:rPr>
                        <a:t>Accidents (2.000)</a:t>
                      </a:r>
                      <a:endParaRPr lang="en-US" sz="1200" dirty="0">
                        <a:latin typeface="IBM Plex Sans" charset="0"/>
                        <a:ea typeface="IBM Plex Sans" charset="0"/>
                        <a:cs typeface="IBM Plex Sans" charset="0"/>
                      </a:endParaRPr>
                    </a:p>
                  </a:txBody>
                  <a:tcPr marL="76200" marR="76200" marT="57150" marB="57150" anchor="t">
                    <a:lnL w="12700" cap="flat" cmpd="sng" algn="ctr">
                      <a:solidFill>
                        <a:srgbClr val="C7C7C3"/>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BDB7"/>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r" indent="0" marL="0">
                        <a:lnSpc>
                          <a:spcPts val="1680"/>
                        </a:lnSpc>
                        <a:buNone/>
                      </a:pPr>
                      <a:r>
                        <a:rPr lang="en-US" sz="1200" dirty="0">
                          <a:solidFill>
                            <a:srgbClr val="1C2733"/>
                          </a:solidFill>
                          <a:latin typeface="IBM Plex Sans" pitchFamily="34" charset="0"/>
                          <a:ea typeface="IBM Plex Sans" pitchFamily="34" charset="-122"/>
                          <a:cs typeface="IBM Plex Sans" pitchFamily="34" charset="-120"/>
                        </a:rPr>
                        <a:t>50,7×</a:t>
                      </a:r>
                      <a:endParaRPr lang="en-US" sz="1200" dirty="0">
                        <a:latin typeface="IBM Plex Sans" charset="0"/>
                        <a:ea typeface="IBM Plex Sans" charset="0"/>
                        <a:cs typeface="IBM Plex Sans" charset="0"/>
                      </a:endParaRPr>
                    </a:p>
                  </a:txBody>
                  <a:tcPr marL="76200" marR="76200" marT="57150" marB="5715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BDB7"/>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r" indent="0" marL="0">
                        <a:lnSpc>
                          <a:spcPts val="1680"/>
                        </a:lnSpc>
                        <a:buNone/>
                      </a:pPr>
                      <a:r>
                        <a:rPr lang="en-US" sz="1200" dirty="0">
                          <a:solidFill>
                            <a:srgbClr val="1C2733"/>
                          </a:solidFill>
                          <a:latin typeface="IBM Plex Sans" pitchFamily="34" charset="0"/>
                          <a:ea typeface="IBM Plex Sans" pitchFamily="34" charset="-122"/>
                          <a:cs typeface="IBM Plex Sans" pitchFamily="34" charset="-120"/>
                        </a:rPr>
                        <a:t>2,6×</a:t>
                      </a:r>
                      <a:endParaRPr lang="en-US" sz="1200" dirty="0">
                        <a:latin typeface="IBM Plex Sans" charset="0"/>
                        <a:ea typeface="IBM Plex Sans" charset="0"/>
                        <a:cs typeface="IBM Plex Sans" charset="0"/>
                      </a:endParaRPr>
                    </a:p>
                  </a:txBody>
                  <a:tcPr marL="76200" marR="76200" marT="57150" marB="5715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BDB7"/>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r" indent="0" marL="0">
                        <a:lnSpc>
                          <a:spcPts val="1680"/>
                        </a:lnSpc>
                        <a:buNone/>
                      </a:pPr>
                      <a:r>
                        <a:rPr lang="en-US" sz="1200" dirty="0">
                          <a:solidFill>
                            <a:srgbClr val="1C2733"/>
                          </a:solidFill>
                          <a:latin typeface="IBM Plex Sans" pitchFamily="34" charset="0"/>
                          <a:ea typeface="IBM Plex Sans" pitchFamily="34" charset="-122"/>
                          <a:cs typeface="IBM Plex Sans" pitchFamily="34" charset="-120"/>
                        </a:rPr>
                        <a:t>1,9×</a:t>
                      </a:r>
                      <a:endParaRPr lang="en-US" sz="1200" dirty="0">
                        <a:latin typeface="IBM Plex Sans" charset="0"/>
                        <a:ea typeface="IBM Plex Sans" charset="0"/>
                        <a:cs typeface="IBM Plex Sans" charset="0"/>
                      </a:endParaRPr>
                    </a:p>
                  </a:txBody>
                  <a:tcPr marL="76200" marR="76200" marT="57150" marB="5715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BDB7"/>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37820">
                <a:tc>
                  <a:txBody>
                    <a:bodyPr/>
                    <a:lstStyle/>
                    <a:p>
                      <a:pPr indent="0" marL="0">
                        <a:lnSpc>
                          <a:spcPts val="1680"/>
                        </a:lnSpc>
                        <a:buNone/>
                      </a:pPr>
                      <a:r>
                        <a:rPr lang="en-US" sz="1200" dirty="0">
                          <a:solidFill>
                            <a:srgbClr val="1C2733"/>
                          </a:solidFill>
                          <a:latin typeface="IBM Plex Sans" pitchFamily="34" charset="0"/>
                          <a:ea typeface="IBM Plex Sans" pitchFamily="34" charset="-122"/>
                          <a:cs typeface="IBM Plex Sans" pitchFamily="34" charset="-120"/>
                        </a:rPr>
                        <a:t>Chess (100)</a:t>
                      </a:r>
                      <a:endParaRPr lang="en-US" sz="1200" dirty="0">
                        <a:latin typeface="IBM Plex Sans" charset="0"/>
                        <a:ea typeface="IBM Plex Sans" charset="0"/>
                        <a:cs typeface="IBM Plex Sans" charset="0"/>
                      </a:endParaRPr>
                    </a:p>
                  </a:txBody>
                  <a:tcPr marL="76200" marR="76200" marT="57150" marB="57150" anchor="t">
                    <a:lnL w="12700" cap="flat" cmpd="sng" algn="ctr">
                      <a:solidFill>
                        <a:srgbClr val="C7C7C3"/>
                      </a:solidFill>
                      <a:prstDash val="solid"/>
                      <a:round/>
                      <a:headEnd type="none" w="med" len="med"/>
                      <a:tailEnd type="none" w="med" len="med"/>
                    </a:lnL>
                    <a:lnR w="12700" cap="flat" cmpd="sng" algn="ctr">
                      <a:solidFill>
                        <a:srgbClr val="C0BDB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c>
                  <a:txBody>
                    <a:bodyPr/>
                    <a:lstStyle/>
                    <a:p>
                      <a:pPr algn="r" indent="0" marL="0">
                        <a:lnSpc>
                          <a:spcPts val="1680"/>
                        </a:lnSpc>
                        <a:buNone/>
                      </a:pPr>
                      <a:r>
                        <a:rPr lang="en-US" sz="1200" dirty="0">
                          <a:solidFill>
                            <a:srgbClr val="1C2733"/>
                          </a:solidFill>
                          <a:latin typeface="IBM Plex Sans" pitchFamily="34" charset="0"/>
                          <a:ea typeface="IBM Plex Sans" pitchFamily="34" charset="-122"/>
                          <a:cs typeface="IBM Plex Sans" pitchFamily="34" charset="-120"/>
                        </a:rPr>
                        <a:t>18,0×</a:t>
                      </a:r>
                      <a:endParaRPr lang="en-US" sz="1200" dirty="0">
                        <a:latin typeface="IBM Plex Sans" charset="0"/>
                        <a:ea typeface="IBM Plex Sans" charset="0"/>
                        <a:cs typeface="IBM Plex Sans" charset="0"/>
                      </a:endParaRPr>
                    </a:p>
                  </a:txBody>
                  <a:tcPr marL="76200" marR="76200" marT="57150" marB="57150" anchor="t">
                    <a:lnL w="12700" cap="flat" cmpd="sng" algn="ctr">
                      <a:solidFill>
                        <a:srgbClr val="C0BDB7"/>
                      </a:solidFill>
                      <a:prstDash val="solid"/>
                      <a:round/>
                      <a:headEnd type="none" w="med" len="med"/>
                      <a:tailEnd type="none" w="med" len="med"/>
                    </a:lnL>
                    <a:lnR w="12700" cap="flat" cmpd="sng" algn="ctr">
                      <a:solidFill>
                        <a:srgbClr val="C0BDB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c>
                  <a:txBody>
                    <a:bodyPr/>
                    <a:lstStyle/>
                    <a:p>
                      <a:pPr algn="r" indent="0" marL="0">
                        <a:lnSpc>
                          <a:spcPts val="1680"/>
                        </a:lnSpc>
                        <a:buNone/>
                      </a:pPr>
                      <a:r>
                        <a:rPr lang="en-US" sz="1200" dirty="0">
                          <a:solidFill>
                            <a:srgbClr val="1C2733"/>
                          </a:solidFill>
                          <a:latin typeface="IBM Plex Sans" pitchFamily="34" charset="0"/>
                          <a:ea typeface="IBM Plex Sans" pitchFamily="34" charset="-122"/>
                          <a:cs typeface="IBM Plex Sans" pitchFamily="34" charset="-120"/>
                        </a:rPr>
                        <a:t>8,7×</a:t>
                      </a:r>
                      <a:endParaRPr lang="en-US" sz="1200" dirty="0">
                        <a:latin typeface="IBM Plex Sans" charset="0"/>
                        <a:ea typeface="IBM Plex Sans" charset="0"/>
                        <a:cs typeface="IBM Plex Sans" charset="0"/>
                      </a:endParaRPr>
                    </a:p>
                  </a:txBody>
                  <a:tcPr marL="76200" marR="76200" marT="57150" marB="57150" anchor="t">
                    <a:lnL w="12700" cap="flat" cmpd="sng" algn="ctr">
                      <a:solidFill>
                        <a:srgbClr val="C0BDB7"/>
                      </a:solidFill>
                      <a:prstDash val="solid"/>
                      <a:round/>
                      <a:headEnd type="none" w="med" len="med"/>
                      <a:tailEnd type="none" w="med" len="med"/>
                    </a:lnL>
                    <a:lnR w="12700" cap="flat" cmpd="sng" algn="ctr">
                      <a:solidFill>
                        <a:srgbClr val="C0BDB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c>
                  <a:txBody>
                    <a:bodyPr/>
                    <a:lstStyle/>
                    <a:p>
                      <a:pPr algn="r" indent="0" marL="0">
                        <a:lnSpc>
                          <a:spcPts val="1680"/>
                        </a:lnSpc>
                        <a:buNone/>
                      </a:pPr>
                      <a:r>
                        <a:rPr lang="en-US" sz="1200" dirty="0">
                          <a:solidFill>
                            <a:srgbClr val="1C2733"/>
                          </a:solidFill>
                          <a:latin typeface="IBM Plex Sans" pitchFamily="34" charset="0"/>
                          <a:ea typeface="IBM Plex Sans" pitchFamily="34" charset="-122"/>
                          <a:cs typeface="IBM Plex Sans" pitchFamily="34" charset="-120"/>
                        </a:rPr>
                        <a:t>3,6×</a:t>
                      </a:r>
                      <a:endParaRPr lang="en-US" sz="1200" dirty="0">
                        <a:latin typeface="IBM Plex Sans" charset="0"/>
                        <a:ea typeface="IBM Plex Sans" charset="0"/>
                        <a:cs typeface="IBM Plex Sans" charset="0"/>
                      </a:endParaRPr>
                    </a:p>
                  </a:txBody>
                  <a:tcPr marL="76200" marR="76200" marT="57150" marB="57150" anchor="t">
                    <a:lnL w="12700" cap="flat" cmpd="sng" algn="ctr">
                      <a:solidFill>
                        <a:srgbClr val="C0BDB7"/>
                      </a:solidFill>
                      <a:prstDash val="solid"/>
                      <a:round/>
                      <a:headEnd type="none" w="med" len="med"/>
                      <a:tailEnd type="none" w="med" len="med"/>
                    </a:lnL>
                    <a:lnR w="12700" cap="flat" cmpd="sng" algn="ctr">
                      <a:solidFill>
                        <a:srgbClr val="C0BDB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r>
            </a:tbl>
          </a:graphicData>
        </a:graphic>
      </p:graphicFrame>
      <p:sp>
        <p:nvSpPr>
          <p:cNvPr id="7" name="Text 3"/>
          <p:cNvSpPr/>
          <p:nvPr/>
        </p:nvSpPr>
        <p:spPr>
          <a:xfrm>
            <a:off x="4851400" y="4411352"/>
            <a:ext cx="6723634" cy="434340"/>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4A5568"/>
                </a:solidFill>
                <a:latin typeface="IBM Plex Sans" pitchFamily="34" charset="0"/>
                <a:ea typeface="IBM Plex Sans" pitchFamily="34" charset="-122"/>
                <a:cs typeface="IBM Plex Sans" pitchFamily="34" charset="-120"/>
              </a:rPr>
              <a:t>TK-MLHUI nhanh hơn </a:t>
            </a:r>
            <a:r>
              <a:rPr lang="en-US" sz="1150" b="1" dirty="0">
                <a:solidFill>
                  <a:srgbClr val="4A5568"/>
                </a:solidFill>
                <a:latin typeface="IBM Plex Sans" pitchFamily="34" charset="0"/>
                <a:ea typeface="IBM Plex Sans" pitchFamily="34" charset="-122"/>
                <a:cs typeface="IBM Plex Sans" pitchFamily="34" charset="-120"/>
              </a:rPr>
              <a:t>2–51×</a:t>
            </a:r>
            <a:r>
              <a:rPr lang="en-US" sz="1150" dirty="0">
                <a:solidFill>
                  <a:srgbClr val="4A5568"/>
                </a:solidFill>
                <a:latin typeface="IBM Plex Sans" pitchFamily="34" charset="0"/>
                <a:ea typeface="IBM Plex Sans" pitchFamily="34" charset="-122"/>
                <a:cs typeface="IBM Plex Sans" pitchFamily="34" charset="-120"/>
              </a:rPr>
              <a:t>, tốn </a:t>
            </a:r>
            <a:r>
              <a:rPr lang="en-US" sz="1150" b="1" dirty="0">
                <a:solidFill>
                  <a:srgbClr val="4A5568"/>
                </a:solidFill>
                <a:latin typeface="IBM Plex Sans" pitchFamily="34" charset="0"/>
                <a:ea typeface="IBM Plex Sans" pitchFamily="34" charset="-122"/>
                <a:cs typeface="IBM Plex Sans" pitchFamily="34" charset="-120"/>
              </a:rPr>
              <a:t>ít hơn tới 8,7×</a:t>
            </a:r>
            <a:r>
              <a:rPr lang="en-US" sz="1150" dirty="0">
                <a:solidFill>
                  <a:srgbClr val="4A5568"/>
                </a:solidFill>
                <a:latin typeface="IBM Plex Sans" pitchFamily="34" charset="0"/>
                <a:ea typeface="IBM Plex Sans" pitchFamily="34" charset="-122"/>
                <a:cs typeface="IBM Plex Sans" pitchFamily="34" charset="-120"/>
              </a:rPr>
              <a:t> bộ nhớ (Chess, k=100), nhờ sinh ít hơn </a:t>
            </a:r>
            <a:r>
              <a:rPr lang="en-US" sz="1150" b="1" dirty="0">
                <a:solidFill>
                  <a:srgbClr val="4A5568"/>
                </a:solidFill>
                <a:latin typeface="IBM Plex Sans" pitchFamily="34" charset="0"/>
                <a:ea typeface="IBM Plex Sans" pitchFamily="34" charset="-122"/>
                <a:cs typeface="IBM Plex Sans" pitchFamily="34" charset="-120"/>
              </a:rPr>
              <a:t>1,7–10×</a:t>
            </a:r>
            <a:r>
              <a:rPr lang="en-US" sz="1150" dirty="0">
                <a:solidFill>
                  <a:srgbClr val="4A5568"/>
                </a:solidFill>
                <a:latin typeface="IBM Plex Sans" pitchFamily="34" charset="0"/>
                <a:ea typeface="IBM Plex Sans" pitchFamily="34" charset="-122"/>
                <a:cs typeface="IBM Plex Sans" pitchFamily="34" charset="-120"/>
              </a:rPr>
              <a:t> candidates.</a:t>
            </a:r>
            <a:endParaRPr lang="en-US" sz="1150" dirty="0"/>
          </a:p>
        </p:txBody>
      </p:sp>
      <p:sp>
        <p:nvSpPr>
          <p:cNvPr id="8" name="Text 4"/>
          <p:cNvSpPr/>
          <p:nvPr/>
        </p:nvSpPr>
        <p:spPr>
          <a:xfrm>
            <a:off x="812800" y="6238242"/>
            <a:ext cx="54689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199"/>
                </a:solidFill>
                <a:latin typeface="IBM Plex Sans" pitchFamily="34" charset="0"/>
                <a:ea typeface="IBM Plex Sans" pitchFamily="34" charset="-122"/>
                <a:cs typeface="IBM Plex Sans" pitchFamily="34" charset="-120"/>
              </a:rPr>
              <a:t>28 / 34</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863B"/>
                </a:solidFill>
                <a:latin typeface="IBM Plex Sans" pitchFamily="34" charset="0"/>
                <a:ea typeface="IBM Plex Sans" pitchFamily="34" charset="-122"/>
                <a:cs typeface="IBM Plex Sans" pitchFamily="34" charset="-120"/>
              </a:rPr>
              <a:t>KẾT QUẢ THỰC NGHIỆM</a:t>
            </a:r>
            <a:endParaRPr lang="en-US" sz="1200" dirty="0"/>
          </a:p>
        </p:txBody>
      </p:sp>
      <p:sp>
        <p:nvSpPr>
          <p:cNvPr id="3" name="Text 1"/>
          <p:cNvSpPr/>
          <p:nvPr/>
        </p:nvSpPr>
        <p:spPr>
          <a:xfrm>
            <a:off x="812800" y="1089658"/>
            <a:ext cx="10883392" cy="34671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C2733"/>
                </a:solidFill>
                <a:latin typeface="EB Garamond" pitchFamily="34" charset="0"/>
                <a:ea typeface="EB Garamond" pitchFamily="34" charset="-122"/>
                <a:cs typeface="EB Garamond" pitchFamily="34" charset="-120"/>
              </a:rPr>
              <a:t>Kết quả: Ablation study U-TK-MLHUI</a:t>
            </a:r>
            <a:endParaRPr lang="en-US" sz="2200" dirty="0"/>
          </a:p>
        </p:txBody>
      </p:sp>
      <p:sp>
        <p:nvSpPr>
          <p:cNvPr id="4" name="Shape 2"/>
          <p:cNvSpPr/>
          <p:nvPr/>
        </p:nvSpPr>
        <p:spPr>
          <a:xfrm>
            <a:off x="815975" y="2421818"/>
            <a:ext cx="3803650" cy="2561749"/>
          </a:xfrm>
          <a:prstGeom prst="roundRect">
            <a:avLst>
              <a:gd name="adj" fmla="val 3842"/>
            </a:avLst>
          </a:prstGeom>
          <a:solidFill>
            <a:srgbClr val="FFFFFF"/>
          </a:solidFill>
          <a:ln w="6350">
            <a:solidFill>
              <a:srgbClr val="E3DDD0"/>
            </a:solidFill>
            <a:prstDash val="solid"/>
          </a:ln>
        </p:spPr>
      </p:sp>
      <p:pic>
        <p:nvPicPr>
          <p:cNvPr id="5" name="Image 0" descr="Biểu đồ Candidates của U-TK-MLHUI khi tắt Elu, Esu, merge trên cả 3 bộ dữ liệu IWSLT15, MTet 150k, MTet 250k">    </p:cNvPr>
          <p:cNvPicPr>
            <a:picLocks noChangeAspect="1"/>
          </p:cNvPicPr>
          <p:nvPr/>
        </p:nvPicPr>
        <p:blipFill>
          <a:blip r:embed="rId1"/>
          <a:srcRect l="-2" r="-2" t="0" b="0"/>
          <a:stretch/>
        </p:blipFill>
        <p:spPr>
          <a:xfrm>
            <a:off x="919480" y="2525316"/>
            <a:ext cx="3596640" cy="2354739"/>
          </a:xfrm>
          <a:prstGeom prst="rect">
            <a:avLst/>
          </a:prstGeom>
        </p:spPr>
      </p:pic>
      <p:sp>
        <p:nvSpPr>
          <p:cNvPr id="6" name="Text 3"/>
          <p:cNvSpPr/>
          <p:nvPr/>
        </p:nvSpPr>
        <p:spPr>
          <a:xfrm>
            <a:off x="4851400" y="2272667"/>
            <a:ext cx="6723634" cy="220980"/>
          </a:xfrm>
          <a:prstGeom prst="rect">
            <a:avLst/>
          </a:prstGeom>
          <a:noFill/>
          <a:ln/>
        </p:spPr>
        <p:txBody>
          <a:bodyPr wrap="square" lIns="0" tIns="0" rIns="0" bIns="0" rtlCol="0" anchor="t">
            <a:normAutofit/>
          </a:bodyPr>
          <a:lstStyle/>
          <a:p>
            <a:pPr algn="l" indent="0" marL="0">
              <a:lnSpc>
                <a:spcPts val="1540"/>
              </a:lnSpc>
              <a:buNone/>
            </a:pPr>
            <a:r>
              <a:rPr lang="en-US" sz="1100" b="1" dirty="0">
                <a:solidFill>
                  <a:srgbClr val="8A9199"/>
                </a:solidFill>
                <a:latin typeface="IBM Plex Sans" pitchFamily="34" charset="0"/>
                <a:ea typeface="IBM Plex Sans" pitchFamily="34" charset="-122"/>
                <a:cs typeface="IBM Plex Sans" pitchFamily="34" charset="-120"/>
              </a:rPr>
              <a:t>TRUNG BÌNH CẢ 3 CORPUS, k=100/500/1000</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861560" y="2592712"/>
          <a:ext cx="6517640" cy="1733550"/>
        </p:xfrm>
        <a:graphic>
          <a:graphicData uri="http://schemas.openxmlformats.org/drawingml/2006/table">
            <a:tbl>
              <a:tblPr/>
              <a:tblGrid>
                <a:gridCol w="1629410"/>
                <a:gridCol w="1629410"/>
                <a:gridCol w="1629410"/>
                <a:gridCol w="1629410"/>
              </a:tblGrid>
              <a:tr h="346710">
                <a:tc>
                  <a:txBody>
                    <a:bodyPr/>
                    <a:lstStyle/>
                    <a:p>
                      <a:pPr indent="0" marL="0">
                        <a:lnSpc>
                          <a:spcPts val="1750"/>
                        </a:lnSpc>
                        <a:buNone/>
                      </a:pPr>
                      <a:r>
                        <a:rPr lang="en-US" sz="1250" b="1" dirty="0">
                          <a:solidFill>
                            <a:srgbClr val="FAF9F5"/>
                          </a:solidFill>
                          <a:latin typeface="IBM Plex Sans" pitchFamily="34" charset="0"/>
                          <a:ea typeface="IBM Plex Sans" pitchFamily="34" charset="-122"/>
                          <a:cs typeface="IBM Plex Sans" pitchFamily="34" charset="-120"/>
                        </a:rPr>
                        <a:t>Biến thể</a:t>
                      </a:r>
                      <a:endParaRPr lang="en-US" sz="1250" dirty="0">
                        <a:latin typeface="IBM Plex Sans" charset="0"/>
                        <a:ea typeface="IBM Plex Sans" charset="0"/>
                        <a:cs typeface="IBM Plex Sans" charset="0"/>
                      </a:endParaRPr>
                    </a:p>
                  </a:txBody>
                  <a:tcPr marL="76200" marR="76200" marT="57150" marB="57150" anchor="t">
                    <a:lnL w="12700" cap="flat" cmpd="sng" algn="ctr">
                      <a:solidFill>
                        <a:srgbClr val="C7C7C3"/>
                      </a:solidFill>
                      <a:prstDash val="solid"/>
                      <a:round/>
                      <a:headEnd type="none" w="med" len="med"/>
                      <a:tailEnd type="none" w="med" len="med"/>
                    </a:lnL>
                    <a:lnR w="12700" cap="flat" cmpd="sng" algn="ctr">
                      <a:solidFill>
                        <a:srgbClr val="1A232C"/>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1A232C"/>
                      </a:solidFill>
                      <a:prstDash val="solid"/>
                      <a:round/>
                      <a:headEnd type="none" w="med" len="med"/>
                      <a:tailEnd type="none" w="med" len="med"/>
                    </a:lnB>
                    <a:solidFill>
                      <a:srgbClr val="1C2733"/>
                    </a:solidFill>
                  </a:tcPr>
                </a:tc>
                <a:tc>
                  <a:txBody>
                    <a:bodyPr/>
                    <a:lstStyle/>
                    <a:p>
                      <a:pPr algn="r" indent="0" marL="0">
                        <a:lnSpc>
                          <a:spcPts val="1750"/>
                        </a:lnSpc>
                        <a:buNone/>
                      </a:pPr>
                      <a:r>
                        <a:rPr lang="en-US" sz="1250" b="1" dirty="0">
                          <a:solidFill>
                            <a:srgbClr val="FAF9F5"/>
                          </a:solidFill>
                          <a:latin typeface="IBM Plex Sans" pitchFamily="34" charset="0"/>
                          <a:ea typeface="IBM Plex Sans" pitchFamily="34" charset="-122"/>
                          <a:cs typeface="IBM Plex Sans" pitchFamily="34" charset="-120"/>
                        </a:rPr>
                        <a:t>Candid.</a:t>
                      </a:r>
                      <a:endParaRPr lang="en-US" sz="1250" dirty="0">
                        <a:latin typeface="IBM Plex Sans" charset="0"/>
                        <a:ea typeface="IBM Plex Sans" charset="0"/>
                        <a:cs typeface="IBM Plex Sans" charset="0"/>
                      </a:endParaRPr>
                    </a:p>
                  </a:txBody>
                  <a:tcPr marL="76200" marR="76200" marT="57150" marB="57150" anchor="t">
                    <a:lnL w="12700" cap="flat" cmpd="sng" algn="ctr">
                      <a:solidFill>
                        <a:srgbClr val="1A232C"/>
                      </a:solidFill>
                      <a:prstDash val="solid"/>
                      <a:round/>
                      <a:headEnd type="none" w="med" len="med"/>
                      <a:tailEnd type="none" w="med" len="med"/>
                    </a:lnL>
                    <a:lnR w="12700" cap="flat" cmpd="sng" algn="ctr">
                      <a:solidFill>
                        <a:srgbClr val="1A232C"/>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1A232C"/>
                      </a:solidFill>
                      <a:prstDash val="solid"/>
                      <a:round/>
                      <a:headEnd type="none" w="med" len="med"/>
                      <a:tailEnd type="none" w="med" len="med"/>
                    </a:lnB>
                    <a:solidFill>
                      <a:srgbClr val="1C2733"/>
                    </a:solidFill>
                  </a:tcPr>
                </a:tc>
                <a:tc>
                  <a:txBody>
                    <a:bodyPr/>
                    <a:lstStyle/>
                    <a:p>
                      <a:pPr algn="r" indent="0" marL="0">
                        <a:lnSpc>
                          <a:spcPts val="1750"/>
                        </a:lnSpc>
                        <a:buNone/>
                      </a:pPr>
                      <a:r>
                        <a:rPr lang="en-US" sz="1250" b="1" dirty="0">
                          <a:solidFill>
                            <a:srgbClr val="FAF9F5"/>
                          </a:solidFill>
                          <a:latin typeface="IBM Plex Sans" pitchFamily="34" charset="0"/>
                          <a:ea typeface="IBM Plex Sans" pitchFamily="34" charset="-122"/>
                          <a:cs typeface="IBM Plex Sans" pitchFamily="34" charset="-120"/>
                        </a:rPr>
                        <a:t>Scanned</a:t>
                      </a:r>
                      <a:endParaRPr lang="en-US" sz="1250" dirty="0">
                        <a:latin typeface="IBM Plex Sans" charset="0"/>
                        <a:ea typeface="IBM Plex Sans" charset="0"/>
                        <a:cs typeface="IBM Plex Sans" charset="0"/>
                      </a:endParaRPr>
                    </a:p>
                  </a:txBody>
                  <a:tcPr marL="76200" marR="76200" marT="57150" marB="57150" anchor="t">
                    <a:lnL w="12700" cap="flat" cmpd="sng" algn="ctr">
                      <a:solidFill>
                        <a:srgbClr val="1A232C"/>
                      </a:solidFill>
                      <a:prstDash val="solid"/>
                      <a:round/>
                      <a:headEnd type="none" w="med" len="med"/>
                      <a:tailEnd type="none" w="med" len="med"/>
                    </a:lnL>
                    <a:lnR w="12700" cap="flat" cmpd="sng" algn="ctr">
                      <a:solidFill>
                        <a:srgbClr val="1A232C"/>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1A232C"/>
                      </a:solidFill>
                      <a:prstDash val="solid"/>
                      <a:round/>
                      <a:headEnd type="none" w="med" len="med"/>
                      <a:tailEnd type="none" w="med" len="med"/>
                    </a:lnB>
                    <a:solidFill>
                      <a:srgbClr val="1C2733"/>
                    </a:solidFill>
                  </a:tcPr>
                </a:tc>
                <a:tc>
                  <a:txBody>
                    <a:bodyPr/>
                    <a:lstStyle/>
                    <a:p>
                      <a:pPr algn="r" indent="0" marL="0">
                        <a:lnSpc>
                          <a:spcPts val="1750"/>
                        </a:lnSpc>
                        <a:buNone/>
                      </a:pPr>
                      <a:r>
                        <a:rPr lang="en-US" sz="1250" b="1" dirty="0">
                          <a:solidFill>
                            <a:srgbClr val="FAF9F5"/>
                          </a:solidFill>
                          <a:latin typeface="IBM Plex Sans" pitchFamily="34" charset="0"/>
                          <a:ea typeface="IBM Plex Sans" pitchFamily="34" charset="-122"/>
                          <a:cs typeface="IBM Plex Sans" pitchFamily="34" charset="-120"/>
                        </a:rPr>
                        <a:t>Thời gian</a:t>
                      </a:r>
                      <a:endParaRPr lang="en-US" sz="1250" dirty="0">
                        <a:latin typeface="IBM Plex Sans" charset="0"/>
                        <a:ea typeface="IBM Plex Sans" charset="0"/>
                        <a:cs typeface="IBM Plex Sans" charset="0"/>
                      </a:endParaRPr>
                    </a:p>
                  </a:txBody>
                  <a:tcPr marL="76200" marR="76200" marT="57150" marB="57150" anchor="t">
                    <a:lnL w="12700" cap="flat" cmpd="sng" algn="ctr">
                      <a:solidFill>
                        <a:srgbClr val="1A232C"/>
                      </a:solidFill>
                      <a:prstDash val="solid"/>
                      <a:round/>
                      <a:headEnd type="none" w="med" len="med"/>
                      <a:tailEnd type="none" w="med" len="med"/>
                    </a:lnL>
                    <a:lnR w="12700" cap="flat" cmpd="sng" algn="ctr">
                      <a:solidFill>
                        <a:srgbClr val="1A232C"/>
                      </a:solidFill>
                      <a:prstDash val="solid"/>
                      <a:round/>
                      <a:headEnd type="none" w="med" len="med"/>
                      <a:tailEnd type="none" w="med" len="med"/>
                    </a:lnR>
                    <a:lnT w="12700" cap="flat" cmpd="sng" algn="ctr">
                      <a:solidFill>
                        <a:srgbClr val="C7C7C3"/>
                      </a:solidFill>
                      <a:prstDash val="solid"/>
                      <a:round/>
                      <a:headEnd type="none" w="med" len="med"/>
                      <a:tailEnd type="none" w="med" len="med"/>
                    </a:lnT>
                    <a:lnB w="12700" cap="flat" cmpd="sng" algn="ctr">
                      <a:solidFill>
                        <a:srgbClr val="1A232C"/>
                      </a:solidFill>
                      <a:prstDash val="solid"/>
                      <a:round/>
                      <a:headEnd type="none" w="med" len="med"/>
                      <a:tailEnd type="none" w="med" len="med"/>
                    </a:lnB>
                    <a:solidFill>
                      <a:srgbClr val="1C2733"/>
                    </a:solidFill>
                  </a:tcPr>
                </a:tc>
              </a:tr>
              <a:tr h="346710">
                <a:tc>
                  <a:txBody>
                    <a:bodyPr/>
                    <a:lstStyle/>
                    <a:p>
                      <a:pPr indent="0" marL="0">
                        <a:lnSpc>
                          <a:spcPts val="1750"/>
                        </a:lnSpc>
                        <a:buNone/>
                      </a:pPr>
                      <a:r>
                        <a:rPr lang="en-US" sz="1250" dirty="0">
                          <a:solidFill>
                            <a:srgbClr val="1C2733"/>
                          </a:solidFill>
                          <a:latin typeface="IBM Plex Sans" pitchFamily="34" charset="0"/>
                          <a:ea typeface="IBM Plex Sans" pitchFamily="34" charset="-122"/>
                          <a:cs typeface="IBM Plex Sans" pitchFamily="34" charset="-120"/>
                        </a:rPr>
                        <a:t>A = full</a:t>
                      </a:r>
                      <a:endParaRPr lang="en-US" sz="1250" dirty="0">
                        <a:latin typeface="IBM Plex Sans" charset="0"/>
                        <a:ea typeface="IBM Plex Sans" charset="0"/>
                        <a:cs typeface="IBM Plex Sans" charset="0"/>
                      </a:endParaRPr>
                    </a:p>
                  </a:txBody>
                  <a:tcPr marL="76200" marR="76200" marT="57150" marB="57150" anchor="t">
                    <a:lnL w="12700" cap="flat" cmpd="sng" algn="ctr">
                      <a:solidFill>
                        <a:srgbClr val="C7C7C3"/>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A232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r" indent="0" marL="0">
                        <a:lnSpc>
                          <a:spcPts val="1750"/>
                        </a:lnSpc>
                        <a:buNone/>
                      </a:pPr>
                      <a:r>
                        <a:rPr lang="en-US" sz="1250" dirty="0">
                          <a:solidFill>
                            <a:srgbClr val="1C2733"/>
                          </a:solidFill>
                          <a:latin typeface="IBM Plex Sans" pitchFamily="34" charset="0"/>
                          <a:ea typeface="IBM Plex Sans" pitchFamily="34" charset="-122"/>
                          <a:cs typeface="IBM Plex Sans" pitchFamily="34" charset="-120"/>
                        </a:rPr>
                        <a:t>1,00×</a:t>
                      </a:r>
                      <a:endParaRPr lang="en-US" sz="1250" dirty="0">
                        <a:latin typeface="IBM Plex Sans" charset="0"/>
                        <a:ea typeface="IBM Plex Sans" charset="0"/>
                        <a:cs typeface="IBM Plex Sans" charset="0"/>
                      </a:endParaRPr>
                    </a:p>
                  </a:txBody>
                  <a:tcPr marL="76200" marR="76200" marT="57150" marB="5715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A232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r" indent="0" marL="0">
                        <a:lnSpc>
                          <a:spcPts val="1750"/>
                        </a:lnSpc>
                        <a:buNone/>
                      </a:pPr>
                      <a:r>
                        <a:rPr lang="en-US" sz="1250" dirty="0">
                          <a:solidFill>
                            <a:srgbClr val="1C2733"/>
                          </a:solidFill>
                          <a:latin typeface="IBM Plex Sans" pitchFamily="34" charset="0"/>
                          <a:ea typeface="IBM Plex Sans" pitchFamily="34" charset="-122"/>
                          <a:cs typeface="IBM Plex Sans" pitchFamily="34" charset="-120"/>
                        </a:rPr>
                        <a:t>1,00×</a:t>
                      </a:r>
                      <a:endParaRPr lang="en-US" sz="1250" dirty="0">
                        <a:latin typeface="IBM Plex Sans" charset="0"/>
                        <a:ea typeface="IBM Plex Sans" charset="0"/>
                        <a:cs typeface="IBM Plex Sans" charset="0"/>
                      </a:endParaRPr>
                    </a:p>
                  </a:txBody>
                  <a:tcPr marL="76200" marR="76200" marT="57150" marB="5715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A232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r" indent="0" marL="0">
                        <a:lnSpc>
                          <a:spcPts val="1750"/>
                        </a:lnSpc>
                        <a:buNone/>
                      </a:pPr>
                      <a:r>
                        <a:rPr lang="en-US" sz="1250" dirty="0">
                          <a:solidFill>
                            <a:srgbClr val="1C2733"/>
                          </a:solidFill>
                          <a:latin typeface="IBM Plex Sans" pitchFamily="34" charset="0"/>
                          <a:ea typeface="IBM Plex Sans" pitchFamily="34" charset="-122"/>
                          <a:cs typeface="IBM Plex Sans" pitchFamily="34" charset="-120"/>
                        </a:rPr>
                        <a:t>1,00×</a:t>
                      </a:r>
                      <a:endParaRPr lang="en-US" sz="1250" dirty="0">
                        <a:latin typeface="IBM Plex Sans" charset="0"/>
                        <a:ea typeface="IBM Plex Sans" charset="0"/>
                        <a:cs typeface="IBM Plex Sans" charset="0"/>
                      </a:endParaRPr>
                    </a:p>
                  </a:txBody>
                  <a:tcPr marL="76200" marR="76200" marT="57150" marB="5715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A232C"/>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46710">
                <a:tc>
                  <a:txBody>
                    <a:bodyPr/>
                    <a:lstStyle/>
                    <a:p>
                      <a:pPr indent="0" marL="0">
                        <a:lnSpc>
                          <a:spcPts val="1750"/>
                        </a:lnSpc>
                        <a:buNone/>
                      </a:pPr>
                      <a:r>
                        <a:rPr lang="en-US" sz="1250" dirty="0">
                          <a:solidFill>
                            <a:srgbClr val="1C2733"/>
                          </a:solidFill>
                          <a:latin typeface="IBM Plex Sans" pitchFamily="34" charset="0"/>
                          <a:ea typeface="IBM Plex Sans" pitchFamily="34" charset="-122"/>
                          <a:cs typeface="IBM Plex Sans" pitchFamily="34" charset="-120"/>
                        </a:rPr>
                        <a:t>B = wo-Elu</a:t>
                      </a:r>
                      <a:endParaRPr lang="en-US" sz="1250" dirty="0">
                        <a:latin typeface="IBM Plex Sans" charset="0"/>
                        <a:ea typeface="IBM Plex Sans" charset="0"/>
                        <a:cs typeface="IBM Plex Sans" charset="0"/>
                      </a:endParaRPr>
                    </a:p>
                  </a:txBody>
                  <a:tcPr marL="76200" marR="76200" marT="57150" marB="57150" anchor="t">
                    <a:lnL w="12700" cap="flat" cmpd="sng" algn="ctr">
                      <a:solidFill>
                        <a:srgbClr val="C7C7C3"/>
                      </a:solidFill>
                      <a:prstDash val="solid"/>
                      <a:round/>
                      <a:headEnd type="none" w="med" len="med"/>
                      <a:tailEnd type="none" w="med" len="med"/>
                    </a:lnL>
                    <a:lnR w="12700" cap="flat" cmpd="sng" algn="ctr">
                      <a:solidFill>
                        <a:srgbClr val="C0BDB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c>
                  <a:txBody>
                    <a:bodyPr/>
                    <a:lstStyle/>
                    <a:p>
                      <a:pPr algn="r" indent="0" marL="0">
                        <a:lnSpc>
                          <a:spcPts val="1750"/>
                        </a:lnSpc>
                        <a:buNone/>
                      </a:pPr>
                      <a:r>
                        <a:rPr lang="en-US" sz="1250" dirty="0">
                          <a:solidFill>
                            <a:srgbClr val="1C2733"/>
                          </a:solidFill>
                          <a:latin typeface="IBM Plex Sans" pitchFamily="34" charset="0"/>
                          <a:ea typeface="IBM Plex Sans" pitchFamily="34" charset="-122"/>
                          <a:cs typeface="IBM Plex Sans" pitchFamily="34" charset="-120"/>
                        </a:rPr>
                        <a:t>2,78×</a:t>
                      </a:r>
                      <a:endParaRPr lang="en-US" sz="1250" dirty="0">
                        <a:latin typeface="IBM Plex Sans" charset="0"/>
                        <a:ea typeface="IBM Plex Sans" charset="0"/>
                        <a:cs typeface="IBM Plex Sans" charset="0"/>
                      </a:endParaRPr>
                    </a:p>
                  </a:txBody>
                  <a:tcPr marL="76200" marR="76200" marT="57150" marB="57150" anchor="t">
                    <a:lnL w="12700" cap="flat" cmpd="sng" algn="ctr">
                      <a:solidFill>
                        <a:srgbClr val="C0BDB7"/>
                      </a:solidFill>
                      <a:prstDash val="solid"/>
                      <a:round/>
                      <a:headEnd type="none" w="med" len="med"/>
                      <a:tailEnd type="none" w="med" len="med"/>
                    </a:lnL>
                    <a:lnR w="12700" cap="flat" cmpd="sng" algn="ctr">
                      <a:solidFill>
                        <a:srgbClr val="C0BDB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c>
                  <a:txBody>
                    <a:bodyPr/>
                    <a:lstStyle/>
                    <a:p>
                      <a:pPr algn="r" indent="0" marL="0">
                        <a:lnSpc>
                          <a:spcPts val="1750"/>
                        </a:lnSpc>
                        <a:buNone/>
                      </a:pPr>
                      <a:r>
                        <a:rPr lang="en-US" sz="1250" dirty="0">
                          <a:solidFill>
                            <a:srgbClr val="1C2733"/>
                          </a:solidFill>
                          <a:latin typeface="IBM Plex Sans" pitchFamily="34" charset="0"/>
                          <a:ea typeface="IBM Plex Sans" pitchFamily="34" charset="-122"/>
                          <a:cs typeface="IBM Plex Sans" pitchFamily="34" charset="-120"/>
                        </a:rPr>
                        <a:t>2,29×</a:t>
                      </a:r>
                      <a:endParaRPr lang="en-US" sz="1250" dirty="0">
                        <a:latin typeface="IBM Plex Sans" charset="0"/>
                        <a:ea typeface="IBM Plex Sans" charset="0"/>
                        <a:cs typeface="IBM Plex Sans" charset="0"/>
                      </a:endParaRPr>
                    </a:p>
                  </a:txBody>
                  <a:tcPr marL="76200" marR="76200" marT="57150" marB="57150" anchor="t">
                    <a:lnL w="12700" cap="flat" cmpd="sng" algn="ctr">
                      <a:solidFill>
                        <a:srgbClr val="C0BDB7"/>
                      </a:solidFill>
                      <a:prstDash val="solid"/>
                      <a:round/>
                      <a:headEnd type="none" w="med" len="med"/>
                      <a:tailEnd type="none" w="med" len="med"/>
                    </a:lnL>
                    <a:lnR w="12700" cap="flat" cmpd="sng" algn="ctr">
                      <a:solidFill>
                        <a:srgbClr val="C0BDB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c>
                  <a:txBody>
                    <a:bodyPr/>
                    <a:lstStyle/>
                    <a:p>
                      <a:pPr algn="r" indent="0" marL="0">
                        <a:lnSpc>
                          <a:spcPts val="1750"/>
                        </a:lnSpc>
                        <a:buNone/>
                      </a:pPr>
                      <a:r>
                        <a:rPr lang="en-US" sz="1250" dirty="0">
                          <a:solidFill>
                            <a:srgbClr val="1C2733"/>
                          </a:solidFill>
                          <a:latin typeface="IBM Plex Sans" pitchFamily="34" charset="0"/>
                          <a:ea typeface="IBM Plex Sans" pitchFamily="34" charset="-122"/>
                          <a:cs typeface="IBM Plex Sans" pitchFamily="34" charset="-120"/>
                        </a:rPr>
                        <a:t>1,00×</a:t>
                      </a:r>
                      <a:endParaRPr lang="en-US" sz="1250" dirty="0">
                        <a:latin typeface="IBM Plex Sans" charset="0"/>
                        <a:ea typeface="IBM Plex Sans" charset="0"/>
                        <a:cs typeface="IBM Plex Sans" charset="0"/>
                      </a:endParaRPr>
                    </a:p>
                  </a:txBody>
                  <a:tcPr marL="76200" marR="76200" marT="57150" marB="57150" anchor="t">
                    <a:lnL w="12700" cap="flat" cmpd="sng" algn="ctr">
                      <a:solidFill>
                        <a:srgbClr val="C0BDB7"/>
                      </a:solidFill>
                      <a:prstDash val="solid"/>
                      <a:round/>
                      <a:headEnd type="none" w="med" len="med"/>
                      <a:tailEnd type="none" w="med" len="med"/>
                    </a:lnL>
                    <a:lnR w="12700" cap="flat" cmpd="sng" algn="ctr">
                      <a:solidFill>
                        <a:srgbClr val="C0BDB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r>
              <a:tr h="346710">
                <a:tc>
                  <a:txBody>
                    <a:bodyPr/>
                    <a:lstStyle/>
                    <a:p>
                      <a:pPr indent="0" marL="0">
                        <a:lnSpc>
                          <a:spcPts val="1750"/>
                        </a:lnSpc>
                        <a:buNone/>
                      </a:pPr>
                      <a:r>
                        <a:rPr lang="en-US" sz="1250" dirty="0">
                          <a:solidFill>
                            <a:srgbClr val="1C2733"/>
                          </a:solidFill>
                          <a:latin typeface="IBM Plex Sans" pitchFamily="34" charset="0"/>
                          <a:ea typeface="IBM Plex Sans" pitchFamily="34" charset="-122"/>
                          <a:cs typeface="IBM Plex Sans" pitchFamily="34" charset="-120"/>
                        </a:rPr>
                        <a:t>C = wo-Esu</a:t>
                      </a:r>
                      <a:endParaRPr lang="en-US" sz="1250" dirty="0">
                        <a:latin typeface="IBM Plex Sans" charset="0"/>
                        <a:ea typeface="IBM Plex Sans" charset="0"/>
                        <a:cs typeface="IBM Plex Sans" charset="0"/>
                      </a:endParaRPr>
                    </a:p>
                  </a:txBody>
                  <a:tcPr marL="76200" marR="76200" marT="57150" marB="57150" anchor="t">
                    <a:lnL w="12700" cap="flat" cmpd="sng" algn="ctr">
                      <a:solidFill>
                        <a:srgbClr val="C7C7C3"/>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BDB7"/>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r" indent="0" marL="0">
                        <a:lnSpc>
                          <a:spcPts val="1750"/>
                        </a:lnSpc>
                        <a:buNone/>
                      </a:pPr>
                      <a:r>
                        <a:rPr lang="en-US" sz="1250" dirty="0">
                          <a:solidFill>
                            <a:srgbClr val="1C2733"/>
                          </a:solidFill>
                          <a:latin typeface="IBM Plex Sans" pitchFamily="34" charset="0"/>
                          <a:ea typeface="IBM Plex Sans" pitchFamily="34" charset="-122"/>
                          <a:cs typeface="IBM Plex Sans" pitchFamily="34" charset="-120"/>
                        </a:rPr>
                        <a:t>1,71×</a:t>
                      </a:r>
                      <a:endParaRPr lang="en-US" sz="1250" dirty="0">
                        <a:latin typeface="IBM Plex Sans" charset="0"/>
                        <a:ea typeface="IBM Plex Sans" charset="0"/>
                        <a:cs typeface="IBM Plex Sans" charset="0"/>
                      </a:endParaRPr>
                    </a:p>
                  </a:txBody>
                  <a:tcPr marL="76200" marR="76200" marT="57150" marB="5715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BDB7"/>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r" indent="0" marL="0">
                        <a:lnSpc>
                          <a:spcPts val="1750"/>
                        </a:lnSpc>
                        <a:buNone/>
                      </a:pPr>
                      <a:r>
                        <a:rPr lang="en-US" sz="1250" dirty="0">
                          <a:solidFill>
                            <a:srgbClr val="1C2733"/>
                          </a:solidFill>
                          <a:latin typeface="IBM Plex Sans" pitchFamily="34" charset="0"/>
                          <a:ea typeface="IBM Plex Sans" pitchFamily="34" charset="-122"/>
                          <a:cs typeface="IBM Plex Sans" pitchFamily="34" charset="-120"/>
                        </a:rPr>
                        <a:t>1,08×</a:t>
                      </a:r>
                      <a:endParaRPr lang="en-US" sz="1250" dirty="0">
                        <a:latin typeface="IBM Plex Sans" charset="0"/>
                        <a:ea typeface="IBM Plex Sans" charset="0"/>
                        <a:cs typeface="IBM Plex Sans" charset="0"/>
                      </a:endParaRPr>
                    </a:p>
                  </a:txBody>
                  <a:tcPr marL="76200" marR="76200" marT="57150" marB="5715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BDB7"/>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algn="r" indent="0" marL="0">
                        <a:lnSpc>
                          <a:spcPts val="1750"/>
                        </a:lnSpc>
                        <a:buNone/>
                      </a:pPr>
                      <a:r>
                        <a:rPr lang="en-US" sz="1250" dirty="0">
                          <a:solidFill>
                            <a:srgbClr val="1C2733"/>
                          </a:solidFill>
                          <a:latin typeface="IBM Plex Sans" pitchFamily="34" charset="0"/>
                          <a:ea typeface="IBM Plex Sans" pitchFamily="34" charset="-122"/>
                          <a:cs typeface="IBM Plex Sans" pitchFamily="34" charset="-120"/>
                        </a:rPr>
                        <a:t>1,01×</a:t>
                      </a:r>
                      <a:endParaRPr lang="en-US" sz="1250" dirty="0">
                        <a:latin typeface="IBM Plex Sans" charset="0"/>
                        <a:ea typeface="IBM Plex Sans" charset="0"/>
                        <a:cs typeface="IBM Plex Sans" charset="0"/>
                      </a:endParaRPr>
                    </a:p>
                  </a:txBody>
                  <a:tcPr marL="76200" marR="76200" marT="57150" marB="5715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BDB7"/>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46710">
                <a:tc>
                  <a:txBody>
                    <a:bodyPr/>
                    <a:lstStyle/>
                    <a:p>
                      <a:pPr indent="0" marL="0">
                        <a:lnSpc>
                          <a:spcPts val="1750"/>
                        </a:lnSpc>
                        <a:buNone/>
                      </a:pPr>
                      <a:r>
                        <a:rPr lang="en-US" sz="1250" dirty="0">
                          <a:solidFill>
                            <a:srgbClr val="1C2733"/>
                          </a:solidFill>
                          <a:latin typeface="IBM Plex Sans" pitchFamily="34" charset="0"/>
                          <a:ea typeface="IBM Plex Sans" pitchFamily="34" charset="-122"/>
                          <a:cs typeface="IBM Plex Sans" pitchFamily="34" charset="-120"/>
                        </a:rPr>
                        <a:t>D = wo-merge</a:t>
                      </a:r>
                      <a:endParaRPr lang="en-US" sz="1250" dirty="0">
                        <a:latin typeface="IBM Plex Sans" charset="0"/>
                        <a:ea typeface="IBM Plex Sans" charset="0"/>
                        <a:cs typeface="IBM Plex Sans" charset="0"/>
                      </a:endParaRPr>
                    </a:p>
                  </a:txBody>
                  <a:tcPr marL="76200" marR="76200" marT="57150" marB="57150" anchor="t">
                    <a:lnL w="12700" cap="flat" cmpd="sng" algn="ctr">
                      <a:solidFill>
                        <a:srgbClr val="C7C7C3"/>
                      </a:solidFill>
                      <a:prstDash val="solid"/>
                      <a:round/>
                      <a:headEnd type="none" w="med" len="med"/>
                      <a:tailEnd type="none" w="med" len="med"/>
                    </a:lnL>
                    <a:lnR w="12700" cap="flat" cmpd="sng" algn="ctr">
                      <a:solidFill>
                        <a:srgbClr val="C0BDB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c>
                  <a:txBody>
                    <a:bodyPr/>
                    <a:lstStyle/>
                    <a:p>
                      <a:pPr algn="r" indent="0" marL="0">
                        <a:lnSpc>
                          <a:spcPts val="1750"/>
                        </a:lnSpc>
                        <a:buNone/>
                      </a:pPr>
                      <a:r>
                        <a:rPr lang="en-US" sz="1250" dirty="0">
                          <a:solidFill>
                            <a:srgbClr val="1C2733"/>
                          </a:solidFill>
                          <a:latin typeface="IBM Plex Sans" pitchFamily="34" charset="0"/>
                          <a:ea typeface="IBM Plex Sans" pitchFamily="34" charset="-122"/>
                          <a:cs typeface="IBM Plex Sans" pitchFamily="34" charset="-120"/>
                        </a:rPr>
                        <a:t>1,00×</a:t>
                      </a:r>
                      <a:endParaRPr lang="en-US" sz="1250" dirty="0">
                        <a:latin typeface="IBM Plex Sans" charset="0"/>
                        <a:ea typeface="IBM Plex Sans" charset="0"/>
                        <a:cs typeface="IBM Plex Sans" charset="0"/>
                      </a:endParaRPr>
                    </a:p>
                  </a:txBody>
                  <a:tcPr marL="76200" marR="76200" marT="57150" marB="57150" anchor="t">
                    <a:lnL w="12700" cap="flat" cmpd="sng" algn="ctr">
                      <a:solidFill>
                        <a:srgbClr val="C0BDB7"/>
                      </a:solidFill>
                      <a:prstDash val="solid"/>
                      <a:round/>
                      <a:headEnd type="none" w="med" len="med"/>
                      <a:tailEnd type="none" w="med" len="med"/>
                    </a:lnL>
                    <a:lnR w="12700" cap="flat" cmpd="sng" algn="ctr">
                      <a:solidFill>
                        <a:srgbClr val="C0BDB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c>
                  <a:txBody>
                    <a:bodyPr/>
                    <a:lstStyle/>
                    <a:p>
                      <a:pPr algn="r" indent="0" marL="0">
                        <a:lnSpc>
                          <a:spcPts val="1750"/>
                        </a:lnSpc>
                        <a:buNone/>
                      </a:pPr>
                      <a:r>
                        <a:rPr lang="en-US" sz="1250" dirty="0">
                          <a:solidFill>
                            <a:srgbClr val="1C2733"/>
                          </a:solidFill>
                          <a:latin typeface="IBM Plex Sans" pitchFamily="34" charset="0"/>
                          <a:ea typeface="IBM Plex Sans" pitchFamily="34" charset="-122"/>
                          <a:cs typeface="IBM Plex Sans" pitchFamily="34" charset="-120"/>
                        </a:rPr>
                        <a:t>1,05×</a:t>
                      </a:r>
                      <a:endParaRPr lang="en-US" sz="1250" dirty="0">
                        <a:latin typeface="IBM Plex Sans" charset="0"/>
                        <a:ea typeface="IBM Plex Sans" charset="0"/>
                        <a:cs typeface="IBM Plex Sans" charset="0"/>
                      </a:endParaRPr>
                    </a:p>
                  </a:txBody>
                  <a:tcPr marL="76200" marR="76200" marT="57150" marB="57150" anchor="t">
                    <a:lnL w="12700" cap="flat" cmpd="sng" algn="ctr">
                      <a:solidFill>
                        <a:srgbClr val="C0BDB7"/>
                      </a:solidFill>
                      <a:prstDash val="solid"/>
                      <a:round/>
                      <a:headEnd type="none" w="med" len="med"/>
                      <a:tailEnd type="none" w="med" len="med"/>
                    </a:lnL>
                    <a:lnR w="12700" cap="flat" cmpd="sng" algn="ctr">
                      <a:solidFill>
                        <a:srgbClr val="C0BDB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c>
                  <a:txBody>
                    <a:bodyPr/>
                    <a:lstStyle/>
                    <a:p>
                      <a:pPr algn="r" indent="0" marL="0">
                        <a:lnSpc>
                          <a:spcPts val="1750"/>
                        </a:lnSpc>
                        <a:buNone/>
                      </a:pPr>
                      <a:r>
                        <a:rPr lang="en-US" sz="1250" dirty="0">
                          <a:solidFill>
                            <a:srgbClr val="1C2733"/>
                          </a:solidFill>
                          <a:latin typeface="IBM Plex Sans" pitchFamily="34" charset="0"/>
                          <a:ea typeface="IBM Plex Sans" pitchFamily="34" charset="-122"/>
                          <a:cs typeface="IBM Plex Sans" pitchFamily="34" charset="-120"/>
                        </a:rPr>
                        <a:t>1,00×</a:t>
                      </a:r>
                      <a:endParaRPr lang="en-US" sz="1250" dirty="0">
                        <a:latin typeface="IBM Plex Sans" charset="0"/>
                        <a:ea typeface="IBM Plex Sans" charset="0"/>
                        <a:cs typeface="IBM Plex Sans" charset="0"/>
                      </a:endParaRPr>
                    </a:p>
                  </a:txBody>
                  <a:tcPr marL="76200" marR="76200" marT="57150" marB="57150" anchor="t">
                    <a:lnL w="12700" cap="flat" cmpd="sng" algn="ctr">
                      <a:solidFill>
                        <a:srgbClr val="C0BDB7"/>
                      </a:solidFill>
                      <a:prstDash val="solid"/>
                      <a:round/>
                      <a:headEnd type="none" w="med" len="med"/>
                      <a:tailEnd type="none" w="med" len="med"/>
                    </a:lnL>
                    <a:lnR w="12700" cap="flat" cmpd="sng" algn="ctr">
                      <a:solidFill>
                        <a:srgbClr val="C0BDB7"/>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BDB7"/>
                      </a:solidFill>
                      <a:prstDash val="solid"/>
                      <a:round/>
                      <a:headEnd type="none" w="med" len="med"/>
                      <a:tailEnd type="none" w="med" len="med"/>
                    </a:lnB>
                    <a:solidFill>
                      <a:srgbClr val="F0EDE5"/>
                    </a:solidFill>
                  </a:tcPr>
                </a:tc>
              </a:tr>
            </a:tbl>
          </a:graphicData>
        </a:graphic>
      </p:graphicFrame>
      <p:sp>
        <p:nvSpPr>
          <p:cNvPr id="8" name="Shape 4"/>
          <p:cNvSpPr/>
          <p:nvPr/>
        </p:nvSpPr>
        <p:spPr>
          <a:xfrm>
            <a:off x="4851400" y="4440560"/>
            <a:ext cx="6527800" cy="692150"/>
          </a:xfrm>
          <a:prstGeom prst="roundRect">
            <a:avLst>
              <a:gd name="adj" fmla="val 14679"/>
            </a:avLst>
          </a:prstGeom>
          <a:solidFill>
            <a:srgbClr val="1C2733"/>
          </a:solidFill>
          <a:ln/>
        </p:spPr>
      </p:sp>
      <p:sp>
        <p:nvSpPr>
          <p:cNvPr id="9" name="Text 5"/>
          <p:cNvSpPr/>
          <p:nvPr/>
        </p:nvSpPr>
        <p:spPr>
          <a:xfrm>
            <a:off x="5016500" y="4567560"/>
            <a:ext cx="6383528" cy="463550"/>
          </a:xfrm>
          <a:prstGeom prst="rect">
            <a:avLst/>
          </a:prstGeom>
          <a:noFill/>
          <a:ln/>
        </p:spPr>
        <p:txBody>
          <a:bodyPr wrap="square" lIns="0" tIns="0" rIns="0" bIns="0" rtlCol="0" anchor="t">
            <a:normAutofit/>
          </a:bodyPr>
          <a:lstStyle/>
          <a:p>
            <a:pPr algn="l" indent="0" marL="0">
              <a:lnSpc>
                <a:spcPts val="1725"/>
              </a:lnSpc>
              <a:buNone/>
            </a:pPr>
            <a:r>
              <a:rPr lang="en-US" sz="1150" b="1" dirty="0">
                <a:solidFill>
                  <a:srgbClr val="FAF9F5"/>
                </a:solidFill>
                <a:latin typeface="IBM Plex Sans" pitchFamily="34" charset="0"/>
                <a:ea typeface="IBM Plex Sans" pitchFamily="34" charset="-122"/>
                <a:cs typeface="IBM Plex Sans" pitchFamily="34" charset="-120"/>
              </a:rPr>
              <a:t>Elu mạnh nhất, nhất quán trên CẢ 3 corpus thật</a:t>
            </a:r>
            <a:r>
              <a:rPr lang="en-US" sz="1150" dirty="0">
                <a:solidFill>
                  <a:srgbClr val="FAF9F5"/>
                </a:solidFill>
                <a:latin typeface="IBM Plex Sans" pitchFamily="34" charset="0"/>
                <a:ea typeface="IBM Plex Sans" pitchFamily="34" charset="-122"/>
                <a:cs typeface="IBM Plex Sans" pitchFamily="34" charset="-120"/>
              </a:rPr>
              <a:t> — candidates 2,78–3,32× tùy corpus, nhưng thời gian gần như không đổi.</a:t>
            </a:r>
            <a:endParaRPr lang="en-US" sz="1150" dirty="0"/>
          </a:p>
        </p:txBody>
      </p:sp>
      <p:sp>
        <p:nvSpPr>
          <p:cNvPr id="10" name="Text 6"/>
          <p:cNvSpPr/>
          <p:nvPr/>
        </p:nvSpPr>
        <p:spPr>
          <a:xfrm>
            <a:off x="812800" y="6238242"/>
            <a:ext cx="54689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199"/>
                </a:solidFill>
                <a:latin typeface="IBM Plex Sans" pitchFamily="34" charset="0"/>
                <a:ea typeface="IBM Plex Sans" pitchFamily="34" charset="-122"/>
                <a:cs typeface="IBM Plex Sans" pitchFamily="34" charset="-120"/>
              </a:rPr>
              <a:t>29 / 34</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863B"/>
                </a:solidFill>
                <a:latin typeface="IBM Plex Sans" pitchFamily="34" charset="0"/>
                <a:ea typeface="IBM Plex Sans" pitchFamily="34" charset="-122"/>
                <a:cs typeface="IBM Plex Sans" pitchFamily="34" charset="-120"/>
              </a:rPr>
              <a:t>KẾT QUẢ THỰC NGHIỆM</a:t>
            </a:r>
            <a:endParaRPr lang="en-US" sz="1200" dirty="0"/>
          </a:p>
        </p:txBody>
      </p:sp>
      <p:sp>
        <p:nvSpPr>
          <p:cNvPr id="3" name="Text 1"/>
          <p:cNvSpPr/>
          <p:nvPr/>
        </p:nvSpPr>
        <p:spPr>
          <a:xfrm>
            <a:off x="812800" y="1089658"/>
            <a:ext cx="10883392" cy="34671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C2733"/>
                </a:solidFill>
                <a:latin typeface="EB Garamond" pitchFamily="34" charset="0"/>
                <a:ea typeface="EB Garamond" pitchFamily="34" charset="-122"/>
                <a:cs typeface="EB Garamond" pitchFamily="34" charset="-120"/>
              </a:rPr>
              <a:t>Top-k thực tế: cùng 1 bảng, 2 loại khác nhau</a:t>
            </a:r>
            <a:endParaRPr lang="en-US" sz="2200" dirty="0"/>
          </a:p>
        </p:txBody>
      </p:sp>
      <p:sp>
        <p:nvSpPr>
          <p:cNvPr id="4" name="Text 2"/>
          <p:cNvSpPr/>
          <p:nvPr/>
        </p:nvSpPr>
        <p:spPr>
          <a:xfrm>
            <a:off x="812800" y="1550677"/>
            <a:ext cx="10883392"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4A5568"/>
                </a:solidFill>
                <a:latin typeface="IBM Plex Sans" pitchFamily="34" charset="0"/>
                <a:ea typeface="IBM Plex Sans" pitchFamily="34" charset="-122"/>
                <a:cs typeface="IBM Plex Sans" pitchFamily="34" charset="-120"/>
              </a:rPr>
              <a:t>Trích trực tiếp từ top-200 thật (MTet 150k) — cùng nằm trong 1 bảng kết quả, nhưng bản chất khác hẳn nhau:</a:t>
            </a:r>
            <a:endParaRPr lang="en-US" sz="1250" dirty="0"/>
          </a:p>
        </p:txBody>
      </p:sp>
      <p:sp>
        <p:nvSpPr>
          <p:cNvPr id="5" name="Shape 3"/>
          <p:cNvSpPr/>
          <p:nvPr/>
        </p:nvSpPr>
        <p:spPr>
          <a:xfrm>
            <a:off x="819150" y="1918977"/>
            <a:ext cx="5181600" cy="3916680"/>
          </a:xfrm>
          <a:prstGeom prst="roundRect">
            <a:avLst>
              <a:gd name="adj" fmla="val 2432"/>
            </a:avLst>
          </a:prstGeom>
          <a:solidFill>
            <a:srgbClr val="FFFFFF"/>
          </a:solidFill>
          <a:ln w="12700">
            <a:solidFill>
              <a:srgbClr val="B5502E"/>
            </a:solidFill>
            <a:prstDash val="solid"/>
          </a:ln>
        </p:spPr>
      </p:sp>
      <p:sp>
        <p:nvSpPr>
          <p:cNvPr id="6" name="Text 4"/>
          <p:cNvSpPr/>
          <p:nvPr/>
        </p:nvSpPr>
        <p:spPr>
          <a:xfrm>
            <a:off x="975360" y="2075185"/>
            <a:ext cx="5015255" cy="229870"/>
          </a:xfrm>
          <a:prstGeom prst="rect">
            <a:avLst/>
          </a:prstGeom>
          <a:noFill/>
          <a:ln/>
        </p:spPr>
        <p:txBody>
          <a:bodyPr wrap="square" lIns="0" tIns="0" rIns="0" bIns="0" rtlCol="0" anchor="t">
            <a:normAutofit/>
          </a:bodyPr>
          <a:lstStyle/>
          <a:p>
            <a:pPr algn="l" indent="0" marL="0">
              <a:lnSpc>
                <a:spcPts val="1610"/>
              </a:lnSpc>
              <a:buNone/>
            </a:pPr>
            <a:r>
              <a:rPr lang="en-US" sz="1150" b="1" spc="50" kern="0" dirty="0">
                <a:solidFill>
                  <a:srgbClr val="B5502E"/>
                </a:solidFill>
                <a:latin typeface="IBM Plex Sans" pitchFamily="34" charset="0"/>
                <a:ea typeface="IBM Plex Sans" pitchFamily="34" charset="-122"/>
                <a:cs typeface="IBM Plex Sans" pitchFamily="34" charset="-120"/>
              </a:rPr>
              <a:t>SELF-DERIVED</a:t>
            </a:r>
            <a:endParaRPr lang="en-US" sz="1150" dirty="0"/>
          </a:p>
        </p:txBody>
      </p:sp>
      <p:sp>
        <p:nvSpPr>
          <p:cNvPr id="7" name="Shape 5"/>
          <p:cNvSpPr/>
          <p:nvPr/>
        </p:nvSpPr>
        <p:spPr>
          <a:xfrm>
            <a:off x="975360" y="2368550"/>
            <a:ext cx="4869180" cy="808990"/>
          </a:xfrm>
          <a:prstGeom prst="roundRect">
            <a:avLst>
              <a:gd name="adj" fmla="val 7849"/>
            </a:avLst>
          </a:prstGeom>
          <a:solidFill>
            <a:srgbClr val="FBEEEA"/>
          </a:solidFill>
          <a:ln/>
        </p:spPr>
      </p:sp>
      <p:sp>
        <p:nvSpPr>
          <p:cNvPr id="8" name="Text 6"/>
          <p:cNvSpPr/>
          <p:nvPr/>
        </p:nvSpPr>
        <p:spPr>
          <a:xfrm>
            <a:off x="1089660" y="2457450"/>
            <a:ext cx="4779797"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8A9199"/>
                </a:solidFill>
                <a:latin typeface="IBM Plex Sans" pitchFamily="34" charset="0"/>
                <a:ea typeface="IBM Plex Sans" pitchFamily="34" charset="-122"/>
                <a:cs typeface="IBM Plex Sans" pitchFamily="34" charset="-120"/>
              </a:rPr>
              <a:t>Hạng 2 · EU 36.944,18</a:t>
            </a:r>
            <a:endParaRPr lang="en-US" sz="1100" dirty="0"/>
          </a:p>
        </p:txBody>
      </p:sp>
      <p:sp>
        <p:nvSpPr>
          <p:cNvPr id="9" name="Text 7"/>
          <p:cNvSpPr/>
          <p:nvPr/>
        </p:nvSpPr>
        <p:spPr>
          <a:xfrm>
            <a:off x="1089660" y="2653035"/>
            <a:ext cx="4779797" cy="265430"/>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1C2733"/>
                </a:solidFill>
                <a:latin typeface="IBM Plex Sans" pitchFamily="34" charset="0"/>
                <a:ea typeface="IBM Plex Sans" pitchFamily="34" charset="-122"/>
                <a:cs typeface="IBM Plex Sans" pitchFamily="34" charset="-120"/>
              </a:rPr>
              <a:t>others · another · different · other</a:t>
            </a:r>
            <a:endParaRPr lang="en-US" sz="1350" dirty="0"/>
          </a:p>
        </p:txBody>
      </p:sp>
      <p:sp>
        <p:nvSpPr>
          <p:cNvPr id="10" name="Text 8"/>
          <p:cNvSpPr/>
          <p:nvPr/>
        </p:nvSpPr>
        <p:spPr>
          <a:xfrm>
            <a:off x="1089660" y="2893058"/>
            <a:ext cx="4779797"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B5502E"/>
                </a:solidFill>
                <a:latin typeface="IBM Plex Sans" pitchFamily="34" charset="0"/>
                <a:ea typeface="IBM Plex Sans" pitchFamily="34" charset="-122"/>
                <a:cs typeface="IBM Plex Sans" pitchFamily="34" charset="-120"/>
              </a:rPr>
              <a:t>cùng từ Việt "khác" → tách ra 4 bản dịch</a:t>
            </a:r>
            <a:endParaRPr lang="en-US" sz="1100" dirty="0"/>
          </a:p>
        </p:txBody>
      </p:sp>
      <p:sp>
        <p:nvSpPr>
          <p:cNvPr id="11" name="Shape 9"/>
          <p:cNvSpPr/>
          <p:nvPr/>
        </p:nvSpPr>
        <p:spPr>
          <a:xfrm>
            <a:off x="975360" y="3266442"/>
            <a:ext cx="4869180" cy="808990"/>
          </a:xfrm>
          <a:prstGeom prst="roundRect">
            <a:avLst>
              <a:gd name="adj" fmla="val 7849"/>
            </a:avLst>
          </a:prstGeom>
          <a:solidFill>
            <a:srgbClr val="FBEEEA"/>
          </a:solidFill>
          <a:ln/>
        </p:spPr>
      </p:sp>
      <p:sp>
        <p:nvSpPr>
          <p:cNvPr id="12" name="Text 10"/>
          <p:cNvSpPr/>
          <p:nvPr/>
        </p:nvSpPr>
        <p:spPr>
          <a:xfrm>
            <a:off x="1089660" y="3355342"/>
            <a:ext cx="4779797"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8A9199"/>
                </a:solidFill>
                <a:latin typeface="IBM Plex Sans" pitchFamily="34" charset="0"/>
                <a:ea typeface="IBM Plex Sans" pitchFamily="34" charset="-122"/>
                <a:cs typeface="IBM Plex Sans" pitchFamily="34" charset="-120"/>
              </a:rPr>
              <a:t>Hạng 42 · EU 17.418,80</a:t>
            </a:r>
            <a:endParaRPr lang="en-US" sz="1100" dirty="0"/>
          </a:p>
        </p:txBody>
      </p:sp>
      <p:sp>
        <p:nvSpPr>
          <p:cNvPr id="13" name="Text 11"/>
          <p:cNvSpPr/>
          <p:nvPr/>
        </p:nvSpPr>
        <p:spPr>
          <a:xfrm>
            <a:off x="1089660" y="3550927"/>
            <a:ext cx="4779797" cy="265430"/>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1C2733"/>
                </a:solidFill>
                <a:latin typeface="IBM Plex Sans" pitchFamily="34" charset="0"/>
                <a:ea typeface="IBM Plex Sans" pitchFamily="34" charset="-122"/>
                <a:cs typeface="IBM Plex Sans" pitchFamily="34" charset="-120"/>
              </a:rPr>
              <a:t>organize · organization · organizations</a:t>
            </a:r>
            <a:endParaRPr lang="en-US" sz="1350" dirty="0"/>
          </a:p>
        </p:txBody>
      </p:sp>
      <p:sp>
        <p:nvSpPr>
          <p:cNvPr id="14" name="Text 12"/>
          <p:cNvSpPr/>
          <p:nvPr/>
        </p:nvSpPr>
        <p:spPr>
          <a:xfrm>
            <a:off x="1089660" y="3790950"/>
            <a:ext cx="4779797"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B5502E"/>
                </a:solidFill>
                <a:latin typeface="IBM Plex Sans" pitchFamily="34" charset="0"/>
                <a:ea typeface="IBM Plex Sans" pitchFamily="34" charset="-122"/>
                <a:cs typeface="IBM Plex Sans" pitchFamily="34" charset="-120"/>
              </a:rPr>
              <a:t>cùng từ Việt "tổ_chức" → tách ra 3 bản dịch</a:t>
            </a:r>
            <a:endParaRPr lang="en-US" sz="1100" dirty="0"/>
          </a:p>
        </p:txBody>
      </p:sp>
      <p:sp>
        <p:nvSpPr>
          <p:cNvPr id="15" name="Shape 13"/>
          <p:cNvSpPr/>
          <p:nvPr/>
        </p:nvSpPr>
        <p:spPr>
          <a:xfrm>
            <a:off x="6191250" y="1918977"/>
            <a:ext cx="5181600" cy="3916680"/>
          </a:xfrm>
          <a:prstGeom prst="roundRect">
            <a:avLst>
              <a:gd name="adj" fmla="val 2432"/>
            </a:avLst>
          </a:prstGeom>
          <a:solidFill>
            <a:srgbClr val="FFFFFF"/>
          </a:solidFill>
          <a:ln w="12700">
            <a:solidFill>
              <a:srgbClr val="3F7D5C"/>
            </a:solidFill>
            <a:prstDash val="solid"/>
          </a:ln>
        </p:spPr>
      </p:sp>
      <p:sp>
        <p:nvSpPr>
          <p:cNvPr id="16" name="Text 14"/>
          <p:cNvSpPr/>
          <p:nvPr/>
        </p:nvSpPr>
        <p:spPr>
          <a:xfrm>
            <a:off x="6347460" y="2075185"/>
            <a:ext cx="5015255" cy="229870"/>
          </a:xfrm>
          <a:prstGeom prst="rect">
            <a:avLst/>
          </a:prstGeom>
          <a:noFill/>
          <a:ln/>
        </p:spPr>
        <p:txBody>
          <a:bodyPr wrap="square" lIns="0" tIns="0" rIns="0" bIns="0" rtlCol="0" anchor="t">
            <a:normAutofit/>
          </a:bodyPr>
          <a:lstStyle/>
          <a:p>
            <a:pPr algn="l" indent="0" marL="0">
              <a:lnSpc>
                <a:spcPts val="1610"/>
              </a:lnSpc>
              <a:buNone/>
            </a:pPr>
            <a:r>
              <a:rPr lang="en-US" sz="1150" b="1" spc="50" kern="0" dirty="0">
                <a:solidFill>
                  <a:srgbClr val="3F7D5C"/>
                </a:solidFill>
                <a:latin typeface="IBM Plex Sans" pitchFamily="34" charset="0"/>
                <a:ea typeface="IBM Plex Sans" pitchFamily="34" charset="-122"/>
                <a:cs typeface="IBM Plex Sans" pitchFamily="34" charset="-120"/>
              </a:rPr>
              <a:t>GENUINE</a:t>
            </a:r>
            <a:endParaRPr lang="en-US" sz="1150" dirty="0"/>
          </a:p>
        </p:txBody>
      </p:sp>
      <p:sp>
        <p:nvSpPr>
          <p:cNvPr id="17" name="Shape 15"/>
          <p:cNvSpPr/>
          <p:nvPr/>
        </p:nvSpPr>
        <p:spPr>
          <a:xfrm>
            <a:off x="6347460" y="2368550"/>
            <a:ext cx="4869180" cy="808990"/>
          </a:xfrm>
          <a:prstGeom prst="roundRect">
            <a:avLst>
              <a:gd name="adj" fmla="val 7849"/>
            </a:avLst>
          </a:prstGeom>
          <a:solidFill>
            <a:srgbClr val="EFF6F1"/>
          </a:solidFill>
          <a:ln/>
        </p:spPr>
      </p:sp>
      <p:sp>
        <p:nvSpPr>
          <p:cNvPr id="18" name="Text 16"/>
          <p:cNvSpPr/>
          <p:nvPr/>
        </p:nvSpPr>
        <p:spPr>
          <a:xfrm>
            <a:off x="6461760" y="2457450"/>
            <a:ext cx="4779797"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8A9199"/>
                </a:solidFill>
                <a:latin typeface="IBM Plex Sans" pitchFamily="34" charset="0"/>
                <a:ea typeface="IBM Plex Sans" pitchFamily="34" charset="-122"/>
                <a:cs typeface="IBM Plex Sans" pitchFamily="34" charset="-120"/>
              </a:rPr>
              <a:t>Hạng 17 · EU 28.196,28</a:t>
            </a:r>
            <a:endParaRPr lang="en-US" sz="1100" dirty="0"/>
          </a:p>
        </p:txBody>
      </p:sp>
      <p:sp>
        <p:nvSpPr>
          <p:cNvPr id="19" name="Text 17"/>
          <p:cNvSpPr/>
          <p:nvPr/>
        </p:nvSpPr>
        <p:spPr>
          <a:xfrm>
            <a:off x="6461760" y="2653035"/>
            <a:ext cx="4779797" cy="265430"/>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1C2733"/>
                </a:solidFill>
                <a:latin typeface="IBM Plex Sans" pitchFamily="34" charset="0"/>
                <a:ea typeface="IBM Plex Sans" pitchFamily="34" charset="-122"/>
                <a:cs typeface="IBM Plex Sans" pitchFamily="34" charset="-120"/>
              </a:rPr>
              <a:t>say · said · tell</a:t>
            </a:r>
            <a:endParaRPr lang="en-US" sz="1350" dirty="0"/>
          </a:p>
        </p:txBody>
      </p:sp>
      <p:sp>
        <p:nvSpPr>
          <p:cNvPr id="20" name="Text 18"/>
          <p:cNvSpPr/>
          <p:nvPr/>
        </p:nvSpPr>
        <p:spPr>
          <a:xfrm>
            <a:off x="6461760" y="2893058"/>
            <a:ext cx="4779797"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3F7D5C"/>
                </a:solidFill>
                <a:latin typeface="IBM Plex Sans" pitchFamily="34" charset="0"/>
                <a:ea typeface="IBM Plex Sans" pitchFamily="34" charset="-122"/>
                <a:cs typeface="IBM Plex Sans" pitchFamily="34" charset="-120"/>
              </a:rPr>
              <a:t>3 từ độc lập — thật sự hay đi cùng câu</a:t>
            </a:r>
            <a:endParaRPr lang="en-US" sz="1100" dirty="0"/>
          </a:p>
        </p:txBody>
      </p:sp>
      <p:sp>
        <p:nvSpPr>
          <p:cNvPr id="21" name="Shape 19"/>
          <p:cNvSpPr/>
          <p:nvPr/>
        </p:nvSpPr>
        <p:spPr>
          <a:xfrm>
            <a:off x="6347460" y="3266442"/>
            <a:ext cx="4869180" cy="808990"/>
          </a:xfrm>
          <a:prstGeom prst="roundRect">
            <a:avLst>
              <a:gd name="adj" fmla="val 7849"/>
            </a:avLst>
          </a:prstGeom>
          <a:solidFill>
            <a:srgbClr val="EFF6F1"/>
          </a:solidFill>
          <a:ln/>
        </p:spPr>
      </p:sp>
      <p:sp>
        <p:nvSpPr>
          <p:cNvPr id="22" name="Text 20"/>
          <p:cNvSpPr/>
          <p:nvPr/>
        </p:nvSpPr>
        <p:spPr>
          <a:xfrm>
            <a:off x="6461760" y="3355342"/>
            <a:ext cx="4779797"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8A9199"/>
                </a:solidFill>
                <a:latin typeface="IBM Plex Sans" pitchFamily="34" charset="0"/>
                <a:ea typeface="IBM Plex Sans" pitchFamily="34" charset="-122"/>
                <a:cs typeface="IBM Plex Sans" pitchFamily="34" charset="-120"/>
              </a:rPr>
              <a:t>Hạng 22 · EU 24.532,39</a:t>
            </a:r>
            <a:endParaRPr lang="en-US" sz="1100" dirty="0"/>
          </a:p>
        </p:txBody>
      </p:sp>
      <p:sp>
        <p:nvSpPr>
          <p:cNvPr id="23" name="Text 21"/>
          <p:cNvSpPr/>
          <p:nvPr/>
        </p:nvSpPr>
        <p:spPr>
          <a:xfrm>
            <a:off x="6461760" y="3550927"/>
            <a:ext cx="4779797" cy="265430"/>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1C2733"/>
                </a:solidFill>
                <a:latin typeface="IBM Plex Sans" pitchFamily="34" charset="0"/>
                <a:ea typeface="IBM Plex Sans" pitchFamily="34" charset="-122"/>
                <a:cs typeface="IBM Plex Sans" pitchFamily="34" charset="-120"/>
              </a:rPr>
              <a:t>cá_nhân · tổ_chức</a:t>
            </a:r>
            <a:endParaRPr lang="en-US" sz="1350" dirty="0"/>
          </a:p>
        </p:txBody>
      </p:sp>
      <p:sp>
        <p:nvSpPr>
          <p:cNvPr id="24" name="Text 22"/>
          <p:cNvSpPr/>
          <p:nvPr/>
        </p:nvSpPr>
        <p:spPr>
          <a:xfrm>
            <a:off x="6461760" y="3790950"/>
            <a:ext cx="4779797"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3F7D5C"/>
                </a:solidFill>
                <a:latin typeface="IBM Plex Sans" pitchFamily="34" charset="0"/>
                <a:ea typeface="IBM Plex Sans" pitchFamily="34" charset="-122"/>
                <a:cs typeface="IBM Plex Sans" pitchFamily="34" charset="-120"/>
              </a:rPr>
              <a:t>2 khái niệm Việt độc lập — đồng xuất hiện thật</a:t>
            </a:r>
            <a:endParaRPr lang="en-US" sz="1100" dirty="0"/>
          </a:p>
        </p:txBody>
      </p:sp>
      <p:sp>
        <p:nvSpPr>
          <p:cNvPr id="25" name="Text 23"/>
          <p:cNvSpPr/>
          <p:nvPr/>
        </p:nvSpPr>
        <p:spPr>
          <a:xfrm>
            <a:off x="812800" y="6238242"/>
            <a:ext cx="54689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199"/>
                </a:solidFill>
                <a:latin typeface="IBM Plex Sans" pitchFamily="34" charset="0"/>
                <a:ea typeface="IBM Plex Sans" pitchFamily="34" charset="-122"/>
                <a:cs typeface="IBM Plex Sans" pitchFamily="34" charset="-120"/>
              </a:rPr>
              <a:t>30 / 34</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863B"/>
                </a:solidFill>
                <a:latin typeface="IBM Plex Sans" pitchFamily="34" charset="0"/>
                <a:ea typeface="IBM Plex Sans" pitchFamily="34" charset="-122"/>
                <a:cs typeface="IBM Plex Sans" pitchFamily="34" charset="-120"/>
              </a:rPr>
              <a:t>PHÂN TÍCH BỔ SUNG</a:t>
            </a:r>
            <a:endParaRPr lang="en-US" sz="1200" dirty="0"/>
          </a:p>
        </p:txBody>
      </p:sp>
      <p:sp>
        <p:nvSpPr>
          <p:cNvPr id="3" name="Text 1"/>
          <p:cNvSpPr/>
          <p:nvPr/>
        </p:nvSpPr>
        <p:spPr>
          <a:xfrm>
            <a:off x="812800" y="1102358"/>
            <a:ext cx="10883392" cy="34671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C2733"/>
                </a:solidFill>
                <a:latin typeface="EB Garamond" pitchFamily="34" charset="0"/>
                <a:ea typeface="EB Garamond" pitchFamily="34" charset="-122"/>
                <a:cs typeface="EB Garamond" pitchFamily="34" charset="-120"/>
              </a:rPr>
              <a:t>Self-derived và Genuine: định nghĩa</a:t>
            </a:r>
            <a:endParaRPr lang="en-US" sz="2200" dirty="0"/>
          </a:p>
        </p:txBody>
      </p:sp>
      <p:sp>
        <p:nvSpPr>
          <p:cNvPr id="4" name="Text 2"/>
          <p:cNvSpPr/>
          <p:nvPr/>
        </p:nvSpPr>
        <p:spPr>
          <a:xfrm>
            <a:off x="812800" y="1626877"/>
            <a:ext cx="10137775" cy="50546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4A5568"/>
                </a:solidFill>
                <a:latin typeface="IBM Plex Sans" pitchFamily="34" charset="0"/>
                <a:ea typeface="IBM Plex Sans" pitchFamily="34" charset="-122"/>
                <a:cs typeface="IBM Plex Sans" pitchFamily="34" charset="-120"/>
              </a:rPr>
              <a:t>Vì taxonomy đa-cha, một khái niệm có thể được "chiếu" lên nhiều node cha cùng lúc — khiến chúng luôn cùng xuất hiện, dù không phải là một phát hiện đồng xuất hiện thật.</a:t>
            </a:r>
            <a:endParaRPr lang="en-US" sz="1350" dirty="0"/>
          </a:p>
        </p:txBody>
      </p:sp>
      <p:sp>
        <p:nvSpPr>
          <p:cNvPr id="5" name="Shape 3"/>
          <p:cNvSpPr/>
          <p:nvPr/>
        </p:nvSpPr>
        <p:spPr>
          <a:xfrm>
            <a:off x="819150" y="2316485"/>
            <a:ext cx="5156200" cy="2823210"/>
          </a:xfrm>
          <a:prstGeom prst="roundRect">
            <a:avLst>
              <a:gd name="adj" fmla="val 3374"/>
            </a:avLst>
          </a:prstGeom>
          <a:solidFill>
            <a:srgbClr val="FFFFFF"/>
          </a:solidFill>
          <a:ln w="12700">
            <a:solidFill>
              <a:srgbClr val="B5502E"/>
            </a:solidFill>
            <a:prstDash val="solid"/>
          </a:ln>
        </p:spPr>
      </p:sp>
      <p:sp>
        <p:nvSpPr>
          <p:cNvPr id="6" name="Text 4"/>
          <p:cNvSpPr/>
          <p:nvPr/>
        </p:nvSpPr>
        <p:spPr>
          <a:xfrm>
            <a:off x="1026160" y="2610495"/>
            <a:ext cx="4884445" cy="256540"/>
          </a:xfrm>
          <a:prstGeom prst="rect">
            <a:avLst/>
          </a:prstGeom>
          <a:noFill/>
          <a:ln/>
        </p:spPr>
        <p:txBody>
          <a:bodyPr wrap="square" lIns="0" tIns="0" rIns="0" bIns="0" rtlCol="0" anchor="t">
            <a:normAutofit/>
          </a:bodyPr>
          <a:lstStyle/>
          <a:p>
            <a:pPr algn="l" indent="0" marL="0">
              <a:lnSpc>
                <a:spcPts val="1820"/>
              </a:lnSpc>
              <a:buNone/>
            </a:pPr>
            <a:r>
              <a:rPr lang="en-US" sz="1300" b="1" spc="50" kern="0" dirty="0">
                <a:solidFill>
                  <a:srgbClr val="B5502E"/>
                </a:solidFill>
                <a:latin typeface="IBM Plex Sans" pitchFamily="34" charset="0"/>
                <a:ea typeface="IBM Plex Sans" pitchFamily="34" charset="-122"/>
                <a:cs typeface="IBM Plex Sans" pitchFamily="34" charset="-120"/>
              </a:rPr>
              <a:t>SELF-DERIVED — LÀ GÌ</a:t>
            </a:r>
            <a:endParaRPr lang="en-US" sz="1300" dirty="0"/>
          </a:p>
        </p:txBody>
      </p:sp>
      <p:sp>
        <p:nvSpPr>
          <p:cNvPr id="7" name="Text 5"/>
          <p:cNvSpPr/>
          <p:nvPr/>
        </p:nvSpPr>
        <p:spPr>
          <a:xfrm>
            <a:off x="1026160" y="2943225"/>
            <a:ext cx="4884445" cy="79692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1C2733"/>
                </a:solidFill>
                <a:latin typeface="IBM Plex Sans" pitchFamily="34" charset="0"/>
                <a:ea typeface="IBM Plex Sans" pitchFamily="34" charset="-122"/>
                <a:cs typeface="IBM Plex Sans" pitchFamily="34" charset="-120"/>
              </a:rPr>
              <a:t>Các item trong pattern </a:t>
            </a:r>
            <a:r>
              <a:rPr lang="en-US" sz="1350" b="1" dirty="0">
                <a:solidFill>
                  <a:srgbClr val="1C2733"/>
                </a:solidFill>
                <a:latin typeface="IBM Plex Sans" pitchFamily="34" charset="0"/>
                <a:ea typeface="IBM Plex Sans" pitchFamily="34" charset="-122"/>
                <a:cs typeface="IBM Plex Sans" pitchFamily="34" charset="-120"/>
              </a:rPr>
              <a:t>cùng chia sẻ chung 1 child</a:t>
            </a:r>
            <a:r>
              <a:rPr lang="en-US" sz="1350" dirty="0">
                <a:solidFill>
                  <a:srgbClr val="1C2733"/>
                </a:solidFill>
                <a:latin typeface="IBM Plex Sans" pitchFamily="34" charset="0"/>
                <a:ea typeface="IBM Plex Sans" pitchFamily="34" charset="-122"/>
                <a:cs typeface="IBM Plex Sans" pitchFamily="34" charset="-120"/>
              </a:rPr>
              <a:t> trong taxonomy — cùng bắt nguồn từ 1 token/từ Việt đa nghĩa duy nhất.</a:t>
            </a:r>
            <a:endParaRPr lang="en-US" sz="1350" dirty="0"/>
          </a:p>
        </p:txBody>
      </p:sp>
      <p:sp>
        <p:nvSpPr>
          <p:cNvPr id="8" name="Text 6"/>
          <p:cNvSpPr/>
          <p:nvPr/>
        </p:nvSpPr>
        <p:spPr>
          <a:xfrm>
            <a:off x="1026160" y="3816350"/>
            <a:ext cx="4884445"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B5502E"/>
                </a:solidFill>
                <a:latin typeface="IBM Plex Sans" pitchFamily="34" charset="0"/>
                <a:ea typeface="IBM Plex Sans" pitchFamily="34" charset="-122"/>
                <a:cs typeface="IBM Plex Sans" pitchFamily="34" charset="-120"/>
              </a:rPr>
              <a:t>TẠI SAO CÓ</a:t>
            </a:r>
            <a:endParaRPr lang="en-US" sz="1200" dirty="0"/>
          </a:p>
        </p:txBody>
      </p:sp>
      <p:sp>
        <p:nvSpPr>
          <p:cNvPr id="9" name="Text 7"/>
          <p:cNvSpPr/>
          <p:nvPr/>
        </p:nvSpPr>
        <p:spPr>
          <a:xfrm>
            <a:off x="1026160" y="4131320"/>
            <a:ext cx="4884445" cy="739775"/>
          </a:xfrm>
          <a:prstGeom prst="rect">
            <a:avLst/>
          </a:prstGeom>
          <a:noFill/>
          <a:ln/>
        </p:spPr>
        <p:txBody>
          <a:bodyPr wrap="square" lIns="0" tIns="0" rIns="0" bIns="0" rtlCol="0" anchor="t">
            <a:normAutofit/>
          </a:bodyPr>
          <a:lstStyle/>
          <a:p>
            <a:pPr algn="l" indent="0" marL="0">
              <a:lnSpc>
                <a:spcPts val="1875"/>
              </a:lnSpc>
              <a:buNone/>
            </a:pPr>
            <a:r>
              <a:rPr lang="en-US" sz="1250" dirty="0">
                <a:solidFill>
                  <a:srgbClr val="4A5568"/>
                </a:solidFill>
                <a:latin typeface="IBM Plex Sans" pitchFamily="34" charset="0"/>
                <a:ea typeface="IBM Plex Sans" pitchFamily="34" charset="-122"/>
                <a:cs typeface="IBM Plex Sans" pitchFamily="34" charset="-120"/>
              </a:rPr>
              <a:t>Taxonomy đa-cha chiếu 1 khái niệm lên nhiều node cha cùng lúc → chúng LUÔN cùng xuất hiện — hệ quả tất định của cấu trúc, không phải phát hiện ngữ nghĩa mới.</a:t>
            </a:r>
            <a:endParaRPr lang="en-US" sz="1250" dirty="0"/>
          </a:p>
        </p:txBody>
      </p:sp>
      <p:sp>
        <p:nvSpPr>
          <p:cNvPr id="10" name="Shape 8"/>
          <p:cNvSpPr/>
          <p:nvPr/>
        </p:nvSpPr>
        <p:spPr>
          <a:xfrm>
            <a:off x="6216650" y="2316485"/>
            <a:ext cx="5156200" cy="2823210"/>
          </a:xfrm>
          <a:prstGeom prst="roundRect">
            <a:avLst>
              <a:gd name="adj" fmla="val 3374"/>
            </a:avLst>
          </a:prstGeom>
          <a:solidFill>
            <a:srgbClr val="FFFFFF"/>
          </a:solidFill>
          <a:ln w="12700">
            <a:solidFill>
              <a:srgbClr val="3F7D5C"/>
            </a:solidFill>
            <a:prstDash val="solid"/>
          </a:ln>
        </p:spPr>
      </p:sp>
      <p:sp>
        <p:nvSpPr>
          <p:cNvPr id="11" name="Text 9"/>
          <p:cNvSpPr/>
          <p:nvPr/>
        </p:nvSpPr>
        <p:spPr>
          <a:xfrm>
            <a:off x="6423660" y="2858145"/>
            <a:ext cx="4884445" cy="256540"/>
          </a:xfrm>
          <a:prstGeom prst="rect">
            <a:avLst/>
          </a:prstGeom>
          <a:noFill/>
          <a:ln/>
        </p:spPr>
        <p:txBody>
          <a:bodyPr wrap="square" lIns="0" tIns="0" rIns="0" bIns="0" rtlCol="0" anchor="t">
            <a:normAutofit/>
          </a:bodyPr>
          <a:lstStyle/>
          <a:p>
            <a:pPr algn="l" indent="0" marL="0">
              <a:lnSpc>
                <a:spcPts val="1820"/>
              </a:lnSpc>
              <a:buNone/>
            </a:pPr>
            <a:r>
              <a:rPr lang="en-US" sz="1300" b="1" spc="50" kern="0" dirty="0">
                <a:solidFill>
                  <a:srgbClr val="3F7D5C"/>
                </a:solidFill>
                <a:latin typeface="IBM Plex Sans" pitchFamily="34" charset="0"/>
                <a:ea typeface="IBM Plex Sans" pitchFamily="34" charset="-122"/>
                <a:cs typeface="IBM Plex Sans" pitchFamily="34" charset="-120"/>
              </a:rPr>
              <a:t>GENUINE — LÀ GÌ</a:t>
            </a:r>
            <a:endParaRPr lang="en-US" sz="1300" dirty="0"/>
          </a:p>
        </p:txBody>
      </p:sp>
      <p:sp>
        <p:nvSpPr>
          <p:cNvPr id="12" name="Text 10"/>
          <p:cNvSpPr/>
          <p:nvPr/>
        </p:nvSpPr>
        <p:spPr>
          <a:xfrm>
            <a:off x="6423660" y="3190875"/>
            <a:ext cx="4884445" cy="539750"/>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1C2733"/>
                </a:solidFill>
                <a:latin typeface="IBM Plex Sans" pitchFamily="34" charset="0"/>
                <a:ea typeface="IBM Plex Sans" pitchFamily="34" charset="-122"/>
                <a:cs typeface="IBM Plex Sans" pitchFamily="34" charset="-120"/>
              </a:rPr>
              <a:t>Các item trong pattern </a:t>
            </a:r>
            <a:r>
              <a:rPr lang="en-US" sz="1350" b="1" dirty="0">
                <a:solidFill>
                  <a:srgbClr val="1C2733"/>
                </a:solidFill>
                <a:latin typeface="IBM Plex Sans" pitchFamily="34" charset="0"/>
                <a:ea typeface="IBM Plex Sans" pitchFamily="34" charset="-122"/>
                <a:cs typeface="IBM Plex Sans" pitchFamily="34" charset="-120"/>
              </a:rPr>
              <a:t>không chia sẻ child nào</a:t>
            </a:r>
            <a:r>
              <a:rPr lang="en-US" sz="1350" dirty="0">
                <a:solidFill>
                  <a:srgbClr val="1C2733"/>
                </a:solidFill>
                <a:latin typeface="IBM Plex Sans" pitchFamily="34" charset="0"/>
                <a:ea typeface="IBM Plex Sans" pitchFamily="34" charset="-122"/>
                <a:cs typeface="IBM Plex Sans" pitchFamily="34" charset="-120"/>
              </a:rPr>
              <a:t> — mỗi item độc lập hoàn toàn về mặt cấu trúc taxonomy.</a:t>
            </a:r>
            <a:endParaRPr lang="en-US" sz="1350" dirty="0"/>
          </a:p>
        </p:txBody>
      </p:sp>
      <p:sp>
        <p:nvSpPr>
          <p:cNvPr id="13" name="Text 11"/>
          <p:cNvSpPr/>
          <p:nvPr/>
        </p:nvSpPr>
        <p:spPr>
          <a:xfrm>
            <a:off x="6423660" y="3806825"/>
            <a:ext cx="4884445"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3F7D5C"/>
                </a:solidFill>
                <a:latin typeface="IBM Plex Sans" pitchFamily="34" charset="0"/>
                <a:ea typeface="IBM Plex Sans" pitchFamily="34" charset="-122"/>
                <a:cs typeface="IBM Plex Sans" pitchFamily="34" charset="-120"/>
              </a:rPr>
              <a:t>VÌ SAO ĐÁNG TIN</a:t>
            </a:r>
            <a:endParaRPr lang="en-US" sz="1200" dirty="0"/>
          </a:p>
        </p:txBody>
      </p:sp>
      <p:sp>
        <p:nvSpPr>
          <p:cNvPr id="14" name="Text 12"/>
          <p:cNvSpPr/>
          <p:nvPr/>
        </p:nvSpPr>
        <p:spPr>
          <a:xfrm>
            <a:off x="6423660" y="4121795"/>
            <a:ext cx="4884445" cy="501650"/>
          </a:xfrm>
          <a:prstGeom prst="rect">
            <a:avLst/>
          </a:prstGeom>
          <a:noFill/>
          <a:ln/>
        </p:spPr>
        <p:txBody>
          <a:bodyPr wrap="square" lIns="0" tIns="0" rIns="0" bIns="0" rtlCol="0" anchor="t">
            <a:normAutofit/>
          </a:bodyPr>
          <a:lstStyle/>
          <a:p>
            <a:pPr algn="l" indent="0" marL="0">
              <a:lnSpc>
                <a:spcPts val="1875"/>
              </a:lnSpc>
              <a:buNone/>
            </a:pPr>
            <a:r>
              <a:rPr lang="en-US" sz="1250" dirty="0">
                <a:solidFill>
                  <a:srgbClr val="4A5568"/>
                </a:solidFill>
                <a:latin typeface="IBM Plex Sans" pitchFamily="34" charset="0"/>
                <a:ea typeface="IBM Plex Sans" pitchFamily="34" charset="-122"/>
                <a:cs typeface="IBM Plex Sans" pitchFamily="34" charset="-120"/>
              </a:rPr>
              <a:t>Không bị "ép" cùng xuất hiện bởi cấu trúc → đồng xuất hiện phản ánh đúng thói quen ngôn ngữ thật trong câu văn.</a:t>
            </a:r>
            <a:endParaRPr lang="en-US" sz="1250" dirty="0"/>
          </a:p>
        </p:txBody>
      </p:sp>
      <p:sp>
        <p:nvSpPr>
          <p:cNvPr id="15" name="Shape 13"/>
          <p:cNvSpPr/>
          <p:nvPr/>
        </p:nvSpPr>
        <p:spPr>
          <a:xfrm>
            <a:off x="812800" y="5349255"/>
            <a:ext cx="10566400" cy="492760"/>
          </a:xfrm>
          <a:prstGeom prst="roundRect">
            <a:avLst>
              <a:gd name="adj" fmla="val 20619"/>
            </a:avLst>
          </a:prstGeom>
          <a:solidFill>
            <a:srgbClr val="1C2733"/>
          </a:solidFill>
          <a:ln/>
        </p:spPr>
      </p:sp>
      <p:sp>
        <p:nvSpPr>
          <p:cNvPr id="16" name="Text 14"/>
          <p:cNvSpPr/>
          <p:nvPr/>
        </p:nvSpPr>
        <p:spPr>
          <a:xfrm>
            <a:off x="990600" y="5488955"/>
            <a:ext cx="1051712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AF9F5"/>
                </a:solidFill>
                <a:latin typeface="IBM Plex Sans" pitchFamily="34" charset="0"/>
                <a:ea typeface="IBM Plex Sans" pitchFamily="34" charset="-122"/>
                <a:cs typeface="IBM Plex Sans" pitchFamily="34" charset="-120"/>
              </a:rPr>
              <a:t>Phân loại tự động bằng công cụ hậu xử lý (đối chiếu taxonomy.txt) — không sửa thuật toán chính. Ví dụ cụ thể: xem slide trước.</a:t>
            </a:r>
            <a:endParaRPr lang="en-US" sz="1200" dirty="0"/>
          </a:p>
        </p:txBody>
      </p:sp>
      <p:sp>
        <p:nvSpPr>
          <p:cNvPr id="17" name="Text 15"/>
          <p:cNvSpPr/>
          <p:nvPr/>
        </p:nvSpPr>
        <p:spPr>
          <a:xfrm>
            <a:off x="812800" y="6238255"/>
            <a:ext cx="54689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199"/>
                </a:solidFill>
                <a:latin typeface="IBM Plex Sans" pitchFamily="34" charset="0"/>
                <a:ea typeface="IBM Plex Sans" pitchFamily="34" charset="-122"/>
                <a:cs typeface="IBM Plex Sans" pitchFamily="34" charset="-120"/>
              </a:rPr>
              <a:t>31 / 34</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863B"/>
                </a:solidFill>
                <a:latin typeface="IBM Plex Sans" pitchFamily="34" charset="0"/>
                <a:ea typeface="IBM Plex Sans" pitchFamily="34" charset="-122"/>
                <a:cs typeface="IBM Plex Sans" pitchFamily="34" charset="-120"/>
              </a:rPr>
              <a:t>KẾT LUẬN</a:t>
            </a:r>
            <a:endParaRPr lang="en-US" sz="1200" dirty="0"/>
          </a:p>
        </p:txBody>
      </p:sp>
      <p:sp>
        <p:nvSpPr>
          <p:cNvPr id="3" name="Text 1"/>
          <p:cNvSpPr/>
          <p:nvPr/>
        </p:nvSpPr>
        <p:spPr>
          <a:xfrm>
            <a:off x="812800" y="1102370"/>
            <a:ext cx="10883392" cy="34671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C2733"/>
                </a:solidFill>
                <a:latin typeface="EB Garamond" pitchFamily="34" charset="0"/>
                <a:ea typeface="EB Garamond" pitchFamily="34" charset="-122"/>
                <a:cs typeface="EB Garamond" pitchFamily="34" charset="-120"/>
              </a:rPr>
              <a:t>Đóng góp &amp; Điểm mạnh</a:t>
            </a:r>
            <a:endParaRPr lang="en-US" sz="2200" dirty="0"/>
          </a:p>
        </p:txBody>
      </p:sp>
      <p:sp>
        <p:nvSpPr>
          <p:cNvPr id="4" name="Shape 2"/>
          <p:cNvSpPr/>
          <p:nvPr/>
        </p:nvSpPr>
        <p:spPr>
          <a:xfrm>
            <a:off x="815975" y="1630040"/>
            <a:ext cx="3397250" cy="1592580"/>
          </a:xfrm>
          <a:prstGeom prst="roundRect">
            <a:avLst>
              <a:gd name="adj" fmla="val 6180"/>
            </a:avLst>
          </a:prstGeom>
          <a:solidFill>
            <a:srgbClr val="FFFFFF"/>
          </a:solidFill>
          <a:ln w="6350">
            <a:solidFill>
              <a:srgbClr val="E3DDD0"/>
            </a:solidFill>
            <a:prstDash val="solid"/>
          </a:ln>
        </p:spPr>
      </p:sp>
      <p:sp>
        <p:nvSpPr>
          <p:cNvPr id="5" name="Text 3"/>
          <p:cNvSpPr/>
          <p:nvPr/>
        </p:nvSpPr>
        <p:spPr>
          <a:xfrm>
            <a:off x="1021080" y="1835150"/>
            <a:ext cx="3076651" cy="229870"/>
          </a:xfrm>
          <a:prstGeom prst="rect">
            <a:avLst/>
          </a:prstGeom>
          <a:noFill/>
          <a:ln/>
        </p:spPr>
        <p:txBody>
          <a:bodyPr wrap="square" lIns="0" tIns="0" rIns="0" bIns="0" rtlCol="0" anchor="t">
            <a:normAutofit/>
          </a:bodyPr>
          <a:lstStyle/>
          <a:p>
            <a:pPr algn="l" indent="0" marL="0">
              <a:lnSpc>
                <a:spcPts val="1610"/>
              </a:lnSpc>
              <a:buNone/>
            </a:pPr>
            <a:r>
              <a:rPr lang="en-US" sz="1150" b="1" dirty="0">
                <a:solidFill>
                  <a:srgbClr val="B8863B"/>
                </a:solidFill>
                <a:latin typeface="IBM Plex Sans" pitchFamily="34" charset="0"/>
                <a:ea typeface="IBM Plex Sans" pitchFamily="34" charset="-122"/>
                <a:cs typeface="IBM Plex Sans" pitchFamily="34" charset="-120"/>
              </a:rPr>
              <a:t>LÝ THUYẾT</a:t>
            </a:r>
            <a:endParaRPr lang="en-US" sz="1150" dirty="0"/>
          </a:p>
        </p:txBody>
      </p:sp>
      <p:sp>
        <p:nvSpPr>
          <p:cNvPr id="6" name="Text 4"/>
          <p:cNvSpPr/>
          <p:nvPr/>
        </p:nvSpPr>
        <p:spPr>
          <a:xfrm>
            <a:off x="1021080" y="2103115"/>
            <a:ext cx="3076651" cy="9398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C2733"/>
                </a:solidFill>
                <a:latin typeface="IBM Plex Sans" pitchFamily="34" charset="0"/>
                <a:ea typeface="IBM Plex Sans" pitchFamily="34" charset="-122"/>
                <a:cs typeface="IBM Plex Sans" pitchFamily="34" charset="-120"/>
              </a:rPr>
              <a:t>Expected Utility đệ quy có trọng số trên taxonomy đa-cha, tương thích ngược; Bổ đề A tái dùng nguyên vẹn hệ chứng minh DCP gốc.</a:t>
            </a:r>
            <a:endParaRPr lang="en-US" sz="1200" dirty="0"/>
          </a:p>
        </p:txBody>
      </p:sp>
      <p:sp>
        <p:nvSpPr>
          <p:cNvPr id="7" name="Shape 5"/>
          <p:cNvSpPr/>
          <p:nvPr/>
        </p:nvSpPr>
        <p:spPr>
          <a:xfrm>
            <a:off x="4397375" y="1630040"/>
            <a:ext cx="3397250" cy="1592580"/>
          </a:xfrm>
          <a:prstGeom prst="roundRect">
            <a:avLst>
              <a:gd name="adj" fmla="val 6180"/>
            </a:avLst>
          </a:prstGeom>
          <a:solidFill>
            <a:srgbClr val="FFFFFF"/>
          </a:solidFill>
          <a:ln w="6350">
            <a:solidFill>
              <a:srgbClr val="E3DDD0"/>
            </a:solidFill>
            <a:prstDash val="solid"/>
          </a:ln>
        </p:spPr>
      </p:sp>
      <p:sp>
        <p:nvSpPr>
          <p:cNvPr id="8" name="Text 6"/>
          <p:cNvSpPr/>
          <p:nvPr/>
        </p:nvSpPr>
        <p:spPr>
          <a:xfrm>
            <a:off x="4602480" y="1835150"/>
            <a:ext cx="3076651" cy="229870"/>
          </a:xfrm>
          <a:prstGeom prst="rect">
            <a:avLst/>
          </a:prstGeom>
          <a:noFill/>
          <a:ln/>
        </p:spPr>
        <p:txBody>
          <a:bodyPr wrap="square" lIns="0" tIns="0" rIns="0" bIns="0" rtlCol="0" anchor="t">
            <a:normAutofit/>
          </a:bodyPr>
          <a:lstStyle/>
          <a:p>
            <a:pPr algn="l" indent="0" marL="0">
              <a:lnSpc>
                <a:spcPts val="1610"/>
              </a:lnSpc>
              <a:buNone/>
            </a:pPr>
            <a:r>
              <a:rPr lang="en-US" sz="1150" b="1" dirty="0">
                <a:solidFill>
                  <a:srgbClr val="B8863B"/>
                </a:solidFill>
                <a:latin typeface="IBM Plex Sans" pitchFamily="34" charset="0"/>
                <a:ea typeface="IBM Plex Sans" pitchFamily="34" charset="-122"/>
                <a:cs typeface="IBM Plex Sans" pitchFamily="34" charset="-120"/>
              </a:rPr>
              <a:t>DỮ LIỆU</a:t>
            </a:r>
            <a:endParaRPr lang="en-US" sz="1150" dirty="0"/>
          </a:p>
        </p:txBody>
      </p:sp>
      <p:sp>
        <p:nvSpPr>
          <p:cNvPr id="9" name="Text 7"/>
          <p:cNvSpPr/>
          <p:nvPr/>
        </p:nvSpPr>
        <p:spPr>
          <a:xfrm>
            <a:off x="4602480" y="2103115"/>
            <a:ext cx="3076651" cy="711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C2733"/>
                </a:solidFill>
                <a:latin typeface="IBM Plex Sans" pitchFamily="34" charset="0"/>
                <a:ea typeface="IBM Plex Sans" pitchFamily="34" charset="-122"/>
                <a:cs typeface="IBM Plex Sans" pitchFamily="34" charset="-120"/>
              </a:rPr>
              <a:t>Pipeline dữ liệu bất định đa cấp Anh–Việt thật, trọng số suy từ mô hình dịch thống kê, không gán ngẫu nhiên.</a:t>
            </a:r>
            <a:endParaRPr lang="en-US" sz="1200" dirty="0"/>
          </a:p>
        </p:txBody>
      </p:sp>
      <p:sp>
        <p:nvSpPr>
          <p:cNvPr id="10" name="Shape 8"/>
          <p:cNvSpPr/>
          <p:nvPr/>
        </p:nvSpPr>
        <p:spPr>
          <a:xfrm>
            <a:off x="7978775" y="1630040"/>
            <a:ext cx="3397250" cy="1592580"/>
          </a:xfrm>
          <a:prstGeom prst="roundRect">
            <a:avLst>
              <a:gd name="adj" fmla="val 6180"/>
            </a:avLst>
          </a:prstGeom>
          <a:solidFill>
            <a:srgbClr val="FFFFFF"/>
          </a:solidFill>
          <a:ln w="6350">
            <a:solidFill>
              <a:srgbClr val="E3DDD0"/>
            </a:solidFill>
            <a:prstDash val="solid"/>
          </a:ln>
        </p:spPr>
      </p:sp>
      <p:sp>
        <p:nvSpPr>
          <p:cNvPr id="11" name="Text 9"/>
          <p:cNvSpPr/>
          <p:nvPr/>
        </p:nvSpPr>
        <p:spPr>
          <a:xfrm>
            <a:off x="8183880" y="1835150"/>
            <a:ext cx="3076651" cy="229870"/>
          </a:xfrm>
          <a:prstGeom prst="rect">
            <a:avLst/>
          </a:prstGeom>
          <a:noFill/>
          <a:ln/>
        </p:spPr>
        <p:txBody>
          <a:bodyPr wrap="square" lIns="0" tIns="0" rIns="0" bIns="0" rtlCol="0" anchor="t">
            <a:normAutofit/>
          </a:bodyPr>
          <a:lstStyle/>
          <a:p>
            <a:pPr algn="l" indent="0" marL="0">
              <a:lnSpc>
                <a:spcPts val="1610"/>
              </a:lnSpc>
              <a:buNone/>
            </a:pPr>
            <a:r>
              <a:rPr lang="en-US" sz="1150" b="1" dirty="0">
                <a:solidFill>
                  <a:srgbClr val="B8863B"/>
                </a:solidFill>
                <a:latin typeface="IBM Plex Sans" pitchFamily="34" charset="0"/>
                <a:ea typeface="IBM Plex Sans" pitchFamily="34" charset="-122"/>
                <a:cs typeface="IBM Plex Sans" pitchFamily="34" charset="-120"/>
              </a:rPr>
              <a:t>THỰC NGHIỆM</a:t>
            </a:r>
            <a:endParaRPr lang="en-US" sz="1150" dirty="0"/>
          </a:p>
        </p:txBody>
      </p:sp>
      <p:sp>
        <p:nvSpPr>
          <p:cNvPr id="12" name="Text 10"/>
          <p:cNvSpPr/>
          <p:nvPr/>
        </p:nvSpPr>
        <p:spPr>
          <a:xfrm>
            <a:off x="8183880" y="2103115"/>
            <a:ext cx="3076651" cy="711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C2733"/>
                </a:solidFill>
                <a:latin typeface="IBM Plex Sans" pitchFamily="34" charset="0"/>
                <a:ea typeface="IBM Plex Sans" pitchFamily="34" charset="-122"/>
                <a:cs typeface="IBM Plex Sans" pitchFamily="34" charset="-120"/>
              </a:rPr>
              <a:t>U-TK-MLHUI hoàn chỉnh + ablation 4 biến thể — cô lập rõ đóng góp từng chiến lược cắt tỉa.</a:t>
            </a:r>
            <a:endParaRPr lang="en-US" sz="1200" dirty="0"/>
          </a:p>
        </p:txBody>
      </p:sp>
      <p:sp>
        <p:nvSpPr>
          <p:cNvPr id="13" name="Shape 11"/>
          <p:cNvSpPr/>
          <p:nvPr/>
        </p:nvSpPr>
        <p:spPr>
          <a:xfrm>
            <a:off x="812800" y="3429000"/>
            <a:ext cx="10566400" cy="2413000"/>
          </a:xfrm>
          <a:prstGeom prst="roundRect">
            <a:avLst>
              <a:gd name="adj" fmla="val 4211"/>
            </a:avLst>
          </a:prstGeom>
          <a:solidFill>
            <a:srgbClr val="1C2733"/>
          </a:solidFill>
          <a:ln/>
        </p:spPr>
      </p:sp>
      <p:sp>
        <p:nvSpPr>
          <p:cNvPr id="14" name="Text 12"/>
          <p:cNvSpPr/>
          <p:nvPr/>
        </p:nvSpPr>
        <p:spPr>
          <a:xfrm>
            <a:off x="1117600" y="3929385"/>
            <a:ext cx="10255504"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B8863B"/>
                </a:solidFill>
                <a:latin typeface="IBM Plex Sans" pitchFamily="34" charset="0"/>
                <a:ea typeface="IBM Plex Sans" pitchFamily="34" charset="-122"/>
                <a:cs typeface="IBM Plex Sans" pitchFamily="34" charset="-120"/>
              </a:rPr>
              <a:t>ĐIỂM MẠNH</a:t>
            </a:r>
            <a:endParaRPr lang="en-US" sz="1200" dirty="0"/>
          </a:p>
        </p:txBody>
      </p:sp>
      <p:sp>
        <p:nvSpPr>
          <p:cNvPr id="15" name="Text 13"/>
          <p:cNvSpPr/>
          <p:nvPr/>
        </p:nvSpPr>
        <p:spPr>
          <a:xfrm>
            <a:off x="1117600" y="4244355"/>
            <a:ext cx="10255504" cy="1122680"/>
          </a:xfrm>
          <a:prstGeom prst="rect">
            <a:avLst/>
          </a:prstGeom>
          <a:noFill/>
          <a:ln/>
        </p:spPr>
        <p:txBody>
          <a:bodyPr wrap="square" lIns="0" tIns="0" rIns="0" bIns="0" rtlCol="0" anchor="t">
            <a:normAutofit/>
          </a:bodyPr>
          <a:lstStyle/>
          <a:p>
            <a:pPr algn="l" indent="0" marL="0">
              <a:lnSpc>
                <a:spcPts val="2160"/>
              </a:lnSpc>
              <a:buNone/>
            </a:pPr>
            <a:r>
              <a:rPr lang="en-US" sz="1350" dirty="0">
                <a:solidFill>
                  <a:srgbClr val="FAF9F5"/>
                </a:solidFill>
                <a:latin typeface="IBM Plex Sans" pitchFamily="34" charset="0"/>
                <a:ea typeface="IBM Plex Sans" pitchFamily="34" charset="-122"/>
                <a:cs typeface="IBM Plex Sans" pitchFamily="34" charset="-120"/>
              </a:rPr>
              <a:t>• Tái lập đúng và cải tiến rõ rệt so với 2 bài báo nền, có số liệu đối chứng cụ thể</a:t>
            </a:r>
            <a:endParaRPr lang="en-US" sz="1350" dirty="0"/>
          </a:p>
          <a:p>
            <a:pPr algn="l" indent="0" marL="0">
              <a:lnSpc>
                <a:spcPts val="2160"/>
              </a:lnSpc>
              <a:buNone/>
            </a:pPr>
            <a:r>
              <a:rPr lang="en-US" sz="1350" dirty="0">
                <a:solidFill>
                  <a:srgbClr val="FAF9F5"/>
                </a:solidFill>
                <a:latin typeface="IBM Plex Sans" pitchFamily="34" charset="0"/>
                <a:ea typeface="IBM Plex Sans" pitchFamily="34" charset="-122"/>
                <a:cs typeface="IBM Plex Sans" pitchFamily="34" charset="-120"/>
              </a:rPr>
              <a:t>• Bộ dữ liệu ngôn ngữ thật, có cơ sở dịch thuật thống kê thay vì gán xác suất ngẫu nhiên</a:t>
            </a:r>
            <a:endParaRPr lang="en-US" sz="1350" dirty="0"/>
          </a:p>
          <a:p>
            <a:pPr algn="l" indent="0" marL="0">
              <a:lnSpc>
                <a:spcPts val="2160"/>
              </a:lnSpc>
              <a:buNone/>
            </a:pPr>
            <a:r>
              <a:rPr lang="en-US" sz="1350" dirty="0">
                <a:solidFill>
                  <a:srgbClr val="FAF9F5"/>
                </a:solidFill>
                <a:latin typeface="IBM Plex Sans" pitchFamily="34" charset="0"/>
                <a:ea typeface="IBM Plex Sans" pitchFamily="34" charset="-122"/>
                <a:cs typeface="IBM Plex Sans" pitchFamily="34" charset="-120"/>
              </a:rPr>
              <a:t>• Toàn bộ hệ chứng minh DCP gốc được tái sử dụng nguyên vẹn, giảm rủi ro lý thuyết</a:t>
            </a:r>
            <a:endParaRPr lang="en-US" sz="1350" dirty="0"/>
          </a:p>
          <a:p>
            <a:pPr algn="l" indent="0" marL="0">
              <a:lnSpc>
                <a:spcPts val="2160"/>
              </a:lnSpc>
              <a:buNone/>
            </a:pPr>
            <a:r>
              <a:rPr lang="en-US" sz="1350" dirty="0">
                <a:solidFill>
                  <a:srgbClr val="FAF9F5"/>
                </a:solidFill>
                <a:latin typeface="IBM Plex Sans" pitchFamily="34" charset="0"/>
                <a:ea typeface="IBM Plex Sans" pitchFamily="34" charset="-122"/>
                <a:cs typeface="IBM Plex Sans" pitchFamily="34" charset="-120"/>
              </a:rPr>
              <a:t>• Ablation study tách bạch rõ đóng góp từng chiến lược cắt tỉa</a:t>
            </a:r>
            <a:endParaRPr lang="en-US" sz="1350" dirty="0"/>
          </a:p>
        </p:txBody>
      </p:sp>
      <p:sp>
        <p:nvSpPr>
          <p:cNvPr id="16" name="Text 14"/>
          <p:cNvSpPr/>
          <p:nvPr/>
        </p:nvSpPr>
        <p:spPr>
          <a:xfrm>
            <a:off x="812800" y="6238255"/>
            <a:ext cx="54689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199"/>
                </a:solidFill>
                <a:latin typeface="IBM Plex Sans" pitchFamily="34" charset="0"/>
                <a:ea typeface="IBM Plex Sans" pitchFamily="34" charset="-122"/>
                <a:cs typeface="IBM Plex Sans" pitchFamily="34" charset="-120"/>
              </a:rPr>
              <a:t>32 / 34</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8863B"/>
                </a:solidFill>
                <a:latin typeface="IBM Plex Sans" pitchFamily="34" charset="0"/>
                <a:ea typeface="IBM Plex Sans" pitchFamily="34" charset="-122"/>
                <a:cs typeface="IBM Plex Sans" pitchFamily="34" charset="-120"/>
              </a:rPr>
              <a:t>KẾT LUẬN</a:t>
            </a:r>
            <a:endParaRPr lang="en-US" sz="1200" dirty="0"/>
          </a:p>
        </p:txBody>
      </p:sp>
      <p:sp>
        <p:nvSpPr>
          <p:cNvPr id="3" name="Text 1"/>
          <p:cNvSpPr/>
          <p:nvPr/>
        </p:nvSpPr>
        <p:spPr>
          <a:xfrm>
            <a:off x="812800" y="1102370"/>
            <a:ext cx="10883392" cy="34671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1C2733"/>
                </a:solidFill>
                <a:latin typeface="EB Garamond" pitchFamily="34" charset="0"/>
                <a:ea typeface="EB Garamond" pitchFamily="34" charset="-122"/>
                <a:cs typeface="EB Garamond" pitchFamily="34" charset="-120"/>
              </a:rPr>
              <a:t>Hạn chế &amp; Hướng phát triển</a:t>
            </a:r>
            <a:endParaRPr lang="en-US" sz="2200" dirty="0"/>
          </a:p>
        </p:txBody>
      </p:sp>
      <p:sp>
        <p:nvSpPr>
          <p:cNvPr id="4" name="Shape 2"/>
          <p:cNvSpPr/>
          <p:nvPr/>
        </p:nvSpPr>
        <p:spPr>
          <a:xfrm>
            <a:off x="815975" y="1680840"/>
            <a:ext cx="5175250" cy="4157980"/>
          </a:xfrm>
          <a:prstGeom prst="roundRect">
            <a:avLst>
              <a:gd name="adj" fmla="val 2367"/>
            </a:avLst>
          </a:prstGeom>
          <a:solidFill>
            <a:srgbClr val="FFFFFF"/>
          </a:solidFill>
          <a:ln w="6350">
            <a:solidFill>
              <a:srgbClr val="E3DDD0"/>
            </a:solidFill>
            <a:prstDash val="solid"/>
          </a:ln>
        </p:spPr>
      </p:sp>
      <p:sp>
        <p:nvSpPr>
          <p:cNvPr id="5" name="Text 3"/>
          <p:cNvSpPr/>
          <p:nvPr/>
        </p:nvSpPr>
        <p:spPr>
          <a:xfrm>
            <a:off x="1071880" y="1936750"/>
            <a:ext cx="4803343"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8A9199"/>
                </a:solidFill>
                <a:latin typeface="IBM Plex Sans" pitchFamily="34" charset="0"/>
                <a:ea typeface="IBM Plex Sans" pitchFamily="34" charset="-122"/>
                <a:cs typeface="IBM Plex Sans" pitchFamily="34" charset="-120"/>
              </a:rPr>
              <a:t>HẠN CHẾ</a:t>
            </a:r>
            <a:endParaRPr lang="en-US" sz="1200" dirty="0"/>
          </a:p>
        </p:txBody>
      </p:sp>
      <p:sp>
        <p:nvSpPr>
          <p:cNvPr id="6" name="Text 4"/>
          <p:cNvSpPr/>
          <p:nvPr/>
        </p:nvSpPr>
        <p:spPr>
          <a:xfrm>
            <a:off x="1071880" y="2264420"/>
            <a:ext cx="4803343" cy="289560"/>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1C2733"/>
                </a:solidFill>
                <a:latin typeface="IBM Plex Sans" pitchFamily="34" charset="0"/>
                <a:ea typeface="IBM Plex Sans" pitchFamily="34" charset="-122"/>
                <a:cs typeface="IBM Plex Sans" pitchFamily="34" charset="-120"/>
              </a:rPr>
              <a:t>• Thực nghiệm đo 1 lần, chưa lấy trung bình nhiều lần chạy</a:t>
            </a:r>
            <a:endParaRPr lang="en-US" sz="1300" dirty="0"/>
          </a:p>
        </p:txBody>
      </p:sp>
      <p:sp>
        <p:nvSpPr>
          <p:cNvPr id="7" name="Text 5"/>
          <p:cNvSpPr/>
          <p:nvPr/>
        </p:nvSpPr>
        <p:spPr>
          <a:xfrm>
            <a:off x="1071880" y="2642865"/>
            <a:ext cx="4803343" cy="553720"/>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1C2733"/>
                </a:solidFill>
                <a:latin typeface="IBM Plex Sans" pitchFamily="34" charset="0"/>
                <a:ea typeface="IBM Plex Sans" pitchFamily="34" charset="-122"/>
                <a:cs typeface="IBM Plex Sans" pitchFamily="34" charset="-120"/>
              </a:rPr>
              <a:t>• minU khởi tạo của U-TK-MLHUI yếu hơn bản gốc do bản chất bài toán (EU≤u)</a:t>
            </a:r>
            <a:endParaRPr lang="en-US" sz="1300" dirty="0"/>
          </a:p>
        </p:txBody>
      </p:sp>
      <p:sp>
        <p:nvSpPr>
          <p:cNvPr id="8" name="Text 6"/>
          <p:cNvSpPr/>
          <p:nvPr/>
        </p:nvSpPr>
        <p:spPr>
          <a:xfrm>
            <a:off x="1071880" y="3285505"/>
            <a:ext cx="4803343" cy="553720"/>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1C2733"/>
                </a:solidFill>
                <a:latin typeface="IBM Plex Sans" pitchFamily="34" charset="0"/>
                <a:ea typeface="IBM Plex Sans" pitchFamily="34" charset="-122"/>
                <a:cs typeface="IBM Plex Sans" pitchFamily="34" charset="-120"/>
              </a:rPr>
              <a:t>• Biến thể E (wo-threshold-raising) chưa đo được trên dữ liệu ngôn ngữ thật</a:t>
            </a:r>
            <a:endParaRPr lang="en-US" sz="1300" dirty="0"/>
          </a:p>
        </p:txBody>
      </p:sp>
      <p:sp>
        <p:nvSpPr>
          <p:cNvPr id="9" name="Shape 7"/>
          <p:cNvSpPr/>
          <p:nvPr/>
        </p:nvSpPr>
        <p:spPr>
          <a:xfrm>
            <a:off x="6200775" y="1680840"/>
            <a:ext cx="5175250" cy="4157980"/>
          </a:xfrm>
          <a:prstGeom prst="roundRect">
            <a:avLst>
              <a:gd name="adj" fmla="val 2367"/>
            </a:avLst>
          </a:prstGeom>
          <a:solidFill>
            <a:srgbClr val="FFFFFF"/>
          </a:solidFill>
          <a:ln w="6350">
            <a:solidFill>
              <a:srgbClr val="E3DDD0"/>
            </a:solidFill>
            <a:prstDash val="solid"/>
          </a:ln>
        </p:spPr>
      </p:sp>
      <p:sp>
        <p:nvSpPr>
          <p:cNvPr id="10" name="Text 8"/>
          <p:cNvSpPr/>
          <p:nvPr/>
        </p:nvSpPr>
        <p:spPr>
          <a:xfrm>
            <a:off x="6456680" y="1936750"/>
            <a:ext cx="4803343"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B8863B"/>
                </a:solidFill>
                <a:latin typeface="IBM Plex Sans" pitchFamily="34" charset="0"/>
                <a:ea typeface="IBM Plex Sans" pitchFamily="34" charset="-122"/>
                <a:cs typeface="IBM Plex Sans" pitchFamily="34" charset="-120"/>
              </a:rPr>
              <a:t>HƯỚNG PHÁT TRIỂN</a:t>
            </a:r>
            <a:endParaRPr lang="en-US" sz="1200" dirty="0"/>
          </a:p>
        </p:txBody>
      </p:sp>
      <p:sp>
        <p:nvSpPr>
          <p:cNvPr id="11" name="Text 9"/>
          <p:cNvSpPr/>
          <p:nvPr/>
        </p:nvSpPr>
        <p:spPr>
          <a:xfrm>
            <a:off x="6456680" y="2264420"/>
            <a:ext cx="4803343" cy="289560"/>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1C2733"/>
                </a:solidFill>
                <a:latin typeface="IBM Plex Sans" pitchFamily="34" charset="0"/>
                <a:ea typeface="IBM Plex Sans" pitchFamily="34" charset="-122"/>
                <a:cs typeface="IBM Plex Sans" pitchFamily="34" charset="-120"/>
              </a:rPr>
              <a:t>• Mở rộng corpus lớn hơn</a:t>
            </a:r>
            <a:endParaRPr lang="en-US" sz="1300" dirty="0"/>
          </a:p>
        </p:txBody>
      </p:sp>
      <p:sp>
        <p:nvSpPr>
          <p:cNvPr id="12" name="Text 10"/>
          <p:cNvSpPr/>
          <p:nvPr/>
        </p:nvSpPr>
        <p:spPr>
          <a:xfrm>
            <a:off x="6456680" y="2642865"/>
            <a:ext cx="4803343" cy="289560"/>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1C2733"/>
                </a:solidFill>
                <a:latin typeface="IBM Plex Sans" pitchFamily="34" charset="0"/>
                <a:ea typeface="IBM Plex Sans" pitchFamily="34" charset="-122"/>
                <a:cs typeface="IBM Plex Sans" pitchFamily="34" charset="-120"/>
              </a:rPr>
              <a:t>• Thử nghiệm trên cặp ngôn ngữ khác ngoài Anh–Việt</a:t>
            </a:r>
            <a:endParaRPr lang="en-US" sz="1300" dirty="0"/>
          </a:p>
        </p:txBody>
      </p:sp>
      <p:sp>
        <p:nvSpPr>
          <p:cNvPr id="13" name="Text 11"/>
          <p:cNvSpPr/>
          <p:nvPr/>
        </p:nvSpPr>
        <p:spPr>
          <a:xfrm>
            <a:off x="6456680" y="3021335"/>
            <a:ext cx="4803343" cy="553720"/>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1C2733"/>
                </a:solidFill>
                <a:latin typeface="IBM Plex Sans" pitchFamily="34" charset="0"/>
                <a:ea typeface="IBM Plex Sans" pitchFamily="34" charset="-122"/>
                <a:cs typeface="IBM Plex Sans" pitchFamily="34" charset="-120"/>
              </a:rPr>
              <a:t>• Đo biến thể E trên tập con nhỏ hơn, hoàn thiện ablation 5 biến thể</a:t>
            </a:r>
            <a:endParaRPr lang="en-US" sz="1300" dirty="0"/>
          </a:p>
        </p:txBody>
      </p:sp>
      <p:sp>
        <p:nvSpPr>
          <p:cNvPr id="14" name="Text 12"/>
          <p:cNvSpPr/>
          <p:nvPr/>
        </p:nvSpPr>
        <p:spPr>
          <a:xfrm>
            <a:off x="6456680" y="3663950"/>
            <a:ext cx="4803343" cy="553720"/>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1C2733"/>
                </a:solidFill>
                <a:latin typeface="IBM Plex Sans" pitchFamily="34" charset="0"/>
                <a:ea typeface="IBM Plex Sans" pitchFamily="34" charset="-122"/>
                <a:cs typeface="IBM Plex Sans" pitchFamily="34" charset="-120"/>
              </a:rPr>
              <a:t>• Ứng dụng: gợi ý dịch thuật/tra cứu đa nghĩa từ taxonomy đa-cha</a:t>
            </a:r>
            <a:endParaRPr lang="en-US" sz="1300" dirty="0"/>
          </a:p>
        </p:txBody>
      </p:sp>
      <p:sp>
        <p:nvSpPr>
          <p:cNvPr id="15" name="Text 13"/>
          <p:cNvSpPr/>
          <p:nvPr/>
        </p:nvSpPr>
        <p:spPr>
          <a:xfrm>
            <a:off x="812800" y="6238255"/>
            <a:ext cx="54689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199"/>
                </a:solidFill>
                <a:latin typeface="IBM Plex Sans" pitchFamily="34" charset="0"/>
                <a:ea typeface="IBM Plex Sans" pitchFamily="34" charset="-122"/>
                <a:cs typeface="IBM Plex Sans" pitchFamily="34" charset="-120"/>
              </a:rPr>
              <a:t>33 / 34</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C2733"/>
        </a:solidFill>
      </p:bgPr>
    </p:bg>
    <p:spTree>
      <p:nvGrpSpPr>
        <p:cNvPr id="1" name=""/>
        <p:cNvGrpSpPr/>
        <p:nvPr/>
      </p:nvGrpSpPr>
      <p:grpSpPr>
        <a:xfrm>
          <a:off x="0" y="0"/>
          <a:ext cx="0" cy="0"/>
          <a:chOff x="0" y="0"/>
          <a:chExt cx="0" cy="0"/>
        </a:xfrm>
      </p:grpSpPr>
      <p:sp>
        <p:nvSpPr>
          <p:cNvPr id="2" name="Text 0"/>
          <p:cNvSpPr/>
          <p:nvPr/>
        </p:nvSpPr>
        <p:spPr>
          <a:xfrm>
            <a:off x="4490006" y="2555255"/>
            <a:ext cx="3308348"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B8863B"/>
                </a:solidFill>
                <a:latin typeface="IBM Plex Sans" pitchFamily="34" charset="0"/>
                <a:ea typeface="IBM Plex Sans" pitchFamily="34" charset="-122"/>
                <a:cs typeface="IBM Plex Sans" pitchFamily="34" charset="-120"/>
              </a:rPr>
              <a:t>CẢM ƠN HỘI ĐỒNG ĐÃ LẮNG NGHE</a:t>
            </a:r>
            <a:endParaRPr lang="en-US" sz="1200" dirty="0"/>
          </a:p>
        </p:txBody>
      </p:sp>
      <p:sp>
        <p:nvSpPr>
          <p:cNvPr id="3" name="Text 1"/>
          <p:cNvSpPr/>
          <p:nvPr/>
        </p:nvSpPr>
        <p:spPr>
          <a:xfrm>
            <a:off x="4826079" y="2971800"/>
            <a:ext cx="2615955" cy="64008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FAF9F5"/>
                </a:solidFill>
                <a:latin typeface="EB Garamond" pitchFamily="34" charset="0"/>
                <a:ea typeface="EB Garamond" pitchFamily="34" charset="-122"/>
                <a:cs typeface="EB Garamond" pitchFamily="34" charset="-120"/>
              </a:rPr>
              <a:t>Hỏi &amp; Đáp</a:t>
            </a:r>
            <a:endParaRPr lang="en-US" sz="4400" dirty="0"/>
          </a:p>
        </p:txBody>
      </p:sp>
      <p:sp>
        <p:nvSpPr>
          <p:cNvPr id="4" name="Text 2"/>
          <p:cNvSpPr/>
          <p:nvPr/>
        </p:nvSpPr>
        <p:spPr>
          <a:xfrm>
            <a:off x="4594939" y="3789685"/>
            <a:ext cx="3092103"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7CDD4"/>
                </a:solidFill>
                <a:latin typeface="IBM Plex Sans" pitchFamily="34" charset="0"/>
                <a:ea typeface="IBM Plex Sans" pitchFamily="34" charset="-122"/>
                <a:cs typeface="IBM Plex Sans" pitchFamily="34" charset="-120"/>
              </a:rPr>
              <a:t>Phạm Văn Minh Khang  ·  Lê Ngọc Huy</a:t>
            </a:r>
            <a:endParaRPr lang="en-US" sz="1400" dirty="0"/>
          </a:p>
        </p:txBody>
      </p:sp>
      <p:sp>
        <p:nvSpPr>
          <p:cNvPr id="5" name="Text 3"/>
          <p:cNvSpPr/>
          <p:nvPr/>
        </p:nvSpPr>
        <p:spPr>
          <a:xfrm>
            <a:off x="5129848" y="4089400"/>
            <a:ext cx="199011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C8590"/>
                </a:solidFill>
                <a:latin typeface="IBM Plex Sans" pitchFamily="34" charset="0"/>
                <a:ea typeface="IBM Plex Sans" pitchFamily="34" charset="-122"/>
                <a:cs typeface="IBM Plex Sans" pitchFamily="34" charset="-120"/>
              </a:rPr>
              <a:t>GVHD: TS. Nguyễn Chí Thiện</a:t>
            </a:r>
            <a:endParaRPr lang="en-US" sz="1200" dirty="0"/>
          </a:p>
        </p:txBody>
      </p:sp>
      <p:sp>
        <p:nvSpPr>
          <p:cNvPr id="6" name="Text 4"/>
          <p:cNvSpPr/>
          <p:nvPr/>
        </p:nvSpPr>
        <p:spPr>
          <a:xfrm>
            <a:off x="812800" y="6238255"/>
            <a:ext cx="458799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C8590"/>
                </a:solidFill>
                <a:latin typeface="IBM Plex Sans" pitchFamily="34" charset="0"/>
                <a:ea typeface="IBM Plex Sans" pitchFamily="34" charset="-122"/>
                <a:cs typeface="IBM Plex Sans" pitchFamily="34" charset="-120"/>
              </a:rPr>
              <a:t>Trường Đại học Tôn Đức Thắng · Khoa Công nghệ Thông tin · 2026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Khai thác Top-k Đa Tầng trên Dữ liệu Không Chắc Chắn</dc:title>
  <dc:subject>PptxGenJS Presentation</dc:subject>
  <dc:creator>PptxGenJS</dc:creator>
  <cp:lastModifiedBy>PptxGenJS</cp:lastModifiedBy>
  <cp:revision>1</cp:revision>
  <dcterms:created xsi:type="dcterms:W3CDTF">2026-09-27T15:27:40Z</dcterms:created>
  <dcterms:modified xsi:type="dcterms:W3CDTF">2026-09-27T15:27:40Z</dcterms:modified>
</cp:coreProperties>
</file>